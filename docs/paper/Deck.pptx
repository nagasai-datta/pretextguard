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3.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charts/chart4.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8bbeac4-b810-f7ad-c583-fcdae8338cca}">
          <p14:sldIdLst>
            <p14:sldId id="256"/>
            <p14:sldId id="257"/>
            <p14:sldId id="258"/>
            <p14:sldId id="259"/>
            <p14:sldId id="260"/>
          </p14:sldIdLst>
        </p14:section>
        <p14:section name="Approach" id="{44414483-686f-95f6-61e3-ed60812e5a59}">
          <p14:sldIdLst>
            <p14:sldId id="261"/>
            <p14:sldId id="262"/>
            <p14:sldId id="263"/>
            <p14:sldId id="264"/>
            <p14:sldId id="265"/>
          </p14:sldIdLst>
        </p14:section>
        <p14:section name="Data and evaluation" id="{066ecde2-be6e-0e2b-6c49-caecadb4cd3d}">
          <p14:sldIdLst>
            <p14:sldId id="266"/>
            <p14:sldId id="267"/>
          </p14:sldIdLst>
        </p14:section>
        <p14:section name="Results" id="{68c9f7e4-6b75-49e8-f032-bcf8d558739c}">
          <p14:sldIdLst>
            <p14:sldId id="268"/>
            <p14:sldId id="269"/>
            <p14:sldId id="270"/>
            <p14:sldId id="271"/>
            <p14:sldId id="272"/>
          </p14:sldIdLst>
        </p14:section>
        <p14:section name="Closing" id="{203bab93-5c7c-64b2-a85c-1eeaabab8c5c}">
          <p14:sldIdLst>
            <p14:sldId id="273"/>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E1E1E"/>
                </a:solidFill>
                <a:latin typeface="+mn-lt"/>
              </a:defRPr>
            </a:pPr>
            <a:r>
              <a:rPr sz="1200" b="0" i="0" u="none" strike="noStrike">
                <a:solidFill>
                  <a:srgbClr val="1E1E1E"/>
                </a:solidFill>
                <a:latin typeface="+mn-lt"/>
              </a:rPr>
              <a:t>Drop in F1 when links are hidden at test time</a:t>
            </a:r>
          </a:p>
        </c:rich>
      </c:tx>
      <c:layout/>
      <c:overlay val="0"/>
    </c:title>
    <c:autoTitleDeleted val="0"/>
    <c:plotArea>
      <c:layout/>
      <c:barChart>
        <c:barDir val="col"/>
        <c:grouping val="clustered"/>
        <c:varyColors val="0"/>
        <c:ser>
          <c:idx val="0"/>
          <c:order val="0"/>
          <c:tx>
            <c:strRef>
              <c:f>Sheet1!$B$1</c:f>
              <c:strCache>
                <c:ptCount val="1"/>
                <c:pt idx="0">
                  <c:v>Drop in F1</c:v>
                </c:pt>
              </c:strCache>
            </c:strRef>
          </c:tx>
          <c:spPr>
            <a:solidFill>
              <a:srgbClr val="B07D2B"/>
            </a:solidFill>
            <a:effectLst/>
          </c:spPr>
          <c:invertIfNegative val="0"/>
          <c:dLbls>
            <c:numFmt formatCode="+0.000;&quot;−&quot;0.000" sourceLinked="0"/>
            <c:txPr>
              <a:bodyPr/>
              <a:lstStyle/>
              <a:p>
                <a:pPr>
                  <a:defRPr b="0" i="0" strike="noStrike" sz="1200" u="none">
                    <a:solidFill>
                      <a:srgbClr val="1E1E1E"/>
                    </a:solidFill>
                    <a:latin typeface="+mn-lt"/>
                  </a:defRPr>
                </a:pPr>
              </a:p>
            </c:txPr>
            <c:showLegendKey val="0"/>
            <c:showVal val="1"/>
            <c:showCatName val="0"/>
            <c:showSerName val="0"/>
            <c:showPercent val="0"/>
            <c:showBubbleSize val="0"/>
            <c:showLeaderLines val="0"/>
          </c:dLbls>
          <c:dPt>
            <c:idx val="0"/>
            <c:invertIfNegative val="0"/>
            <c:bubble3D val="0"/>
            <c:spPr>
              <a:solidFill>
                <a:srgbClr val="B07D2B"/>
              </a:solidFill>
              <a:effectLst/>
            </c:spPr>
          </c:dPt>
          <c:dPt>
            <c:idx val="1"/>
            <c:invertIfNegative val="0"/>
            <c:bubble3D val="0"/>
            <c:spPr>
              <a:solidFill>
                <a:srgbClr val="4F7B5C"/>
              </a:solidFill>
              <a:effectLst/>
            </c:spPr>
          </c:dPt>
          <c:cat>
            <c:multiLvlStrRef>
              <c:f>Sheet1!$A$2:$A$3</c:f>
              <c:multiLvlStrCache>
                <c:ptCount val="2"/>
                <c:lvl>
                  <c:pt idx="0">
                    <c:v>A, trained on raw text</c:v>
                  </c:pt>
                  <c:pt idx="1">
                    <c:v>B, trained on redacted text</c:v>
                  </c:pt>
                </c:lvl>
              </c:multiLvlStrCache>
            </c:multiLvlStrRef>
          </c:cat>
          <c:val>
            <c:numRef>
              <c:f>Sheet1!$B$2:$B$3</c:f>
              <c:numCache>
                <c:formatCode>General</c:formatCode>
                <c:ptCount val="2"/>
                <c:pt idx="0">
                  <c:v>0.059</c:v>
                </c:pt>
                <c:pt idx="1">
                  <c:v>-0.014</c:v>
                </c:pt>
              </c:numCache>
            </c:numRef>
          </c:val>
        </c:ser>
        <c:dLbls>
          <c:numFmt formatCode="+0.000;&quot;−&quot;0.000" sourceLinked="0"/>
          <c:txPr>
            <a:bodyPr/>
            <a:lstStyle/>
            <a:p>
              <a:pPr>
                <a:defRPr b="0" i="0" strike="noStrike" sz="1200" u="none">
                  <a:solidFill>
                    <a:srgbClr val="1E1E1E"/>
                  </a:solidFill>
                  <a:latin typeface="+mn-lt"/>
                </a:defRPr>
              </a:pPr>
            </a:p>
          </c:txPr>
          <c:showLegendKey val="0"/>
          <c:showVal val="1"/>
          <c:showCatName val="0"/>
          <c:showSerName val="0"/>
          <c:showPercent val="0"/>
          <c:showBubbleSize val="0"/>
          <c:showLeaderLines val="0"/>
        </c:dLbls>
        <c:gapWidth val="8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4A4A4A"/>
                </a:solidFill>
                <a:latin typeface="+mn-lt"/>
              </a:defRPr>
            </a:pPr>
            <a:endParaRPr lang="en-US"/>
          </a:p>
        </c:txPr>
        <c:crossAx val="2094734552"/>
        <c:crosses val="autoZero"/>
        <c:auto val="1"/>
        <c:lblAlgn val="ctr"/>
        <c:noMultiLvlLbl val="1"/>
      </c:catAx>
      <c:valAx>
        <c:axId val="2094734552"/>
        <c:scaling>
          <c:orientation val="minMax"/>
          <c:max val="0.08"/>
          <c:min val="-0.04"/>
        </c:scaling>
        <c:delete val="0"/>
        <c:axPos val="l"/>
        <c:majorGridlines>
          <c:spPr>
            <a:ln w="6350" cap="flat">
              <a:solidFill>
                <a:srgbClr val="E3DCCB"/>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8C8C8C"/>
                </a:solidFill>
                <a:latin typeface="+mn-lt"/>
              </a:defRPr>
            </a:pPr>
            <a:endParaRPr lang="en-US"/>
          </a:p>
        </c:txPr>
        <c:crossAx val="2094734554"/>
        <c:crosses val="autoZero"/>
        <c:crossBetween val="between"/>
        <c:majorUnit val="0.02"/>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E1E1E"/>
                </a:solidFill>
                <a:latin typeface="+mn-lt"/>
              </a:defRPr>
            </a:pPr>
            <a:r>
              <a:rPr sz="1200" b="0" i="0" u="none" strike="noStrike">
                <a:solidFill>
                  <a:srgbClr val="1E1E1E"/>
                </a:solidFill>
                <a:latin typeface="+mn-lt"/>
              </a:rPr>
              <a:t>Synthetic takeover replies detected</a:t>
            </a:r>
          </a:p>
        </c:rich>
      </c:tx>
      <c:layout/>
      <c:overlay val="0"/>
    </c:title>
    <c:autoTitleDeleted val="0"/>
    <c:plotArea>
      <c:layout/>
      <c:barChart>
        <c:barDir val="col"/>
        <c:grouping val="clustered"/>
        <c:varyColors val="0"/>
        <c:ser>
          <c:idx val="0"/>
          <c:order val="0"/>
          <c:tx>
            <c:strRef>
              <c:f>Sheet1!$B$1</c:f>
              <c:strCache>
                <c:ptCount val="1"/>
                <c:pt idx="0">
                  <c:v>Thread rules</c:v>
                </c:pt>
              </c:strCache>
            </c:strRef>
          </c:tx>
          <c:spPr>
            <a:solidFill>
              <a:srgbClr val="B07D2B"/>
            </a:solidFill>
            <a:effectLst/>
          </c:spPr>
          <c:invertIfNegative val="0"/>
          <c:dLbls>
            <c:numFmt formatCode="#,##0" sourceLinked="0"/>
            <c:txPr>
              <a:bodyPr/>
              <a:lstStyle/>
              <a:p>
                <a:pPr>
                  <a:defRPr b="0" i="0" strike="noStrike" sz="1200" u="none">
                    <a:solidFill>
                      <a:srgbClr val="1E1E1E"/>
                    </a:solidFill>
                    <a:latin typeface="+mn-lt"/>
                  </a:defRPr>
                </a:pPr>
              </a:p>
            </c:txPr>
            <c:showLegendKey val="0"/>
            <c:showVal val="1"/>
            <c:showCatName val="0"/>
            <c:showSerName val="0"/>
            <c:showPercent val="0"/>
            <c:showBubbleSize val="0"/>
            <c:showLeaderLines val="0"/>
          </c:dLbls>
          <c:cat>
            <c:multiLvlStrRef>
              <c:f>Sheet1!$A$2:$A$3</c:f>
              <c:multiLvlStrCache>
                <c:ptCount val="2"/>
                <c:lvl>
                  <c:pt idx="0">
                    <c:v>Apache (25 takeover cases)</c:v>
                  </c:pt>
                  <c:pt idx="1">
                    <c:v>Enron (51 takeover cases)</c:v>
                  </c:pt>
                </c:lvl>
              </c:multiLvlStrCache>
            </c:multiLvlStrRef>
          </c:cat>
          <c:val>
            <c:numRef>
              <c:f>Sheet1!$B$2:$B$3</c:f>
              <c:numCache>
                <c:formatCode>General</c:formatCode>
                <c:ptCount val="2"/>
                <c:pt idx="0">
                  <c:v>18</c:v>
                </c:pt>
                <c:pt idx="1">
                  <c:v>48</c:v>
                </c:pt>
              </c:numCache>
            </c:numRef>
          </c:val>
        </c:ser>
        <c:ser>
          <c:idx val="1"/>
          <c:order val="1"/>
          <c:tx>
            <c:strRef>
              <c:f>Sheet1!$C$1</c:f>
              <c:strCache>
                <c:ptCount val="1"/>
                <c:pt idx="0">
                  <c:v>Header and request rules alone</c:v>
                </c:pt>
              </c:strCache>
            </c:strRef>
          </c:tx>
          <c:spPr>
            <a:solidFill>
              <a:srgbClr val="8C8C8C"/>
            </a:solidFill>
            <a:effectLst/>
          </c:spPr>
          <c:invertIfNegative val="0"/>
          <c:dLbls>
            <c:numFmt formatCode="#,##0" sourceLinked="0"/>
            <c:txPr>
              <a:bodyPr/>
              <a:lstStyle/>
              <a:p>
                <a:pPr>
                  <a:defRPr b="0" i="0" strike="noStrike" sz="1200" u="none">
                    <a:solidFill>
                      <a:srgbClr val="1E1E1E"/>
                    </a:solidFill>
                    <a:latin typeface="+mn-lt"/>
                  </a:defRPr>
                </a:pPr>
              </a:p>
            </c:txPr>
            <c:showLegendKey val="0"/>
            <c:showVal val="1"/>
            <c:showCatName val="0"/>
            <c:showSerName val="0"/>
            <c:showPercent val="0"/>
            <c:showBubbleSize val="0"/>
            <c:showLeaderLines val="0"/>
          </c:dLbls>
          <c:cat>
            <c:multiLvlStrRef>
              <c:f>Sheet1!$A$2:$A$3</c:f>
              <c:multiLvlStrCache>
                <c:ptCount val="2"/>
                <c:lvl>
                  <c:pt idx="0">
                    <c:v>Apache (25 takeover cases)</c:v>
                  </c:pt>
                  <c:pt idx="1">
                    <c:v>Enron (51 takeover cases)</c:v>
                  </c:pt>
                </c:lvl>
              </c:multiLvlStrCache>
            </c:multiLvlStrRef>
          </c:cat>
          <c:val>
            <c:numRef>
              <c:f>Sheet1!$C$2:$C$3</c:f>
              <c:numCache>
                <c:formatCode>General</c:formatCode>
                <c:ptCount val="2"/>
                <c:pt idx="0">
                  <c:v>5</c:v>
                </c:pt>
                <c:pt idx="1">
                  <c:v>0</c:v>
                </c:pt>
              </c:numCache>
            </c:numRef>
          </c:val>
        </c:ser>
        <c:dLbls>
          <c:numFmt formatCode="#,##0" sourceLinked="0"/>
          <c:txPr>
            <a:bodyPr/>
            <a:lstStyle/>
            <a:p>
              <a:pPr>
                <a:defRPr b="0" i="0" strike="noStrike" sz="1200" u="none">
                  <a:solidFill>
                    <a:srgbClr val="1E1E1E"/>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4A4A4A"/>
                </a:solidFill>
                <a:latin typeface="+mn-lt"/>
              </a:defRPr>
            </a:pPr>
            <a:endParaRPr lang="en-US"/>
          </a:p>
        </c:txPr>
        <c:crossAx val="2094734552"/>
        <c:crosses val="autoZero"/>
        <c:auto val="1"/>
        <c:lblAlgn val="ctr"/>
        <c:noMultiLvlLbl val="1"/>
      </c:catAx>
      <c:valAx>
        <c:axId val="2094734552"/>
        <c:scaling>
          <c:orientation val="minMax"/>
          <c:max val="5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4A4A4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E1E1E"/>
                </a:solidFill>
                <a:latin typeface="+mn-lt"/>
              </a:defRPr>
            </a:pPr>
            <a:r>
              <a:rPr sz="1200" b="0" i="0" u="none" strike="noStrike">
                <a:solidFill>
                  <a:srgbClr val="1E1E1E"/>
                </a:solidFill>
                <a:latin typeface="+mn-lt"/>
              </a:rPr>
              <a:t>F1 on the test split</a:t>
            </a:r>
          </a:p>
        </c:rich>
      </c:tx>
      <c:layout/>
      <c:overlay val="0"/>
    </c:title>
    <c:autoTitleDeleted val="0"/>
    <c:plotArea>
      <c:layout/>
      <c:barChart>
        <c:barDir val="bar"/>
        <c:grouping val="clustered"/>
        <c:varyColors val="0"/>
        <c:ser>
          <c:idx val="0"/>
          <c:order val="0"/>
          <c:tx>
            <c:strRef>
              <c:f>Sheet1!$B$1</c:f>
              <c:strCache>
                <c:ptCount val="1"/>
                <c:pt idx="0">
                  <c:v>F1</c:v>
                </c:pt>
              </c:strCache>
            </c:strRef>
          </c:tx>
          <c:spPr>
            <a:solidFill>
              <a:srgbClr val="A23B2A"/>
            </a:solidFill>
            <a:effectLst/>
          </c:spPr>
          <c:invertIfNegative val="0"/>
          <c:dLbls>
            <c:numFmt formatCode="0.000" sourceLinked="0"/>
            <c:txPr>
              <a:bodyPr/>
              <a:lstStyle/>
              <a:p>
                <a:pPr>
                  <a:defRPr b="0" i="0" strike="noStrike" sz="1100" u="none">
                    <a:solidFill>
                      <a:srgbClr val="1E1E1E"/>
                    </a:solidFill>
                    <a:latin typeface="+mn-lt"/>
                  </a:defRPr>
                </a:pPr>
              </a:p>
            </c:txPr>
            <c:showLegendKey val="0"/>
            <c:showVal val="1"/>
            <c:showCatName val="0"/>
            <c:showSerName val="0"/>
            <c:showPercent val="0"/>
            <c:showBubbleSize val="0"/>
            <c:showLeaderLines val="0"/>
          </c:dLbls>
          <c:dPt>
            <c:idx val="0"/>
            <c:invertIfNegative val="0"/>
            <c:bubble3D val="0"/>
            <c:spPr>
              <a:solidFill>
                <a:srgbClr val="A23B2A"/>
              </a:solidFill>
              <a:effectLst/>
            </c:spPr>
          </c:dPt>
          <c:dPt>
            <c:idx val="1"/>
            <c:invertIfNegative val="0"/>
            <c:bubble3D val="0"/>
            <c:spPr>
              <a:solidFill>
                <a:srgbClr val="8C8C8C"/>
              </a:solidFill>
              <a:effectLst/>
            </c:spPr>
          </c:dPt>
          <c:dPt>
            <c:idx val="2"/>
            <c:invertIfNegative val="0"/>
            <c:bubble3D val="0"/>
            <c:spPr>
              <a:solidFill>
                <a:srgbClr val="8C8C8C"/>
              </a:solidFill>
              <a:effectLst/>
            </c:spPr>
          </c:dPt>
          <c:dPt>
            <c:idx val="3"/>
            <c:invertIfNegative val="0"/>
            <c:bubble3D val="0"/>
            <c:spPr>
              <a:solidFill>
                <a:srgbClr val="8C8C8C"/>
              </a:solidFill>
              <a:effectLst/>
            </c:spPr>
          </c:dPt>
          <c:dPt>
            <c:idx val="4"/>
            <c:invertIfNegative val="0"/>
            <c:bubble3D val="0"/>
            <c:spPr>
              <a:solidFill>
                <a:srgbClr val="8C8C8C"/>
              </a:solidFill>
              <a:effectLst/>
            </c:spPr>
          </c:dPt>
          <c:cat>
            <c:multiLvlStrRef>
              <c:f>Sheet1!$A$2:$A$6</c:f>
              <c:multiLvlStrCache>
                <c:ptCount val="5"/>
                <c:lvl>
                  <c:pt idx="0">
                    <c:v>Routed score</c:v>
                  </c:pt>
                  <c:pt idx="1">
                    <c:v>Text only</c:v>
                  </c:pt>
                  <c:pt idx="2">
                    <c:v>Headers only</c:v>
                  </c:pt>
                  <c:pt idx="3">
                    <c:v>Parallel fusion</c:v>
                  </c:pt>
                  <c:pt idx="4">
                    <c:v>Flat classifier</c:v>
                  </c:pt>
                </c:lvl>
              </c:multiLvlStrCache>
            </c:multiLvlStrRef>
          </c:cat>
          <c:val>
            <c:numRef>
              <c:f>Sheet1!$B$2:$B$6</c:f>
              <c:numCache>
                <c:formatCode>General</c:formatCode>
                <c:ptCount val="5"/>
                <c:pt idx="0">
                  <c:v>0.238</c:v>
                </c:pt>
                <c:pt idx="1">
                  <c:v>0.639</c:v>
                </c:pt>
                <c:pt idx="2">
                  <c:v>0.788</c:v>
                </c:pt>
                <c:pt idx="3">
                  <c:v>0.882</c:v>
                </c:pt>
                <c:pt idx="4">
                  <c:v>0.658</c:v>
                </c:pt>
              </c:numCache>
            </c:numRef>
          </c:val>
        </c:ser>
        <c:dLbls>
          <c:numFmt formatCode="0.000" sourceLinked="0"/>
          <c:txPr>
            <a:bodyPr/>
            <a:lstStyle/>
            <a:p>
              <a:pPr>
                <a:defRPr b="0" i="0" strike="noStrike" sz="1100" u="none">
                  <a:solidFill>
                    <a:srgbClr val="1E1E1E"/>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4A4A4A"/>
                </a:solidFill>
                <a:latin typeface="+mn-lt"/>
              </a:defRPr>
            </a:pPr>
            <a:endParaRPr lang="en-US"/>
          </a:p>
        </c:txPr>
        <c:crossAx val="2094734552"/>
        <c:crosses val="autoZero"/>
        <c:auto val="1"/>
        <c:lblAlgn val="ctr"/>
        <c:noMultiLvlLbl val="1"/>
      </c:catAx>
      <c:valAx>
        <c:axId val="2094734552"/>
        <c:scaling>
          <c:orientation val="minMax"/>
          <c:max val="1"/>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E1E1E"/>
                </a:solidFill>
                <a:latin typeface="+mn-lt"/>
              </a:defRPr>
            </a:pPr>
            <a:r>
              <a:rPr sz="1200" b="0" i="0" u="none" strike="noStrike">
                <a:solidFill>
                  <a:srgbClr val="1E1E1E"/>
                </a:solidFill>
                <a:latin typeface="+mn-lt"/>
              </a:rPr>
              <a:t>31 synthetic colleague-impersonation pairs</a:t>
            </a:r>
          </a:p>
        </c:rich>
      </c:tx>
      <c:layout/>
      <c:overlay val="0"/>
    </c:title>
    <c:autoTitleDeleted val="0"/>
    <c:plotArea>
      <c:layout/>
      <c:barChart>
        <c:barDir val="col"/>
        <c:grouping val="clustered"/>
        <c:varyColors val="0"/>
        <c:ser>
          <c:idx val="0"/>
          <c:order val="0"/>
          <c:tx>
            <c:strRef>
              <c:f>Sheet1!$B$1</c:f>
              <c:strCache>
                <c:ptCount val="1"/>
                <c:pt idx="0">
                  <c:v>Attacks flagged</c:v>
                </c:pt>
              </c:strCache>
            </c:strRef>
          </c:tx>
          <c:spPr>
            <a:solidFill>
              <a:srgbClr val="4A4A4A"/>
            </a:solidFill>
            <a:effectLst/>
          </c:spPr>
          <c:invertIfNegative val="0"/>
          <c:dLbls>
            <c:numFmt formatCode="#,##0" sourceLinked="0"/>
            <c:txPr>
              <a:bodyPr/>
              <a:lstStyle/>
              <a:p>
                <a:pPr>
                  <a:defRPr b="0" i="0" strike="noStrike" sz="1000" u="none">
                    <a:solidFill>
                      <a:srgbClr val="1E1E1E"/>
                    </a:solidFill>
                    <a:latin typeface="+mn-lt"/>
                  </a:defRPr>
                </a:pPr>
              </a:p>
            </c:txPr>
            <c:showLegendKey val="0"/>
            <c:showVal val="1"/>
            <c:showCatName val="0"/>
            <c:showSerName val="0"/>
            <c:showPercent val="0"/>
            <c:showBubbleSize val="0"/>
            <c:showLeaderLines val="0"/>
          </c:dLbls>
          <c:cat>
            <c:multiLvlStrRef>
              <c:f>Sheet1!$A$2:$A$6</c:f>
              <c:multiLvlStrCache>
                <c:ptCount val="5"/>
                <c:lvl>
                  <c:pt idx="0">
                    <c:v>Routed score</c:v>
                  </c:pt>
                  <c:pt idx="1">
                    <c:v>Headers only</c:v>
                  </c:pt>
                  <c:pt idx="2">
                    <c:v>Parallel fusion</c:v>
                  </c:pt>
                  <c:pt idx="3">
                    <c:v>Flat classifier</c:v>
                  </c:pt>
                  <c:pt idx="4">
                    <c:v>Text only</c:v>
                  </c:pt>
                </c:lvl>
              </c:multiLvlStrCache>
            </c:multiLvlStrRef>
          </c:cat>
          <c:val>
            <c:numRef>
              <c:f>Sheet1!$B$2:$B$6</c:f>
              <c:numCache>
                <c:formatCode>General</c:formatCode>
                <c:ptCount val="5"/>
                <c:pt idx="0">
                  <c:v>19</c:v>
                </c:pt>
                <c:pt idx="1">
                  <c:v>31</c:v>
                </c:pt>
                <c:pt idx="2">
                  <c:v>17</c:v>
                </c:pt>
                <c:pt idx="3">
                  <c:v>17</c:v>
                </c:pt>
                <c:pt idx="4">
                  <c:v>11</c:v>
                </c:pt>
              </c:numCache>
            </c:numRef>
          </c:val>
        </c:ser>
        <c:ser>
          <c:idx val="1"/>
          <c:order val="1"/>
          <c:tx>
            <c:strRef>
              <c:f>Sheet1!$C$1</c:f>
              <c:strCache>
                <c:ptCount val="1"/>
                <c:pt idx="0">
                  <c:v>Benign twins flagged</c:v>
                </c:pt>
              </c:strCache>
            </c:strRef>
          </c:tx>
          <c:spPr>
            <a:solidFill>
              <a:srgbClr val="A23B2A"/>
            </a:solidFill>
            <a:effectLst/>
          </c:spPr>
          <c:invertIfNegative val="0"/>
          <c:dLbls>
            <c:numFmt formatCode="#,##0" sourceLinked="0"/>
            <c:txPr>
              <a:bodyPr/>
              <a:lstStyle/>
              <a:p>
                <a:pPr>
                  <a:defRPr b="0" i="0" strike="noStrike" sz="1000" u="none">
                    <a:solidFill>
                      <a:srgbClr val="1E1E1E"/>
                    </a:solidFill>
                    <a:latin typeface="+mn-lt"/>
                  </a:defRPr>
                </a:pPr>
              </a:p>
            </c:txPr>
            <c:showLegendKey val="0"/>
            <c:showVal val="1"/>
            <c:showCatName val="0"/>
            <c:showSerName val="0"/>
            <c:showPercent val="0"/>
            <c:showBubbleSize val="0"/>
            <c:showLeaderLines val="0"/>
          </c:dLbls>
          <c:cat>
            <c:multiLvlStrRef>
              <c:f>Sheet1!$A$2:$A$6</c:f>
              <c:multiLvlStrCache>
                <c:ptCount val="5"/>
                <c:lvl>
                  <c:pt idx="0">
                    <c:v>Routed score</c:v>
                  </c:pt>
                  <c:pt idx="1">
                    <c:v>Headers only</c:v>
                  </c:pt>
                  <c:pt idx="2">
                    <c:v>Parallel fusion</c:v>
                  </c:pt>
                  <c:pt idx="3">
                    <c:v>Flat classifier</c:v>
                  </c:pt>
                  <c:pt idx="4">
                    <c:v>Text only</c:v>
                  </c:pt>
                </c:lvl>
              </c:multiLvlStrCache>
            </c:multiLvlStrRef>
          </c:cat>
          <c:val>
            <c:numRef>
              <c:f>Sheet1!$C$2:$C$6</c:f>
              <c:numCache>
                <c:formatCode>General</c:formatCode>
                <c:ptCount val="5"/>
                <c:pt idx="0">
                  <c:v>0</c:v>
                </c:pt>
                <c:pt idx="1">
                  <c:v>31</c:v>
                </c:pt>
                <c:pt idx="2">
                  <c:v>4</c:v>
                </c:pt>
                <c:pt idx="3">
                  <c:v>0</c:v>
                </c:pt>
                <c:pt idx="4">
                  <c:v>0</c:v>
                </c:pt>
              </c:numCache>
            </c:numRef>
          </c:val>
        </c:ser>
        <c:dLbls>
          <c:numFmt formatCode="#,##0" sourceLinked="0"/>
          <c:txPr>
            <a:bodyPr/>
            <a:lstStyle/>
            <a:p>
              <a:pPr>
                <a:defRPr b="0" i="0" strike="noStrike" sz="1000" u="none">
                  <a:solidFill>
                    <a:srgbClr val="1E1E1E"/>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4A4A4A"/>
                </a:solidFill>
                <a:latin typeface="+mn-lt"/>
              </a:defRPr>
            </a:pPr>
            <a:endParaRPr lang="en-US"/>
          </a:p>
        </c:txPr>
        <c:crossAx val="2094734552"/>
        <c:crosses val="autoZero"/>
        <c:auto val="1"/>
        <c:lblAlgn val="ctr"/>
        <c:noMultiLvlLbl val="1"/>
      </c:catAx>
      <c:valAx>
        <c:axId val="2094734552"/>
        <c:scaling>
          <c:orientation val="minMax"/>
          <c:max val="36"/>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4A4A4A"/>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The project detects pretexting emails that carry no link and no attachment, by checking what the email claims about itself against its own headers and its own conversation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Plain version of the problem. The attack is only words. Pretexting means building trust with an invented story. When it is aimed at money it is called business email compromise. Payload-free means there is no link and no attachment, so tools that look for those find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SPF, DKIM and DMARC are the standard email authentication checks. They prove which domain sent the message. Here that domain is gmail.com, so they pass. Nothing in them says whether the sender is really David from Finance. The Reply-To quietly sends answers to a third address.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attackers need two kinds of evidence. From outside, the headers give the impersonator away. From inside a real account, the headers are genuine, so only the history of the conversation can show that something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works covers part of the problem. None checks, for an email with no link, what the body claims against both the headers and the thread, with a stated reason for each alarm. ChatSpamDetector already compares the sender name with the address, so we do not claim to be the first to compare a claimed sender with the headers.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central idea. A header value is not good or bad on its own. dmarc=pass for gmail.com is normal for a private Gmail user, and a contradiction when the body claims to be a colleague. We call this claim conditioning: the claim decides what the header means.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Fig. 1 of the paper. The key step is the router: each claim goes only to the checker that has the evidence to test it. Tactics go to no verifier, because no header can prove or disprove urgency.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verifier answers one question. A change of bank details can never be confirmed by headers, so it is left to the thread. When evidence is missing, for example the organisation's own domain is unknown, the verdict is not checkable rather than guessed. Only contradictions add to the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report for this email lists two rows. Each names the claim, the checker, the evidence and the verdict, so a person can see exactly why the email was flagged and check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case no single-message check can see. The account is genuine, so every authentication check passes. Only the history of the conversation gives it away: new bank details, urgency and secrecy appearing for the first time, and a different mail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public collection of real payload-free fraud exists, so the evaluation uses public phishing and fraud collections plus synthetic cases. The Apache lists add modern legitimate mail with real authentication headers. Emails on one subject stay in the same split so near-copies cannot leak from training into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test data were locked before anything was measured, so no rule or threshold could be tuned on them. Every number comes with a 95% interval; if the interval of a difference includes zero, we do not call either system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 learned from text with links, model B from text with links replaced by placeholders. When links are hidden at test time, A loses accuracy and B does not. So part of a normal detector's accuracy is link-reading, which real pretexting does not offer.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takeover reply comes from the real account, so the header checks have nothing to contradict. The thread rules compare the reply with the earlier messages and find most of these cases, with few false alarms on the genuine next reply.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honest negative result. On pooled public data the routed score finds fewer attacks than four simpler systems given the same information. The main reason is that it can only flag an email with a claim it can check, and most attacks in these collections have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pair is an impersonation attack and a benign twin from the real company domain. A model that reads headers alone flags both, because it does not know what the email claims. The routed score uses the claim, so it flags attacks and leaves the twins alone. This arm is synthetic, so it shows the idea works as designed, not how often it would on real mail.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tactic classifier ties with a simple keyword baseline, so we do not claim it is better. The claim extractor is moderate, and the labels it is measured against come from one model family. The false alarm budget held in four of five groups.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runs as a small API with a web page. No language model is called during analysis, so no email is sent to an outside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limits are stated in the paper as well. The most important: no real payload-free BEC data, labels from language models rather than people, and synthetic hijack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design gives reasons and catches synthetic takeovers, but it does not by itself detect more attacks on these public data sets. The next step is real data: labelled payload-free BEC, real hijacked threads and human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are numbered in the order they are first cited in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502920"/>
            <a:ext cx="8046720" cy="274320"/>
          </a:xfrm>
          <a:prstGeom prst="rect">
            <a:avLst/>
          </a:prstGeom>
          <a:noFill/>
          <a:ln/>
        </p:spPr>
        <p:txBody>
          <a:bodyPr wrap="square" rtlCol="0"/>
          <a:lstStyle>
            <a:lvl1pPr indent="0" marL="0">
              <a:buNone/>
              <a:defRPr lang="en-US" sz="1000" b="1" dirty="0">
                <a:solidFill>
                  <a:schemeClr val="accent1"/>
                </a:solidFill>
              </a:defRPr>
            </a:lvl1pPr>
          </a:lstStyle>
          <a:p>
            <a:pPr indent="0" marL="0">
              <a:buNone/>
            </a:pPr>
            <a:endParaRPr lang="en-US" sz="1000" dirty="0"/>
          </a:p>
        </p:txBody>
      </p:sp>
      <p:sp>
        <p:nvSpPr>
          <p:cNvPr id="3" name="Text 0"/>
          <p:cNvSpPr/>
          <p:nvPr>
            <p:ph idx="101" type="title" hasCustomPrompt="1"/>
          </p:nvPr>
        </p:nvSpPr>
        <p:spPr>
          <a:xfrm>
            <a:off x="548640" y="868680"/>
            <a:ext cx="8046720" cy="1600200"/>
          </a:xfrm>
          <a:prstGeom prst="rect">
            <a:avLst/>
          </a:prstGeom>
          <a:noFill/>
          <a:ln/>
        </p:spPr>
        <p:txBody>
          <a:bodyPr wrap="square" rtlCol="0"/>
          <a:lstStyle>
            <a:lvl1pPr algn="l" indent="0" marL="0">
              <a:buNone/>
              <a:defRPr lang="en-US" sz="2700" dirty="0">
                <a:solidFill>
                  <a:schemeClr val="bg1"/>
                </a:solidFill>
              </a:defRPr>
            </a:lvl1pPr>
          </a:lstStyle>
          <a:p>
            <a:pPr algn="l" indent="0" marL="0">
              <a:buNone/>
            </a:pPr>
            <a:endParaRPr lang="en-US" sz="27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046720" cy="274320"/>
          </a:xfrm>
          <a:prstGeom prst="rect">
            <a:avLst/>
          </a:prstGeom>
          <a:noFill/>
          <a:ln/>
        </p:spPr>
        <p:txBody>
          <a:bodyPr wrap="square" rtlCol="0"/>
          <a:lstStyle>
            <a:lvl1pPr indent="0" marL="0">
              <a:buNone/>
              <a:defRPr lang="en-US" sz="1000" b="1" dirty="0">
                <a:solidFill>
                  <a:schemeClr val="accent1"/>
                </a:solidFill>
              </a:defRPr>
            </a:lvl1pPr>
          </a:lstStyle>
          <a:p>
            <a:pPr indent="0" marL="0">
              <a:buNone/>
            </a:pPr>
            <a:endParaRPr lang="en-US" sz="1000" dirty="0"/>
          </a:p>
        </p:txBody>
      </p:sp>
      <p:sp>
        <p:nvSpPr>
          <p:cNvPr id="3" name="Text 0"/>
          <p:cNvSpPr/>
          <p:nvPr>
            <p:ph idx="101" type="title" hasCustomPrompt="1"/>
          </p:nvPr>
        </p:nvSpPr>
        <p:spPr>
          <a:xfrm>
            <a:off x="548640" y="731520"/>
            <a:ext cx="8046720" cy="640080"/>
          </a:xfrm>
          <a:prstGeom prst="rect">
            <a:avLst/>
          </a:prstGeom>
          <a:noFill/>
          <a:ln/>
        </p:spPr>
        <p:txBody>
          <a:bodyPr wrap="square" rtlCol="0"/>
          <a:lstStyle>
            <a:lvl1pPr algn="l" indent="0" marL="0">
              <a:buNone/>
              <a:defRPr lang="en-US" sz="2800" dirty="0">
                <a:solidFill>
                  <a:schemeClr val="bg1"/>
                </a:solidFill>
              </a:defRPr>
            </a:lvl1pPr>
          </a:lstStyle>
          <a:p>
            <a:pPr algn="l" indent="0" marL="0">
              <a:buNone/>
            </a:pPr>
            <a:endParaRPr lang="en-US" sz="2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56032"/>
          </a:xfrm>
          <a:prstGeom prst="rect">
            <a:avLst/>
          </a:prstGeom>
          <a:noFill/>
          <a:ln/>
        </p:spPr>
        <p:txBody>
          <a:bodyPr wrap="square" rtlCol="0"/>
          <a:lstStyle>
            <a:lvl1pPr indent="0" marL="0">
              <a:buNone/>
              <a:defRPr lang="en-US" sz="1000" b="1" dirty="0">
                <a:solidFill>
                  <a:schemeClr val="accent1"/>
                </a:solidFill>
              </a:defRPr>
            </a:lvl1pPr>
          </a:lstStyle>
          <a:p>
            <a:pPr indent="0" marL="0">
              <a:buNone/>
            </a:pPr>
            <a:endParaRPr lang="en-US" sz="1000" dirty="0"/>
          </a:p>
        </p:txBody>
      </p:sp>
      <p:sp>
        <p:nvSpPr>
          <p:cNvPr id="3" name="Text 0"/>
          <p:cNvSpPr/>
          <p:nvPr>
            <p:ph idx="101" type="title" hasCustomPrompt="1"/>
          </p:nvPr>
        </p:nvSpPr>
        <p:spPr>
          <a:xfrm>
            <a:off x="457200" y="548640"/>
            <a:ext cx="8229600" cy="548640"/>
          </a:xfrm>
          <a:prstGeom prst="rect">
            <a:avLst/>
          </a:prstGeom>
          <a:noFill/>
          <a:ln/>
        </p:spPr>
        <p:txBody>
          <a:bodyPr wrap="square" rtlCol="0"/>
          <a:lstStyle>
            <a:lvl1pPr algn="l" indent="0" marL="0">
              <a:buNone/>
              <a:defRPr lang="en-US" sz="2400" dirty="0">
                <a:solidFill>
                  <a:schemeClr val="tx1"/>
                </a:solidFill>
              </a:defRPr>
            </a:lvl1pPr>
          </a:lstStyle>
          <a:p>
            <a:pPr algn="l" indent="0" marL="0">
              <a:buNone/>
            </a:pPr>
            <a:endParaRPr lang="en-US" sz="2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4.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4.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4.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4.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4.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4.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502920"/>
            <a:ext cx="8046720" cy="274320"/>
          </a:xfrm>
          <a:prstGeom prst="rect">
            <a:avLst/>
          </a:prstGeom>
          <a:noFill/>
          <a:ln/>
        </p:spPr>
        <p:txBody>
          <a:bodyPr wrap="square" lIns="0" tIns="0" rIns="0" bIns="0" rtlCol="0" anchor="ctr"/>
          <a:lstStyle/>
          <a:p>
            <a:pPr indent="0" marL="0">
              <a:buNone/>
            </a:pPr>
            <a:r>
              <a:rPr lang="en-US" sz="1000" b="1" spc="200" kern="0" dirty="0">
                <a:solidFill>
                  <a:schemeClr val="accent1"/>
                </a:solidFill>
              </a:rPr>
              <a:t>PROBLEM STATEMENT NO. 37  ·  CYBER SECURITY (BCSE410L)</a:t>
            </a:r>
            <a:endParaRPr lang="en-US" sz="1000" dirty="0"/>
          </a:p>
        </p:txBody>
      </p:sp>
      <p:sp>
        <p:nvSpPr>
          <p:cNvPr id="3" name="Text 0"/>
          <p:cNvSpPr/>
          <p:nvPr>
            <p:ph idx="101" type="title" hasCustomPrompt="1"/>
          </p:nvPr>
        </p:nvSpPr>
        <p:spPr>
          <a:xfrm>
            <a:off x="548640" y="868680"/>
            <a:ext cx="8046720" cy="1600200"/>
          </a:xfrm>
          <a:prstGeom prst="rect">
            <a:avLst/>
          </a:prstGeom>
          <a:noFill/>
          <a:ln/>
        </p:spPr>
        <p:txBody>
          <a:bodyPr wrap="square" lIns="0" tIns="0" rIns="0" bIns="0" rtlCol="0" anchor="t"/>
          <a:lstStyle/>
          <a:p>
            <a:pPr algn="l" indent="0" marL="0">
              <a:buNone/>
            </a:pPr>
            <a:r>
              <a:rPr lang="en-US" sz="2700" dirty="0">
                <a:solidFill>
                  <a:schemeClr val="bg1"/>
                </a:solidFill>
              </a:rPr>
              <a:t>Detection of Payload-Free Pretexting Emails Through Claim-Routed Verification Against Email Headers and Thread History</a:t>
            </a:r>
            <a:endParaRPr lang="en-US" sz="2700" dirty="0"/>
          </a:p>
        </p:txBody>
      </p:sp>
      <p:sp>
        <p:nvSpPr>
          <p:cNvPr id="4" name="Text 2"/>
          <p:cNvSpPr txBox="1"/>
          <p:nvPr/>
        </p:nvSpPr>
        <p:spPr>
          <a:xfrm>
            <a:off x="548640" y="2560320"/>
            <a:ext cx="8046720" cy="365760"/>
          </a:xfrm>
          <a:prstGeom prst="rect">
            <a:avLst/>
          </a:prstGeom>
          <a:noFill/>
          <a:ln/>
        </p:spPr>
        <p:txBody>
          <a:bodyPr wrap="square" lIns="0" tIns="0" rIns="0" bIns="0" rtlCol="0" anchor="t"/>
          <a:lstStyle/>
          <a:p>
            <a:pPr indent="0" marL="0">
              <a:buNone/>
            </a:pPr>
            <a:r>
              <a:rPr lang="en-US" sz="1600" i="1" dirty="0">
                <a:solidFill>
                  <a:schemeClr val="accent6"/>
                </a:solidFill>
                <a:latin typeface="+mj-lt" pitchFamily="34" charset="0"/>
                <a:ea typeface="+mj-lt" pitchFamily="34" charset="-122"/>
                <a:cs typeface="+mj-lt" pitchFamily="34" charset="-120"/>
              </a:rPr>
              <a:t>The claim-routed verification pipeline</a:t>
            </a:r>
            <a:endParaRPr lang="en-US" sz="1600" dirty="0"/>
          </a:p>
        </p:txBody>
      </p:sp>
      <p:sp>
        <p:nvSpPr>
          <p:cNvPr id="5" name="Presenter box"/>
          <p:cNvSpPr/>
          <p:nvPr/>
        </p:nvSpPr>
        <p:spPr>
          <a:xfrm>
            <a:off x="548640" y="3291840"/>
            <a:ext cx="8046720" cy="1325880"/>
          </a:xfrm>
          <a:prstGeom prst="rect">
            <a:avLst/>
          </a:prstGeom>
          <a:solidFill>
            <a:schemeClr val="tx2"/>
          </a:solidFill>
          <a:ln w="12700">
            <a:solidFill>
              <a:schemeClr val="accent1"/>
            </a:solidFill>
            <a:prstDash val="solid"/>
          </a:ln>
        </p:spPr>
      </p:sp>
      <p:sp>
        <p:nvSpPr>
          <p:cNvPr id="6" name="Shape 4"/>
          <p:cNvSpPr/>
          <p:nvPr/>
        </p:nvSpPr>
        <p:spPr>
          <a:xfrm>
            <a:off x="4572000" y="3474720"/>
            <a:ext cx="0" cy="960120"/>
          </a:xfrm>
          <a:prstGeom prst="line">
            <a:avLst/>
          </a:prstGeom>
          <a:noFill/>
          <a:ln w="9525">
            <a:solidFill>
              <a:schemeClr val="accent1"/>
            </a:solidFill>
            <a:prstDash val="solid"/>
          </a:ln>
        </p:spPr>
      </p:sp>
      <p:sp>
        <p:nvSpPr>
          <p:cNvPr id="7" name="Text 5"/>
          <p:cNvSpPr txBox="1"/>
          <p:nvPr/>
        </p:nvSpPr>
        <p:spPr>
          <a:xfrm>
            <a:off x="822960" y="3456432"/>
            <a:ext cx="3474720" cy="201168"/>
          </a:xfrm>
          <a:prstGeom prst="rect">
            <a:avLst/>
          </a:prstGeom>
          <a:noFill/>
          <a:ln/>
        </p:spPr>
        <p:txBody>
          <a:bodyPr wrap="square" lIns="0" tIns="0" rIns="0" bIns="0" rtlCol="0" anchor="ctr"/>
          <a:lstStyle/>
          <a:p>
            <a:pPr indent="0" marL="0">
              <a:buNone/>
            </a:pPr>
            <a:r>
              <a:rPr lang="en-US" sz="900" b="1" spc="150" kern="0" dirty="0">
                <a:solidFill>
                  <a:schemeClr val="accent1"/>
                </a:solidFill>
              </a:rPr>
              <a:t>PRESENTED BY</a:t>
            </a:r>
            <a:endParaRPr lang="en-US" sz="900" dirty="0"/>
          </a:p>
        </p:txBody>
      </p:sp>
      <p:sp>
        <p:nvSpPr>
          <p:cNvPr id="8" name="Text 6"/>
          <p:cNvSpPr txBox="1"/>
          <p:nvPr/>
        </p:nvSpPr>
        <p:spPr>
          <a:xfrm>
            <a:off x="822960" y="3703320"/>
            <a:ext cx="3566160" cy="365760"/>
          </a:xfrm>
          <a:prstGeom prst="rect">
            <a:avLst/>
          </a:prstGeom>
          <a:noFill/>
          <a:ln/>
        </p:spPr>
        <p:txBody>
          <a:bodyPr wrap="square" lIns="0" tIns="0" rIns="0" bIns="0" rtlCol="0" anchor="t"/>
          <a:lstStyle/>
          <a:p>
            <a:pPr indent="0" marL="0">
              <a:buNone/>
            </a:pPr>
            <a:r>
              <a:rPr lang="en-US" sz="1800" b="1" dirty="0">
                <a:solidFill>
                  <a:schemeClr val="bg1"/>
                </a:solidFill>
                <a:latin typeface="+mj-lt" pitchFamily="34" charset="0"/>
                <a:ea typeface="+mj-lt" pitchFamily="34" charset="-122"/>
                <a:cs typeface="+mj-lt" pitchFamily="34" charset="-120"/>
              </a:rPr>
              <a:t>M Naga Sai Dattu</a:t>
            </a:r>
            <a:endParaRPr lang="en-US" sz="1800" dirty="0"/>
          </a:p>
        </p:txBody>
      </p:sp>
      <p:sp>
        <p:nvSpPr>
          <p:cNvPr id="9" name="Text 7"/>
          <p:cNvSpPr txBox="1"/>
          <p:nvPr/>
        </p:nvSpPr>
        <p:spPr>
          <a:xfrm>
            <a:off x="822960" y="4114800"/>
            <a:ext cx="3566160" cy="274320"/>
          </a:xfrm>
          <a:prstGeom prst="rect">
            <a:avLst/>
          </a:prstGeom>
          <a:noFill/>
          <a:ln/>
        </p:spPr>
        <p:txBody>
          <a:bodyPr wrap="square" lIns="0" tIns="0" rIns="0" bIns="0" rtlCol="0" anchor="t"/>
          <a:lstStyle/>
          <a:p>
            <a:pPr indent="0" marL="0">
              <a:buNone/>
            </a:pPr>
            <a:r>
              <a:rPr lang="en-US" sz="1300" dirty="0">
                <a:solidFill>
                  <a:schemeClr val="accent6"/>
                </a:solidFill>
              </a:rPr>
              <a:t>23BCE0757</a:t>
            </a:r>
            <a:endParaRPr lang="en-US" sz="1300" dirty="0"/>
          </a:p>
        </p:txBody>
      </p:sp>
      <p:sp>
        <p:nvSpPr>
          <p:cNvPr id="10" name="Text 8"/>
          <p:cNvSpPr txBox="1"/>
          <p:nvPr/>
        </p:nvSpPr>
        <p:spPr>
          <a:xfrm>
            <a:off x="4846320" y="3456432"/>
            <a:ext cx="3474720" cy="201168"/>
          </a:xfrm>
          <a:prstGeom prst="rect">
            <a:avLst/>
          </a:prstGeom>
          <a:noFill/>
          <a:ln/>
        </p:spPr>
        <p:txBody>
          <a:bodyPr wrap="square" lIns="0" tIns="0" rIns="0" bIns="0" rtlCol="0" anchor="ctr"/>
          <a:lstStyle/>
          <a:p>
            <a:pPr indent="0" marL="0">
              <a:buNone/>
            </a:pPr>
            <a:r>
              <a:rPr lang="en-US" sz="900" b="1" spc="150" kern="0" dirty="0">
                <a:solidFill>
                  <a:schemeClr val="accent1"/>
                </a:solidFill>
              </a:rPr>
              <a:t>FACULTY</a:t>
            </a:r>
            <a:endParaRPr lang="en-US" sz="900" dirty="0"/>
          </a:p>
        </p:txBody>
      </p:sp>
      <p:sp>
        <p:nvSpPr>
          <p:cNvPr id="11" name="Text 9"/>
          <p:cNvSpPr txBox="1"/>
          <p:nvPr/>
        </p:nvSpPr>
        <p:spPr>
          <a:xfrm>
            <a:off x="4846320" y="3703320"/>
            <a:ext cx="3566160" cy="365760"/>
          </a:xfrm>
          <a:prstGeom prst="rect">
            <a:avLst/>
          </a:prstGeom>
          <a:noFill/>
          <a:ln/>
        </p:spPr>
        <p:txBody>
          <a:bodyPr wrap="square" lIns="0" tIns="0" rIns="0" bIns="0" rtlCol="0" anchor="t"/>
          <a:lstStyle/>
          <a:p>
            <a:pPr indent="0" marL="0">
              <a:buNone/>
            </a:pPr>
            <a:r>
              <a:rPr lang="en-US" sz="1800" b="1" dirty="0">
                <a:solidFill>
                  <a:schemeClr val="bg1"/>
                </a:solidFill>
                <a:latin typeface="+mj-lt" pitchFamily="34" charset="0"/>
                <a:ea typeface="+mj-lt" pitchFamily="34" charset="-122"/>
                <a:cs typeface="+mj-lt" pitchFamily="34" charset="-120"/>
              </a:rPr>
              <a:t>Dr. Arun Prasath G</a:t>
            </a:r>
            <a:endParaRPr lang="en-US" sz="1800" dirty="0"/>
          </a:p>
        </p:txBody>
      </p:sp>
      <p:sp>
        <p:nvSpPr>
          <p:cNvPr id="12" name="Text 10"/>
          <p:cNvSpPr txBox="1"/>
          <p:nvPr/>
        </p:nvSpPr>
        <p:spPr>
          <a:xfrm>
            <a:off x="4846320" y="4114800"/>
            <a:ext cx="3566160" cy="274320"/>
          </a:xfrm>
          <a:prstGeom prst="rect">
            <a:avLst/>
          </a:prstGeom>
          <a:noFill/>
          <a:ln/>
        </p:spPr>
        <p:txBody>
          <a:bodyPr wrap="square" lIns="0" tIns="0" rIns="0" bIns="0" rtlCol="0" anchor="t"/>
          <a:lstStyle/>
          <a:p>
            <a:pPr indent="0" marL="0">
              <a:buNone/>
            </a:pPr>
            <a:r>
              <a:rPr lang="en-US" sz="1300" dirty="0">
                <a:solidFill>
                  <a:schemeClr val="accent6"/>
                </a:solidFill>
              </a:rPr>
              <a:t>VIT SCOPE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56032"/>
          </a:xfrm>
          <a:prstGeom prst="rect">
            <a:avLst/>
          </a:prstGeom>
          <a:noFill/>
          <a:ln/>
        </p:spPr>
        <p:txBody>
          <a:bodyPr wrap="square" lIns="0" tIns="0" rIns="0" bIns="0" rtlCol="0" anchor="ctr"/>
          <a:lstStyle/>
          <a:p>
            <a:pPr indent="0" marL="0">
              <a:buNone/>
            </a:pPr>
            <a:r>
              <a:rPr lang="en-US" sz="1000" b="1" spc="200" kern="0" dirty="0">
                <a:solidFill>
                  <a:schemeClr val="accent1"/>
                </a:solidFill>
              </a:rPr>
              <a:t>THE PROBLEM</a:t>
            </a:r>
            <a:endParaRPr lang="en-US" sz="1000" dirty="0"/>
          </a:p>
        </p:txBody>
      </p:sp>
      <p:sp>
        <p:nvSpPr>
          <p:cNvPr id="3" name="Text 0"/>
          <p:cNvSpPr/>
          <p:nvPr>
            <p:ph idx="101" type="title" hasCustomPrompt="1"/>
          </p:nvPr>
        </p:nvSpPr>
        <p:spPr>
          <a:xfrm>
            <a:off x="457200" y="548640"/>
            <a:ext cx="8229600" cy="548640"/>
          </a:xfrm>
          <a:prstGeom prst="rect">
            <a:avLst/>
          </a:prstGeom>
          <a:noFill/>
          <a:ln/>
        </p:spPr>
        <p:txBody>
          <a:bodyPr wrap="square" lIns="0" tIns="0" rIns="0" bIns="0" rtlCol="0" anchor="t"/>
          <a:lstStyle/>
          <a:p>
            <a:pPr algn="l" indent="0" marL="0">
              <a:buNone/>
            </a:pPr>
            <a:r>
              <a:rPr lang="en-US" sz="2400" dirty="0">
                <a:solidFill>
                  <a:schemeClr val="tx1"/>
                </a:solidFill>
              </a:rPr>
              <a:t>An email attack with nothing to scan</a:t>
            </a:r>
            <a:endParaRPr lang="en-US" sz="2400" dirty="0"/>
          </a:p>
        </p:txBody>
      </p:sp>
      <p:sp>
        <p:nvSpPr>
          <p:cNvPr id="4" name="Text 2"/>
          <p:cNvSpPr txBox="1"/>
          <p:nvPr/>
        </p:nvSpPr>
        <p:spPr>
          <a:xfrm>
            <a:off x="457200" y="1280160"/>
            <a:ext cx="4846320" cy="2148840"/>
          </a:xfrm>
          <a:prstGeom prst="rect">
            <a:avLst/>
          </a:prstGeom>
          <a:noFill/>
          <a:ln/>
        </p:spPr>
        <p:txBody>
          <a:bodyPr wrap="square" lIns="0" tIns="0" rIns="0" bIns="0" rtlCol="0" anchor="t"/>
          <a:lstStyle/>
          <a:p>
            <a:pPr indent="0" marL="0">
              <a:spcAft>
                <a:spcPts val="1200"/>
              </a:spcAft>
              <a:buNone/>
            </a:pPr>
            <a:r>
              <a:rPr lang="en-US" sz="1500" dirty="0">
                <a:solidFill>
                  <a:schemeClr val="tx1"/>
                </a:solidFill>
              </a:rPr>
              <a:t>Some of the most damaging email attacks carry nothing a security scanner can find: no link to a fake website and no attachment with a virus.</a:t>
            </a:r>
            <a:endParaRPr lang="en-US" sz="1500" dirty="0"/>
          </a:p>
          <a:p>
            <a:pPr indent="0" marL="0">
              <a:spcAft>
                <a:spcPts val="1200"/>
              </a:spcAft>
              <a:buNone/>
            </a:pPr>
            <a:r>
              <a:rPr lang="en-US" sz="1500" dirty="0">
                <a:solidFill>
                  <a:schemeClr val="tx1"/>
                </a:solidFill>
              </a:rPr>
              <a:t>Someone writes as your boss, your finance director or a supplier, tells a believable story and asks you to pay, change bank details or send data.</a:t>
            </a:r>
            <a:endParaRPr lang="en-US" sz="1500" dirty="0"/>
          </a:p>
          <a:p>
            <a:pPr indent="0" marL="0">
              <a:spcAft>
                <a:spcPts val="1200"/>
              </a:spcAft>
              <a:buNone/>
            </a:pPr>
            <a:r>
              <a:rPr lang="en-US" sz="1500" b="1" dirty="0">
                <a:solidFill>
                  <a:schemeClr val="tx1"/>
                </a:solidFill>
              </a:rPr>
              <a:t>If you believe the story, you do the damage yourself.</a:t>
            </a:r>
            <a:endParaRPr lang="en-US" sz="1500" dirty="0"/>
          </a:p>
        </p:txBody>
      </p:sp>
      <p:sp>
        <p:nvSpPr>
          <p:cNvPr id="5" name="Definitions"/>
          <p:cNvSpPr/>
          <p:nvPr/>
        </p:nvSpPr>
        <p:spPr>
          <a:xfrm>
            <a:off x="457200" y="3520440"/>
            <a:ext cx="4846320" cy="1280160"/>
          </a:xfrm>
          <a:prstGeom prst="rect">
            <a:avLst/>
          </a:prstGeom>
          <a:solidFill>
            <a:schemeClr val="bg1"/>
          </a:solidFill>
          <a:ln w="9525">
            <a:solidFill>
              <a:schemeClr val="accent6"/>
            </a:solidFill>
            <a:prstDash val="solid"/>
          </a:ln>
        </p:spPr>
      </p:sp>
      <p:sp>
        <p:nvSpPr>
          <p:cNvPr id="6" name="Text 4"/>
          <p:cNvSpPr txBox="1"/>
          <p:nvPr/>
        </p:nvSpPr>
        <p:spPr>
          <a:xfrm>
            <a:off x="640080" y="3639312"/>
            <a:ext cx="4526280" cy="1097280"/>
          </a:xfrm>
          <a:prstGeom prst="rect">
            <a:avLst/>
          </a:prstGeom>
          <a:noFill/>
          <a:ln/>
        </p:spPr>
        <p:txBody>
          <a:bodyPr wrap="square" lIns="0" tIns="0" rIns="0" bIns="0" rtlCol="0" anchor="t"/>
          <a:lstStyle/>
          <a:p>
            <a:pPr indent="0" marL="0">
              <a:spcAft>
                <a:spcPts val="500"/>
              </a:spcAft>
              <a:buNone/>
            </a:pPr>
            <a:r>
              <a:rPr lang="en-US" sz="1150" b="1" dirty="0">
                <a:solidFill>
                  <a:schemeClr val="tx1"/>
                </a:solidFill>
              </a:rPr>
              <a:t>Pretexting: </a:t>
            </a:r>
            <a:pPr indent="0" marL="0">
              <a:spcAft>
                <a:spcPts val="500"/>
              </a:spcAft>
              <a:buNone/>
            </a:pPr>
            <a:r>
              <a:rPr lang="en-US" sz="1150" dirty="0">
                <a:solidFill>
                  <a:schemeClr val="tx1"/>
                </a:solidFill>
              </a:rPr>
              <a:t>building trust through an invented scenario, with the attacker taking part in the conversation [1].</a:t>
            </a:r>
            <a:endParaRPr lang="en-US" sz="1150" dirty="0"/>
          </a:p>
          <a:p>
            <a:pPr indent="0" marL="0">
              <a:spcAft>
                <a:spcPts val="500"/>
              </a:spcAft>
              <a:buNone/>
            </a:pPr>
            <a:r>
              <a:rPr lang="en-US" sz="1150" b="1" dirty="0">
                <a:solidFill>
                  <a:schemeClr val="tx1"/>
                </a:solidFill>
              </a:rPr>
              <a:t>Business email compromise (BEC): </a:t>
            </a:r>
            <a:pPr indent="0" marL="0">
              <a:spcAft>
                <a:spcPts val="500"/>
              </a:spcAft>
              <a:buNone/>
            </a:pPr>
            <a:r>
              <a:rPr lang="en-US" sz="1150" dirty="0">
                <a:solidFill>
                  <a:schemeClr val="tx1"/>
                </a:solidFill>
              </a:rPr>
              <a:t>pretexting aimed at money.</a:t>
            </a:r>
            <a:endParaRPr lang="en-US" sz="1150" dirty="0"/>
          </a:p>
          <a:p>
            <a:pPr indent="0" marL="0">
              <a:spcAft>
                <a:spcPts val="500"/>
              </a:spcAft>
              <a:buNone/>
            </a:pPr>
            <a:r>
              <a:rPr lang="en-US" sz="1150" b="1" dirty="0">
                <a:solidFill>
                  <a:schemeClr val="tx1"/>
                </a:solidFill>
              </a:rPr>
              <a:t>Payload-free: </a:t>
            </a:r>
            <a:pPr indent="0" marL="0">
              <a:spcAft>
                <a:spcPts val="500"/>
              </a:spcAft>
              <a:buNone/>
            </a:pPr>
            <a:r>
              <a:rPr lang="en-US" sz="1150" dirty="0">
                <a:solidFill>
                  <a:schemeClr val="tx1"/>
                </a:solidFill>
              </a:rPr>
              <a:t>no link and no attachment; the whole attack is in the words.</a:t>
            </a:r>
            <a:endParaRPr lang="en-US" sz="1150" dirty="0"/>
          </a:p>
        </p:txBody>
      </p:sp>
      <p:sp>
        <p:nvSpPr>
          <p:cNvPr id="7" name="Scanner panel"/>
          <p:cNvSpPr/>
          <p:nvPr/>
        </p:nvSpPr>
        <p:spPr>
          <a:xfrm>
            <a:off x="5577840" y="1280160"/>
            <a:ext cx="3108960" cy="3520440"/>
          </a:xfrm>
          <a:prstGeom prst="rect">
            <a:avLst/>
          </a:prstGeom>
          <a:solidFill>
            <a:schemeClr val="tx2"/>
          </a:solidFill>
          <a:ln w="9525">
            <a:solidFill>
              <a:schemeClr val="tx2"/>
            </a:solidFill>
            <a:prstDash val="solid"/>
          </a:ln>
        </p:spPr>
      </p:sp>
      <p:sp>
        <p:nvSpPr>
          <p:cNvPr id="8" name="Text 6"/>
          <p:cNvSpPr txBox="1"/>
          <p:nvPr/>
        </p:nvSpPr>
        <p:spPr>
          <a:xfrm>
            <a:off x="5806440" y="1444752"/>
            <a:ext cx="2743200" cy="201168"/>
          </a:xfrm>
          <a:prstGeom prst="rect">
            <a:avLst/>
          </a:prstGeom>
          <a:noFill/>
          <a:ln/>
        </p:spPr>
        <p:txBody>
          <a:bodyPr wrap="square" lIns="0" tIns="0" rIns="0" bIns="0" rtlCol="0" anchor="ctr"/>
          <a:lstStyle/>
          <a:p>
            <a:pPr indent="0" marL="0">
              <a:buNone/>
            </a:pPr>
            <a:r>
              <a:rPr lang="en-US" sz="900" b="1" spc="150" kern="0" dirty="0">
                <a:solidFill>
                  <a:schemeClr val="accent1"/>
                </a:solidFill>
              </a:rPr>
              <a:t>WHAT A SCANNER SEES</a:t>
            </a:r>
            <a:endParaRPr lang="en-US" sz="900" dirty="0"/>
          </a:p>
        </p:txBody>
      </p:sp>
      <p:sp>
        <p:nvSpPr>
          <p:cNvPr id="9" name="Shape 7"/>
          <p:cNvSpPr/>
          <p:nvPr/>
        </p:nvSpPr>
        <p:spPr>
          <a:xfrm>
            <a:off x="5806440" y="1828800"/>
            <a:ext cx="548640" cy="548640"/>
          </a:xfrm>
          <a:prstGeom prst="ellipse">
            <a:avLst/>
          </a:prstGeom>
          <a:solidFill>
            <a:schemeClr val="accent1"/>
          </a:solidFill>
          <a:ln w="6350">
            <a:solidFill>
              <a:schemeClr val="accent1"/>
            </a:solidFill>
            <a:prstDash val="solid"/>
          </a:ln>
        </p:spPr>
      </p:sp>
      <p:pic>
        <p:nvPicPr>
          <p:cNvPr id="10" name="Image 0" descr="preencoded.png">    </p:cNvPr>
          <p:cNvPicPr>
            <a:picLocks noChangeAspect="1"/>
          </p:cNvPicPr>
          <p:nvPr/>
        </p:nvPicPr>
        <p:blipFill>
          <a:blip r:embed="rId1"/>
          <a:stretch>
            <a:fillRect/>
          </a:stretch>
        </p:blipFill>
        <p:spPr>
          <a:xfrm>
            <a:off x="5943600" y="1965960"/>
            <a:ext cx="274320" cy="274320"/>
          </a:xfrm>
          <a:prstGeom prst="rect">
            <a:avLst/>
          </a:prstGeom>
        </p:spPr>
      </p:pic>
      <p:sp>
        <p:nvSpPr>
          <p:cNvPr id="11" name="Text 8"/>
          <p:cNvSpPr txBox="1"/>
          <p:nvPr/>
        </p:nvSpPr>
        <p:spPr>
          <a:xfrm>
            <a:off x="6492240" y="1847088"/>
            <a:ext cx="2103120" cy="274320"/>
          </a:xfrm>
          <a:prstGeom prst="rect">
            <a:avLst/>
          </a:prstGeom>
          <a:noFill/>
          <a:ln/>
        </p:spPr>
        <p:txBody>
          <a:bodyPr wrap="square" lIns="0" tIns="0" rIns="0" bIns="0" rtlCol="0" anchor="t"/>
          <a:lstStyle/>
          <a:p>
            <a:pPr indent="0" marL="0">
              <a:buNone/>
            </a:pPr>
            <a:r>
              <a:rPr lang="en-US" sz="1400" b="1" dirty="0">
                <a:solidFill>
                  <a:schemeClr val="bg1"/>
                </a:solidFill>
              </a:rPr>
              <a:t>No link</a:t>
            </a:r>
            <a:endParaRPr lang="en-US" sz="1400" dirty="0"/>
          </a:p>
        </p:txBody>
      </p:sp>
      <p:sp>
        <p:nvSpPr>
          <p:cNvPr id="12" name="Text 9"/>
          <p:cNvSpPr txBox="1"/>
          <p:nvPr/>
        </p:nvSpPr>
        <p:spPr>
          <a:xfrm>
            <a:off x="6492240" y="2121408"/>
            <a:ext cx="2103120" cy="274320"/>
          </a:xfrm>
          <a:prstGeom prst="rect">
            <a:avLst/>
          </a:prstGeom>
          <a:noFill/>
          <a:ln/>
        </p:spPr>
        <p:txBody>
          <a:bodyPr wrap="square" lIns="0" tIns="0" rIns="0" bIns="0" rtlCol="0" anchor="t"/>
          <a:lstStyle/>
          <a:p>
            <a:pPr indent="0" marL="0">
              <a:buNone/>
            </a:pPr>
            <a:r>
              <a:rPr lang="en-US" sz="1100" dirty="0">
                <a:solidFill>
                  <a:schemeClr val="accent6"/>
                </a:solidFill>
              </a:rPr>
              <a:t>nothing for a link checker to test</a:t>
            </a:r>
            <a:endParaRPr lang="en-US" sz="1100" dirty="0"/>
          </a:p>
        </p:txBody>
      </p:sp>
      <p:sp>
        <p:nvSpPr>
          <p:cNvPr id="13" name="Shape 10"/>
          <p:cNvSpPr/>
          <p:nvPr/>
        </p:nvSpPr>
        <p:spPr>
          <a:xfrm>
            <a:off x="5806440" y="2761488"/>
            <a:ext cx="548640" cy="548640"/>
          </a:xfrm>
          <a:prstGeom prst="ellipse">
            <a:avLst/>
          </a:prstGeom>
          <a:solidFill>
            <a:schemeClr val="accent1"/>
          </a:solidFill>
          <a:ln w="6350">
            <a:solidFill>
              <a:schemeClr val="accent1"/>
            </a:solidFill>
            <a:prstDash val="solid"/>
          </a:ln>
        </p:spPr>
      </p:sp>
      <p:pic>
        <p:nvPicPr>
          <p:cNvPr id="14" name="Image 1" descr="preencoded.png">    </p:cNvPr>
          <p:cNvPicPr>
            <a:picLocks noChangeAspect="1"/>
          </p:cNvPicPr>
          <p:nvPr/>
        </p:nvPicPr>
        <p:blipFill>
          <a:blip r:embed="rId2"/>
          <a:stretch>
            <a:fillRect/>
          </a:stretch>
        </p:blipFill>
        <p:spPr>
          <a:xfrm>
            <a:off x="5943600" y="2898648"/>
            <a:ext cx="274320" cy="274320"/>
          </a:xfrm>
          <a:prstGeom prst="rect">
            <a:avLst/>
          </a:prstGeom>
        </p:spPr>
      </p:pic>
      <p:sp>
        <p:nvSpPr>
          <p:cNvPr id="15" name="Text 11"/>
          <p:cNvSpPr txBox="1"/>
          <p:nvPr/>
        </p:nvSpPr>
        <p:spPr>
          <a:xfrm>
            <a:off x="6492240" y="2779776"/>
            <a:ext cx="2103120" cy="274320"/>
          </a:xfrm>
          <a:prstGeom prst="rect">
            <a:avLst/>
          </a:prstGeom>
          <a:noFill/>
          <a:ln/>
        </p:spPr>
        <p:txBody>
          <a:bodyPr wrap="square" lIns="0" tIns="0" rIns="0" bIns="0" rtlCol="0" anchor="t"/>
          <a:lstStyle/>
          <a:p>
            <a:pPr indent="0" marL="0">
              <a:buNone/>
            </a:pPr>
            <a:r>
              <a:rPr lang="en-US" sz="1400" b="1" dirty="0">
                <a:solidFill>
                  <a:schemeClr val="bg1"/>
                </a:solidFill>
              </a:rPr>
              <a:t>No attachment</a:t>
            </a:r>
            <a:endParaRPr lang="en-US" sz="1400" dirty="0"/>
          </a:p>
        </p:txBody>
      </p:sp>
      <p:sp>
        <p:nvSpPr>
          <p:cNvPr id="16" name="Text 12"/>
          <p:cNvSpPr txBox="1"/>
          <p:nvPr/>
        </p:nvSpPr>
        <p:spPr>
          <a:xfrm>
            <a:off x="6492240" y="3054096"/>
            <a:ext cx="2103120" cy="274320"/>
          </a:xfrm>
          <a:prstGeom prst="rect">
            <a:avLst/>
          </a:prstGeom>
          <a:noFill/>
          <a:ln/>
        </p:spPr>
        <p:txBody>
          <a:bodyPr wrap="square" lIns="0" tIns="0" rIns="0" bIns="0" rtlCol="0" anchor="t"/>
          <a:lstStyle/>
          <a:p>
            <a:pPr indent="0" marL="0">
              <a:buNone/>
            </a:pPr>
            <a:r>
              <a:rPr lang="en-US" sz="1100" dirty="0">
                <a:solidFill>
                  <a:schemeClr val="accent6"/>
                </a:solidFill>
              </a:rPr>
              <a:t>nothing to open and inspect</a:t>
            </a:r>
            <a:endParaRPr lang="en-US" sz="1100" dirty="0"/>
          </a:p>
        </p:txBody>
      </p:sp>
      <p:sp>
        <p:nvSpPr>
          <p:cNvPr id="17" name="Shape 13"/>
          <p:cNvSpPr/>
          <p:nvPr/>
        </p:nvSpPr>
        <p:spPr>
          <a:xfrm>
            <a:off x="5806440" y="3694176"/>
            <a:ext cx="548640" cy="548640"/>
          </a:xfrm>
          <a:prstGeom prst="ellipse">
            <a:avLst/>
          </a:prstGeom>
          <a:solidFill>
            <a:schemeClr val="accent1"/>
          </a:solidFill>
          <a:ln w="6350">
            <a:solidFill>
              <a:schemeClr val="accent1"/>
            </a:solidFill>
            <a:prstDash val="solid"/>
          </a:ln>
        </p:spPr>
      </p:sp>
      <p:pic>
        <p:nvPicPr>
          <p:cNvPr id="18" name="Image 2" descr="preencoded.png">    </p:cNvPr>
          <p:cNvPicPr>
            <a:picLocks noChangeAspect="1"/>
          </p:cNvPicPr>
          <p:nvPr/>
        </p:nvPicPr>
        <p:blipFill>
          <a:blip r:embed="rId3"/>
          <a:stretch>
            <a:fillRect/>
          </a:stretch>
        </p:blipFill>
        <p:spPr>
          <a:xfrm>
            <a:off x="5943600" y="3831336"/>
            <a:ext cx="274320" cy="274320"/>
          </a:xfrm>
          <a:prstGeom prst="rect">
            <a:avLst/>
          </a:prstGeom>
        </p:spPr>
      </p:pic>
      <p:sp>
        <p:nvSpPr>
          <p:cNvPr id="19" name="Text 14"/>
          <p:cNvSpPr txBox="1"/>
          <p:nvPr/>
        </p:nvSpPr>
        <p:spPr>
          <a:xfrm>
            <a:off x="6492240" y="3712464"/>
            <a:ext cx="2103120" cy="274320"/>
          </a:xfrm>
          <a:prstGeom prst="rect">
            <a:avLst/>
          </a:prstGeom>
          <a:noFill/>
          <a:ln/>
        </p:spPr>
        <p:txBody>
          <a:bodyPr wrap="square" lIns="0" tIns="0" rIns="0" bIns="0" rtlCol="0" anchor="t"/>
          <a:lstStyle/>
          <a:p>
            <a:pPr indent="0" marL="0">
              <a:buNone/>
            </a:pPr>
            <a:r>
              <a:rPr lang="en-US" sz="1400" b="1" dirty="0">
                <a:solidFill>
                  <a:schemeClr val="bg1"/>
                </a:solidFill>
              </a:rPr>
              <a:t>Only a story and a request</a:t>
            </a:r>
            <a:endParaRPr lang="en-US" sz="1400" dirty="0"/>
          </a:p>
        </p:txBody>
      </p:sp>
      <p:sp>
        <p:nvSpPr>
          <p:cNvPr id="20" name="Text 15"/>
          <p:cNvSpPr txBox="1"/>
          <p:nvPr/>
        </p:nvSpPr>
        <p:spPr>
          <a:xfrm>
            <a:off x="6492240" y="3986784"/>
            <a:ext cx="2103120" cy="274320"/>
          </a:xfrm>
          <a:prstGeom prst="rect">
            <a:avLst/>
          </a:prstGeom>
          <a:noFill/>
          <a:ln/>
        </p:spPr>
        <p:txBody>
          <a:bodyPr wrap="square" lIns="0" tIns="0" rIns="0" bIns="0" rtlCol="0" anchor="t"/>
          <a:lstStyle/>
          <a:p>
            <a:pPr indent="0" marL="0">
              <a:buNone/>
            </a:pPr>
            <a:r>
              <a:rPr lang="en-US" sz="1100" dirty="0">
                <a:solidFill>
                  <a:schemeClr val="accent6"/>
                </a:solidFill>
              </a:rPr>
              <a:t>the reader is the one who acts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56032"/>
          </a:xfrm>
          <a:prstGeom prst="rect">
            <a:avLst/>
          </a:prstGeom>
          <a:noFill/>
          <a:ln/>
        </p:spPr>
        <p:txBody>
          <a:bodyPr wrap="square" lIns="0" tIns="0" rIns="0" bIns="0" rtlCol="0" anchor="ctr"/>
          <a:lstStyle/>
          <a:p>
            <a:pPr indent="0" marL="0">
              <a:buNone/>
            </a:pPr>
            <a:r>
              <a:rPr lang="en-US" sz="1000" b="1" spc="200" kern="0" dirty="0">
                <a:solidFill>
                  <a:schemeClr val="accent1"/>
                </a:solidFill>
              </a:rPr>
              <a:t>WHY TODAY'S DEFENCES MISS IT</a:t>
            </a:r>
            <a:endParaRPr lang="en-US" sz="1000" dirty="0"/>
          </a:p>
        </p:txBody>
      </p:sp>
      <p:sp>
        <p:nvSpPr>
          <p:cNvPr id="3" name="Text 0"/>
          <p:cNvSpPr/>
          <p:nvPr>
            <p:ph idx="101" type="title" hasCustomPrompt="1"/>
          </p:nvPr>
        </p:nvSpPr>
        <p:spPr>
          <a:xfrm>
            <a:off x="457200" y="548640"/>
            <a:ext cx="8229600" cy="548640"/>
          </a:xfrm>
          <a:prstGeom prst="rect">
            <a:avLst/>
          </a:prstGeom>
          <a:noFill/>
          <a:ln/>
        </p:spPr>
        <p:txBody>
          <a:bodyPr wrap="square" lIns="0" tIns="0" rIns="0" bIns="0" rtlCol="0" anchor="t"/>
          <a:lstStyle/>
          <a:p>
            <a:pPr algn="l" indent="0" marL="0">
              <a:buNone/>
            </a:pPr>
            <a:r>
              <a:rPr lang="en-US" sz="2400" dirty="0">
                <a:solidFill>
                  <a:schemeClr val="tx1"/>
                </a:solidFill>
              </a:rPr>
              <a:t>It looks clean to every check</a:t>
            </a:r>
            <a:endParaRPr lang="en-US" sz="2400" dirty="0"/>
          </a:p>
        </p:txBody>
      </p:sp>
      <p:sp>
        <p:nvSpPr>
          <p:cNvPr id="4" name="Example email"/>
          <p:cNvSpPr/>
          <p:nvPr/>
        </p:nvSpPr>
        <p:spPr>
          <a:xfrm>
            <a:off x="457200" y="1234440"/>
            <a:ext cx="4572000" cy="2697480"/>
          </a:xfrm>
          <a:prstGeom prst="rect">
            <a:avLst/>
          </a:prstGeom>
          <a:solidFill>
            <a:schemeClr val="bg1"/>
          </a:solidFill>
          <a:ln w="9525">
            <a:solidFill>
              <a:schemeClr val="accent6"/>
            </a:solidFill>
            <a:prstDash val="solid"/>
          </a:ln>
        </p:spPr>
      </p:sp>
      <p:sp>
        <p:nvSpPr>
          <p:cNvPr id="5" name="Text 3"/>
          <p:cNvSpPr txBox="1"/>
          <p:nvPr/>
        </p:nvSpPr>
        <p:spPr>
          <a:xfrm>
            <a:off x="640080" y="1371600"/>
            <a:ext cx="4251960" cy="822960"/>
          </a:xfrm>
          <a:prstGeom prst="rect">
            <a:avLst/>
          </a:prstGeom>
          <a:noFill/>
          <a:ln/>
        </p:spPr>
        <p:txBody>
          <a:bodyPr wrap="square" lIns="0" tIns="0" rIns="0" bIns="0" rtlCol="0" anchor="t"/>
          <a:lstStyle/>
          <a:p>
            <a:pPr indent="0" marL="0">
              <a:spcAft>
                <a:spcPts val="300"/>
              </a:spcAft>
              <a:buNone/>
            </a:pPr>
            <a:r>
              <a:rPr lang="en-US" sz="1050" b="1" dirty="0">
                <a:solidFill>
                  <a:schemeClr val="accent2"/>
                </a:solidFill>
              </a:rPr>
              <a:t>From: </a:t>
            </a:r>
            <a:pPr indent="0" marL="0">
              <a:spcAft>
                <a:spcPts val="300"/>
              </a:spcAft>
              <a:buNone/>
            </a:pPr>
            <a:r>
              <a:rPr lang="en-US" sz="1050" dirty="0">
                <a:solidFill>
                  <a:schemeClr val="accent2"/>
                </a:solidFill>
              </a:rPr>
              <a:t>"David Chen - Finance Director" &lt;d.chen.finance@gmail.com&gt;</a:t>
            </a:r>
            <a:endParaRPr lang="en-US" sz="1050" dirty="0"/>
          </a:p>
          <a:p>
            <a:pPr indent="0" marL="0">
              <a:spcAft>
                <a:spcPts val="300"/>
              </a:spcAft>
              <a:buNone/>
            </a:pPr>
            <a:r>
              <a:rPr lang="en-US" sz="1050" b="1" dirty="0">
                <a:solidFill>
                  <a:schemeClr val="accent2"/>
                </a:solidFill>
              </a:rPr>
              <a:t>Reply-To: </a:t>
            </a:r>
            <a:pPr indent="0" marL="0">
              <a:spcAft>
                <a:spcPts val="300"/>
              </a:spcAft>
              <a:buNone/>
            </a:pPr>
            <a:r>
              <a:rPr lang="en-US" sz="1050" dirty="0">
                <a:solidFill>
                  <a:schemeClr val="accent2"/>
                </a:solidFill>
              </a:rPr>
              <a:t>finance.dept.acme@protonmail.com</a:t>
            </a:r>
            <a:endParaRPr lang="en-US" sz="1050" dirty="0"/>
          </a:p>
          <a:p>
            <a:pPr indent="0" marL="0">
              <a:spcAft>
                <a:spcPts val="300"/>
              </a:spcAft>
              <a:buNone/>
            </a:pPr>
            <a:r>
              <a:rPr lang="en-US" sz="1050" b="1" dirty="0">
                <a:solidFill>
                  <a:schemeClr val="accent2"/>
                </a:solidFill>
              </a:rPr>
              <a:t>Authentication: </a:t>
            </a:r>
            <a:pPr indent="0" marL="0">
              <a:spcAft>
                <a:spcPts val="300"/>
              </a:spcAft>
              <a:buNone/>
            </a:pPr>
            <a:r>
              <a:rPr lang="en-US" sz="1050" b="1" dirty="0">
                <a:solidFill>
                  <a:schemeClr val="accent5"/>
                </a:solidFill>
              </a:rPr>
              <a:t>spf=pass  dkim=pass  dmarc=pass </a:t>
            </a:r>
            <a:pPr indent="0" marL="0">
              <a:spcAft>
                <a:spcPts val="300"/>
              </a:spcAft>
              <a:buNone/>
            </a:pPr>
            <a:r>
              <a:rPr lang="en-US" sz="1050" dirty="0">
                <a:solidFill>
                  <a:schemeClr val="accent2"/>
                </a:solidFill>
              </a:rPr>
              <a:t>(all for gmail.com)</a:t>
            </a:r>
            <a:endParaRPr lang="en-US" sz="1050" dirty="0"/>
          </a:p>
        </p:txBody>
      </p:sp>
      <p:sp>
        <p:nvSpPr>
          <p:cNvPr id="6" name="Shape 4"/>
          <p:cNvSpPr/>
          <p:nvPr/>
        </p:nvSpPr>
        <p:spPr>
          <a:xfrm>
            <a:off x="640080" y="2286000"/>
            <a:ext cx="4206240" cy="0"/>
          </a:xfrm>
          <a:prstGeom prst="line">
            <a:avLst/>
          </a:prstGeom>
          <a:noFill/>
          <a:ln w="9525">
            <a:solidFill>
              <a:schemeClr val="accent6"/>
            </a:solidFill>
            <a:prstDash val="solid"/>
          </a:ln>
        </p:spPr>
      </p:sp>
      <p:sp>
        <p:nvSpPr>
          <p:cNvPr id="7" name="Text 5"/>
          <p:cNvSpPr txBox="1"/>
          <p:nvPr/>
        </p:nvSpPr>
        <p:spPr>
          <a:xfrm>
            <a:off x="640080" y="2423160"/>
            <a:ext cx="4251960" cy="1417320"/>
          </a:xfrm>
          <a:prstGeom prst="rect">
            <a:avLst/>
          </a:prstGeom>
          <a:noFill/>
          <a:ln/>
        </p:spPr>
        <p:txBody>
          <a:bodyPr wrap="square" lIns="0" tIns="0" rIns="0" bIns="0" rtlCol="0" anchor="t"/>
          <a:lstStyle/>
          <a:p>
            <a:pPr indent="0" marL="0">
              <a:lnSpc>
                <a:spcPct val="110000"/>
              </a:lnSpc>
              <a:buNone/>
            </a:pPr>
            <a:r>
              <a:rPr lang="en-US" sz="1250" dirty="0">
                <a:solidFill>
                  <a:schemeClr val="tx1"/>
                </a:solidFill>
              </a:rPr>
              <a:t>Hi Priya, </a:t>
            </a:r>
            <a:pPr indent="0" marL="0">
              <a:lnSpc>
                <a:spcPct val="110000"/>
              </a:lnSpc>
              <a:buNone/>
            </a:pPr>
            <a:r>
              <a:rPr lang="en-US" sz="1250" b="1" dirty="0">
                <a:solidFill>
                  <a:schemeClr val="accent4"/>
                </a:solidFill>
              </a:rPr>
              <a:t>this is David from Finance</a:t>
            </a:r>
            <a:pPr indent="0" marL="0">
              <a:lnSpc>
                <a:spcPct val="110000"/>
              </a:lnSpc>
              <a:buNone/>
            </a:pPr>
            <a:r>
              <a:rPr lang="en-US" sz="1250" dirty="0">
                <a:solidFill>
                  <a:schemeClr val="tx1"/>
                </a:solidFill>
              </a:rPr>
              <a:t>. I need you to </a:t>
            </a:r>
            <a:pPr indent="0" marL="0">
              <a:lnSpc>
                <a:spcPct val="110000"/>
              </a:lnSpc>
              <a:buNone/>
            </a:pPr>
            <a:r>
              <a:rPr lang="en-US" sz="1250" b="1" dirty="0">
                <a:solidFill>
                  <a:schemeClr val="accent4"/>
                </a:solidFill>
              </a:rPr>
              <a:t>process a wire</a:t>
            </a:r>
            <a:pPr indent="0" marL="0">
              <a:lnSpc>
                <a:spcPct val="110000"/>
              </a:lnSpc>
              <a:buNone/>
            </a:pPr>
            <a:r>
              <a:rPr lang="en-US" sz="1250" dirty="0">
                <a:solidFill>
                  <a:schemeClr val="tx1"/>
                </a:solidFill>
              </a:rPr>
              <a:t> transfer before 3 PM today. I'm in meetings all day and can't take calls. Please don't loop in anyone else, just get it done.</a:t>
            </a:r>
            <a:endParaRPr lang="en-US" sz="1250" dirty="0"/>
          </a:p>
        </p:txBody>
      </p:sp>
      <p:sp>
        <p:nvSpPr>
          <p:cNvPr id="8" name="Text 6"/>
          <p:cNvSpPr txBox="1"/>
          <p:nvPr/>
        </p:nvSpPr>
        <p:spPr>
          <a:xfrm>
            <a:off x="457200" y="3986784"/>
            <a:ext cx="4572000" cy="320040"/>
          </a:xfrm>
          <a:prstGeom prst="rect">
            <a:avLst/>
          </a:prstGeom>
          <a:noFill/>
          <a:ln/>
        </p:spPr>
        <p:txBody>
          <a:bodyPr wrap="square" lIns="0" tIns="0" rIns="0" bIns="0" rtlCol="0" anchor="t"/>
          <a:lstStyle/>
          <a:p>
            <a:pPr indent="0" marL="0">
              <a:buNone/>
            </a:pPr>
            <a:r>
              <a:rPr lang="en-US" sz="950" i="1" dirty="0">
                <a:solidFill>
                  <a:schemeClr val="accent3"/>
                </a:solidFill>
              </a:rPr>
              <a:t>A made-up example used throughout. Priya works at acmecorp.com, where the real David is the finance director.</a:t>
            </a:r>
            <a:endParaRPr lang="en-US" sz="950" dirty="0"/>
          </a:p>
        </p:txBody>
      </p:sp>
      <p:sp>
        <p:nvSpPr>
          <p:cNvPr id="9" name="Shape 7"/>
          <p:cNvSpPr/>
          <p:nvPr/>
        </p:nvSpPr>
        <p:spPr>
          <a:xfrm>
            <a:off x="5303520" y="1252728"/>
            <a:ext cx="365760" cy="365760"/>
          </a:xfrm>
          <a:prstGeom prst="ellipse">
            <a:avLst/>
          </a:prstGeom>
          <a:solidFill>
            <a:schemeClr val="accent1"/>
          </a:solidFill>
          <a:ln w="6350">
            <a:solidFill>
              <a:schemeClr val="accent1"/>
            </a:solidFill>
            <a:prstDash val="solid"/>
          </a:ln>
        </p:spPr>
      </p:sp>
      <p:sp>
        <p:nvSpPr>
          <p:cNvPr id="10" name="Text 8"/>
          <p:cNvSpPr txBox="1"/>
          <p:nvPr/>
        </p:nvSpPr>
        <p:spPr>
          <a:xfrm>
            <a:off x="5303520" y="1252728"/>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11" name="Text 9"/>
          <p:cNvSpPr txBox="1"/>
          <p:nvPr/>
        </p:nvSpPr>
        <p:spPr>
          <a:xfrm>
            <a:off x="5806440" y="1234440"/>
            <a:ext cx="2880360" cy="274320"/>
          </a:xfrm>
          <a:prstGeom prst="rect">
            <a:avLst/>
          </a:prstGeom>
          <a:noFill/>
          <a:ln/>
        </p:spPr>
        <p:txBody>
          <a:bodyPr wrap="square" lIns="0" tIns="0" rIns="0" bIns="0" rtlCol="0" anchor="t"/>
          <a:lstStyle/>
          <a:p>
            <a:pPr indent="0" marL="0">
              <a:buNone/>
            </a:pPr>
            <a:r>
              <a:rPr lang="en-US" sz="1300" b="1" dirty="0">
                <a:solidFill>
                  <a:schemeClr val="tx1"/>
                </a:solidFill>
              </a:rPr>
              <a:t>Scanners look for the payload</a:t>
            </a:r>
            <a:endParaRPr lang="en-US" sz="1300" dirty="0"/>
          </a:p>
        </p:txBody>
      </p:sp>
      <p:sp>
        <p:nvSpPr>
          <p:cNvPr id="12" name="Text 10"/>
          <p:cNvSpPr txBox="1"/>
          <p:nvPr/>
        </p:nvSpPr>
        <p:spPr>
          <a:xfrm>
            <a:off x="5806440" y="1508760"/>
            <a:ext cx="2880360" cy="594360"/>
          </a:xfrm>
          <a:prstGeom prst="rect">
            <a:avLst/>
          </a:prstGeom>
          <a:noFill/>
          <a:ln/>
        </p:spPr>
        <p:txBody>
          <a:bodyPr wrap="square" lIns="0" tIns="0" rIns="0" bIns="0" rtlCol="0" anchor="t"/>
          <a:lstStyle/>
          <a:p>
            <a:pPr indent="0" marL="0">
              <a:buNone/>
            </a:pPr>
            <a:r>
              <a:rPr lang="en-US" sz="1100" dirty="0">
                <a:solidFill>
                  <a:schemeClr val="accent2"/>
                </a:solidFill>
              </a:rPr>
              <a:t>Filters inspect links and attachments. This email has neither.</a:t>
            </a:r>
            <a:endParaRPr lang="en-US" sz="1100" dirty="0"/>
          </a:p>
        </p:txBody>
      </p:sp>
      <p:sp>
        <p:nvSpPr>
          <p:cNvPr id="13" name="Shape 11"/>
          <p:cNvSpPr/>
          <p:nvPr/>
        </p:nvSpPr>
        <p:spPr>
          <a:xfrm>
            <a:off x="5303520" y="2167128"/>
            <a:ext cx="365760" cy="365760"/>
          </a:xfrm>
          <a:prstGeom prst="ellipse">
            <a:avLst/>
          </a:prstGeom>
          <a:solidFill>
            <a:schemeClr val="accent1"/>
          </a:solidFill>
          <a:ln w="6350">
            <a:solidFill>
              <a:schemeClr val="accent1"/>
            </a:solidFill>
            <a:prstDash val="solid"/>
          </a:ln>
        </p:spPr>
      </p:sp>
      <p:sp>
        <p:nvSpPr>
          <p:cNvPr id="14" name="Text 12"/>
          <p:cNvSpPr txBox="1"/>
          <p:nvPr/>
        </p:nvSpPr>
        <p:spPr>
          <a:xfrm>
            <a:off x="5303520" y="2167128"/>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5" name="Text 13"/>
          <p:cNvSpPr txBox="1"/>
          <p:nvPr/>
        </p:nvSpPr>
        <p:spPr>
          <a:xfrm>
            <a:off x="5806440" y="2148840"/>
            <a:ext cx="2880360" cy="274320"/>
          </a:xfrm>
          <a:prstGeom prst="rect">
            <a:avLst/>
          </a:prstGeom>
          <a:noFill/>
          <a:ln/>
        </p:spPr>
        <p:txBody>
          <a:bodyPr wrap="square" lIns="0" tIns="0" rIns="0" bIns="0" rtlCol="0" anchor="t"/>
          <a:lstStyle/>
          <a:p>
            <a:pPr indent="0" marL="0">
              <a:buNone/>
            </a:pPr>
            <a:r>
              <a:rPr lang="en-US" sz="1300" b="1" dirty="0">
                <a:solidFill>
                  <a:schemeClr val="tx1"/>
                </a:solidFill>
              </a:rPr>
              <a:t>Every authentication check passes</a:t>
            </a:r>
            <a:endParaRPr lang="en-US" sz="1300" dirty="0"/>
          </a:p>
        </p:txBody>
      </p:sp>
      <p:sp>
        <p:nvSpPr>
          <p:cNvPr id="16" name="Text 14"/>
          <p:cNvSpPr txBox="1"/>
          <p:nvPr/>
        </p:nvSpPr>
        <p:spPr>
          <a:xfrm>
            <a:off x="5806440" y="2423160"/>
            <a:ext cx="2880360" cy="594360"/>
          </a:xfrm>
          <a:prstGeom prst="rect">
            <a:avLst/>
          </a:prstGeom>
          <a:noFill/>
          <a:ln/>
        </p:spPr>
        <p:txBody>
          <a:bodyPr wrap="square" lIns="0" tIns="0" rIns="0" bIns="0" rtlCol="0" anchor="t"/>
          <a:lstStyle/>
          <a:p>
            <a:pPr indent="0" marL="0">
              <a:buNone/>
            </a:pPr>
            <a:r>
              <a:rPr lang="en-US" sz="1100" dirty="0">
                <a:solidFill>
                  <a:schemeClr val="accent2"/>
                </a:solidFill>
              </a:rPr>
              <a:t>SPF [2], DKIM [3] and DMARC [4] all pass, because the email really was sent from a gmail.com account.</a:t>
            </a:r>
            <a:endParaRPr lang="en-US" sz="1100" dirty="0"/>
          </a:p>
        </p:txBody>
      </p:sp>
      <p:sp>
        <p:nvSpPr>
          <p:cNvPr id="17" name="Shape 15"/>
          <p:cNvSpPr/>
          <p:nvPr/>
        </p:nvSpPr>
        <p:spPr>
          <a:xfrm>
            <a:off x="5303520" y="3081528"/>
            <a:ext cx="365760" cy="365760"/>
          </a:xfrm>
          <a:prstGeom prst="ellipse">
            <a:avLst/>
          </a:prstGeom>
          <a:solidFill>
            <a:schemeClr val="accent1"/>
          </a:solidFill>
          <a:ln w="6350">
            <a:solidFill>
              <a:schemeClr val="accent1"/>
            </a:solidFill>
            <a:prstDash val="solid"/>
          </a:ln>
        </p:spPr>
      </p:sp>
      <p:sp>
        <p:nvSpPr>
          <p:cNvPr id="18" name="Text 16"/>
          <p:cNvSpPr txBox="1"/>
          <p:nvPr/>
        </p:nvSpPr>
        <p:spPr>
          <a:xfrm>
            <a:off x="5303520" y="3081528"/>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9" name="Text 17"/>
          <p:cNvSpPr txBox="1"/>
          <p:nvPr/>
        </p:nvSpPr>
        <p:spPr>
          <a:xfrm>
            <a:off x="5806440" y="3063240"/>
            <a:ext cx="2880360" cy="274320"/>
          </a:xfrm>
          <a:prstGeom prst="rect">
            <a:avLst/>
          </a:prstGeom>
          <a:noFill/>
          <a:ln/>
        </p:spPr>
        <p:txBody>
          <a:bodyPr wrap="square" lIns="0" tIns="0" rIns="0" bIns="0" rtlCol="0" anchor="t"/>
          <a:lstStyle/>
          <a:p>
            <a:pPr indent="0" marL="0">
              <a:buNone/>
            </a:pPr>
            <a:r>
              <a:rPr lang="en-US" sz="1300" b="1" dirty="0">
                <a:solidFill>
                  <a:schemeClr val="tx1"/>
                </a:solidFill>
              </a:rPr>
              <a:t>The checks prove only the domain</a:t>
            </a:r>
            <a:endParaRPr lang="en-US" sz="1300" dirty="0"/>
          </a:p>
        </p:txBody>
      </p:sp>
      <p:sp>
        <p:nvSpPr>
          <p:cNvPr id="20" name="Text 18"/>
          <p:cNvSpPr txBox="1"/>
          <p:nvPr/>
        </p:nvSpPr>
        <p:spPr>
          <a:xfrm>
            <a:off x="5806440" y="3337560"/>
            <a:ext cx="2880360" cy="594360"/>
          </a:xfrm>
          <a:prstGeom prst="rect">
            <a:avLst/>
          </a:prstGeom>
          <a:noFill/>
          <a:ln/>
        </p:spPr>
        <p:txBody>
          <a:bodyPr wrap="square" lIns="0" tIns="0" rIns="0" bIns="0" rtlCol="0" anchor="t"/>
          <a:lstStyle/>
          <a:p>
            <a:pPr indent="0" marL="0">
              <a:buNone/>
            </a:pPr>
            <a:r>
              <a:rPr lang="en-US" sz="1100" dirty="0">
                <a:solidFill>
                  <a:schemeClr val="accent2"/>
                </a:solidFill>
              </a:rPr>
              <a:t>"This came from gmail.com" is true, and says nothing about whether the writer is the finance director.</a:t>
            </a:r>
            <a:endParaRPr lang="en-US" sz="1100" dirty="0"/>
          </a:p>
        </p:txBody>
      </p:sp>
      <p:sp>
        <p:nvSpPr>
          <p:cNvPr id="21" name="Shape 19"/>
          <p:cNvSpPr/>
          <p:nvPr/>
        </p:nvSpPr>
        <p:spPr>
          <a:xfrm>
            <a:off x="457200" y="4389120"/>
            <a:ext cx="8229600" cy="457200"/>
          </a:xfrm>
          <a:prstGeom prst="rect">
            <a:avLst/>
          </a:prstGeom>
          <a:solidFill>
            <a:schemeClr val="tx2"/>
          </a:solidFill>
          <a:ln w="9525">
            <a:solidFill>
              <a:schemeClr val="tx2"/>
            </a:solidFill>
            <a:prstDash val="solid"/>
          </a:ln>
        </p:spPr>
      </p:sp>
      <p:sp>
        <p:nvSpPr>
          <p:cNvPr id="22" name="Text 20"/>
          <p:cNvSpPr txBox="1"/>
          <p:nvPr/>
        </p:nvSpPr>
        <p:spPr>
          <a:xfrm>
            <a:off x="685800" y="4389120"/>
            <a:ext cx="7772400" cy="457200"/>
          </a:xfrm>
          <a:prstGeom prst="rect">
            <a:avLst/>
          </a:prstGeom>
          <a:noFill/>
          <a:ln/>
        </p:spPr>
        <p:txBody>
          <a:bodyPr wrap="square" lIns="0" tIns="0" rIns="0" bIns="0" rtlCol="0" anchor="ctr"/>
          <a:lstStyle/>
          <a:p>
            <a:pPr indent="0" marL="0">
              <a:buNone/>
            </a:pPr>
            <a:r>
              <a:rPr lang="en-US" sz="1300" i="1" dirty="0">
                <a:solidFill>
                  <a:schemeClr val="bg1"/>
                </a:solidFill>
                <a:latin typeface="+mj-lt" pitchFamily="34" charset="0"/>
                <a:ea typeface="+mj-lt" pitchFamily="34" charset="-122"/>
                <a:cs typeface="+mj-lt" pitchFamily="34" charset="-120"/>
              </a:rPr>
              <a:t>The attack shows only as a disagreement between what the email claims and what its headers prove.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56032"/>
          </a:xfrm>
          <a:prstGeom prst="rect">
            <a:avLst/>
          </a:prstGeom>
          <a:noFill/>
          <a:ln/>
        </p:spPr>
        <p:txBody>
          <a:bodyPr wrap="square" lIns="0" tIns="0" rIns="0" bIns="0" rtlCol="0" anchor="ctr"/>
          <a:lstStyle/>
          <a:p>
            <a:pPr indent="0" marL="0">
              <a:buNone/>
            </a:pPr>
            <a:r>
              <a:rPr lang="en-US" sz="1000" b="1" spc="200" kern="0" dirty="0">
                <a:solidFill>
                  <a:schemeClr val="accent1"/>
                </a:solidFill>
              </a:rPr>
              <a:t>WHO WE DEFEND AGAINST</a:t>
            </a:r>
            <a:endParaRPr lang="en-US" sz="1000" dirty="0"/>
          </a:p>
        </p:txBody>
      </p:sp>
      <p:sp>
        <p:nvSpPr>
          <p:cNvPr id="3" name="Text 0"/>
          <p:cNvSpPr/>
          <p:nvPr>
            <p:ph idx="101" type="title" hasCustomPrompt="1"/>
          </p:nvPr>
        </p:nvSpPr>
        <p:spPr>
          <a:xfrm>
            <a:off x="457200" y="548640"/>
            <a:ext cx="8229600" cy="548640"/>
          </a:xfrm>
          <a:prstGeom prst="rect">
            <a:avLst/>
          </a:prstGeom>
          <a:noFill/>
          <a:ln/>
        </p:spPr>
        <p:txBody>
          <a:bodyPr wrap="square" lIns="0" tIns="0" rIns="0" bIns="0" rtlCol="0" anchor="t"/>
          <a:lstStyle/>
          <a:p>
            <a:pPr algn="l" indent="0" marL="0">
              <a:buNone/>
            </a:pPr>
            <a:r>
              <a:rPr lang="en-US" sz="2400" dirty="0">
                <a:solidFill>
                  <a:schemeClr val="tx1"/>
                </a:solidFill>
              </a:rPr>
              <a:t>Two kinds of attacker</a:t>
            </a:r>
            <a:endParaRPr lang="en-US" sz="2400" dirty="0"/>
          </a:p>
        </p:txBody>
      </p:sp>
      <p:sp>
        <p:nvSpPr>
          <p:cNvPr id="4" name="The outside impersonator"/>
          <p:cNvSpPr/>
          <p:nvPr/>
        </p:nvSpPr>
        <p:spPr>
          <a:xfrm>
            <a:off x="457200" y="1234440"/>
            <a:ext cx="4023360" cy="3108960"/>
          </a:xfrm>
          <a:prstGeom prst="rect">
            <a:avLst/>
          </a:prstGeom>
          <a:solidFill>
            <a:schemeClr val="bg1"/>
          </a:solidFill>
          <a:ln w="9525">
            <a:solidFill>
              <a:schemeClr val="accent6"/>
            </a:solidFill>
            <a:prstDash val="solid"/>
          </a:ln>
        </p:spPr>
      </p:sp>
      <p:sp>
        <p:nvSpPr>
          <p:cNvPr id="5" name="Shape 3"/>
          <p:cNvSpPr/>
          <p:nvPr/>
        </p:nvSpPr>
        <p:spPr>
          <a:xfrm>
            <a:off x="685800" y="1417320"/>
            <a:ext cx="548640" cy="548640"/>
          </a:xfrm>
          <a:prstGeom prst="ellipse">
            <a:avLst/>
          </a:prstGeom>
          <a:solidFill>
            <a:schemeClr val="accent1"/>
          </a:solidFill>
          <a:ln w="635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822960" y="1554480"/>
            <a:ext cx="274320" cy="274320"/>
          </a:xfrm>
          <a:prstGeom prst="rect">
            <a:avLst/>
          </a:prstGeom>
        </p:spPr>
      </p:pic>
      <p:sp>
        <p:nvSpPr>
          <p:cNvPr id="7" name="Text 4"/>
          <p:cNvSpPr txBox="1"/>
          <p:nvPr/>
        </p:nvSpPr>
        <p:spPr>
          <a:xfrm>
            <a:off x="1371600" y="1463040"/>
            <a:ext cx="2971800" cy="457200"/>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The outside impersonator</a:t>
            </a:r>
            <a:endParaRPr lang="en-US" sz="1600" dirty="0"/>
          </a:p>
        </p:txBody>
      </p:sp>
      <p:sp>
        <p:nvSpPr>
          <p:cNvPr id="8" name="Text 5"/>
          <p:cNvSpPr txBox="1"/>
          <p:nvPr/>
        </p:nvSpPr>
        <p:spPr>
          <a:xfrm>
            <a:off x="685800" y="2148840"/>
            <a:ext cx="3611880" cy="868680"/>
          </a:xfrm>
          <a:prstGeom prst="rect">
            <a:avLst/>
          </a:prstGeom>
          <a:noFill/>
          <a:ln/>
        </p:spPr>
        <p:txBody>
          <a:bodyPr wrap="square" lIns="0" tIns="0" rIns="0" bIns="0" rtlCol="0" anchor="t"/>
          <a:lstStyle/>
          <a:p>
            <a:pPr indent="0" marL="0">
              <a:buNone/>
            </a:pPr>
            <a:r>
              <a:rPr lang="en-US" sz="1200" dirty="0">
                <a:solidFill>
                  <a:schemeClr val="tx1"/>
                </a:solidFill>
              </a:rPr>
              <a:t>Writes from a free mailbox, a lookalike domain or a forged copy of your own domain, often with a misleading display name and Reply-To.</a:t>
            </a:r>
            <a:endParaRPr lang="en-US" sz="1200" dirty="0"/>
          </a:p>
        </p:txBody>
      </p:sp>
      <p:sp>
        <p:nvSpPr>
          <p:cNvPr id="9" name="Text 6"/>
          <p:cNvSpPr txBox="1"/>
          <p:nvPr/>
        </p:nvSpPr>
        <p:spPr>
          <a:xfrm>
            <a:off x="685800" y="3063240"/>
            <a:ext cx="3566160" cy="201168"/>
          </a:xfrm>
          <a:prstGeom prst="rect">
            <a:avLst/>
          </a:prstGeom>
          <a:noFill/>
          <a:ln/>
        </p:spPr>
        <p:txBody>
          <a:bodyPr wrap="square" lIns="0" tIns="0" rIns="0" bIns="0" rtlCol="0" anchor="ctr"/>
          <a:lstStyle/>
          <a:p>
            <a:pPr indent="0" marL="0">
              <a:buNone/>
            </a:pPr>
            <a:r>
              <a:rPr lang="en-US" sz="900" b="1" spc="150" kern="0" dirty="0">
                <a:solidFill>
                  <a:schemeClr val="accent1"/>
                </a:solidFill>
              </a:rPr>
              <a:t>WHAT GIVES IT AWAY</a:t>
            </a:r>
            <a:endParaRPr lang="en-US" sz="900" dirty="0"/>
          </a:p>
        </p:txBody>
      </p:sp>
      <p:sp>
        <p:nvSpPr>
          <p:cNvPr id="10" name="Text 7"/>
          <p:cNvSpPr txBox="1"/>
          <p:nvPr/>
        </p:nvSpPr>
        <p:spPr>
          <a:xfrm>
            <a:off x="685800" y="3291840"/>
            <a:ext cx="3611880" cy="457200"/>
          </a:xfrm>
          <a:prstGeom prst="rect">
            <a:avLst/>
          </a:prstGeom>
          <a:noFill/>
          <a:ln/>
        </p:spPr>
        <p:txBody>
          <a:bodyPr wrap="square" lIns="0" tIns="0" rIns="0" bIns="0" rtlCol="0" anchor="t"/>
          <a:lstStyle/>
          <a:p>
            <a:pPr indent="0" marL="0">
              <a:buNone/>
            </a:pPr>
            <a:r>
              <a:rPr lang="en-US" sz="1200" b="1" dirty="0">
                <a:solidFill>
                  <a:schemeClr val="tx1"/>
                </a:solidFill>
              </a:rPr>
              <a:t>The headers do not support the identity the email claims.</a:t>
            </a:r>
            <a:endParaRPr lang="en-US" sz="1200" dirty="0"/>
          </a:p>
        </p:txBody>
      </p:sp>
      <p:sp>
        <p:nvSpPr>
          <p:cNvPr id="11" name="Text 8"/>
          <p:cNvSpPr txBox="1"/>
          <p:nvPr/>
        </p:nvSpPr>
        <p:spPr>
          <a:xfrm>
            <a:off x="685800" y="3794760"/>
            <a:ext cx="3566160" cy="201168"/>
          </a:xfrm>
          <a:prstGeom prst="rect">
            <a:avLst/>
          </a:prstGeom>
          <a:noFill/>
          <a:ln/>
        </p:spPr>
        <p:txBody>
          <a:bodyPr wrap="square" lIns="0" tIns="0" rIns="0" bIns="0" rtlCol="0" anchor="ctr"/>
          <a:lstStyle/>
          <a:p>
            <a:pPr indent="0" marL="0">
              <a:buNone/>
            </a:pPr>
            <a:r>
              <a:rPr lang="en-US" sz="900" b="1" spc="150" kern="0" dirty="0">
                <a:solidFill>
                  <a:schemeClr val="accent1"/>
                </a:solidFill>
              </a:rPr>
              <a:t>CHECKED BY</a:t>
            </a:r>
            <a:endParaRPr lang="en-US" sz="900" dirty="0"/>
          </a:p>
        </p:txBody>
      </p:sp>
      <p:sp>
        <p:nvSpPr>
          <p:cNvPr id="12" name="Text 9"/>
          <p:cNvSpPr txBox="1"/>
          <p:nvPr/>
        </p:nvSpPr>
        <p:spPr>
          <a:xfrm>
            <a:off x="685800" y="4023360"/>
            <a:ext cx="3611880" cy="256032"/>
          </a:xfrm>
          <a:prstGeom prst="rect">
            <a:avLst/>
          </a:prstGeom>
          <a:noFill/>
          <a:ln/>
        </p:spPr>
        <p:txBody>
          <a:bodyPr wrap="square" lIns="0" tIns="0" rIns="0" bIns="0" rtlCol="0" anchor="t"/>
          <a:lstStyle/>
          <a:p>
            <a:pPr indent="0" marL="0">
              <a:buNone/>
            </a:pPr>
            <a:r>
              <a:rPr lang="en-US" sz="1200" dirty="0">
                <a:solidFill>
                  <a:schemeClr val="tx1"/>
                </a:solidFill>
              </a:rPr>
              <a:t>The header verifier (N3)</a:t>
            </a:r>
            <a:endParaRPr lang="en-US" sz="1200" dirty="0"/>
          </a:p>
        </p:txBody>
      </p:sp>
      <p:sp>
        <p:nvSpPr>
          <p:cNvPr id="13" name="The attacker inside a real account"/>
          <p:cNvSpPr/>
          <p:nvPr/>
        </p:nvSpPr>
        <p:spPr>
          <a:xfrm>
            <a:off x="4663440" y="1234440"/>
            <a:ext cx="4023360" cy="3108960"/>
          </a:xfrm>
          <a:prstGeom prst="rect">
            <a:avLst/>
          </a:prstGeom>
          <a:solidFill>
            <a:schemeClr val="bg1"/>
          </a:solidFill>
          <a:ln w="9525">
            <a:solidFill>
              <a:schemeClr val="accent6"/>
            </a:solidFill>
            <a:prstDash val="solid"/>
          </a:ln>
        </p:spPr>
      </p:sp>
      <p:sp>
        <p:nvSpPr>
          <p:cNvPr id="14" name="Shape 11"/>
          <p:cNvSpPr/>
          <p:nvPr/>
        </p:nvSpPr>
        <p:spPr>
          <a:xfrm>
            <a:off x="4892040" y="1417320"/>
            <a:ext cx="548640" cy="548640"/>
          </a:xfrm>
          <a:prstGeom prst="ellipse">
            <a:avLst/>
          </a:prstGeom>
          <a:solidFill>
            <a:schemeClr val="accent1"/>
          </a:solidFill>
          <a:ln w="6350">
            <a:solidFill>
              <a:schemeClr val="accent1"/>
            </a:solidFill>
            <a:prstDash val="solid"/>
          </a:ln>
        </p:spPr>
      </p:sp>
      <p:pic>
        <p:nvPicPr>
          <p:cNvPr id="15" name="Image 1" descr="preencoded.png">    </p:cNvPr>
          <p:cNvPicPr>
            <a:picLocks noChangeAspect="1"/>
          </p:cNvPicPr>
          <p:nvPr/>
        </p:nvPicPr>
        <p:blipFill>
          <a:blip r:embed="rId2"/>
          <a:stretch>
            <a:fillRect/>
          </a:stretch>
        </p:blipFill>
        <p:spPr>
          <a:xfrm>
            <a:off x="5029200" y="1554480"/>
            <a:ext cx="274320" cy="274320"/>
          </a:xfrm>
          <a:prstGeom prst="rect">
            <a:avLst/>
          </a:prstGeom>
        </p:spPr>
      </p:pic>
      <p:sp>
        <p:nvSpPr>
          <p:cNvPr id="16" name="Text 12"/>
          <p:cNvSpPr txBox="1"/>
          <p:nvPr/>
        </p:nvSpPr>
        <p:spPr>
          <a:xfrm>
            <a:off x="5577840" y="1463040"/>
            <a:ext cx="2971800" cy="457200"/>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The attacker inside a real account</a:t>
            </a:r>
            <a:endParaRPr lang="en-US" sz="1600" dirty="0"/>
          </a:p>
        </p:txBody>
      </p:sp>
      <p:sp>
        <p:nvSpPr>
          <p:cNvPr id="17" name="Text 13"/>
          <p:cNvSpPr txBox="1"/>
          <p:nvPr/>
        </p:nvSpPr>
        <p:spPr>
          <a:xfrm>
            <a:off x="4892040" y="2148840"/>
            <a:ext cx="3611880" cy="868680"/>
          </a:xfrm>
          <a:prstGeom prst="rect">
            <a:avLst/>
          </a:prstGeom>
          <a:noFill/>
          <a:ln/>
        </p:spPr>
        <p:txBody>
          <a:bodyPr wrap="square" lIns="0" tIns="0" rIns="0" bIns="0" rtlCol="0" anchor="t"/>
          <a:lstStyle/>
          <a:p>
            <a:pPr indent="0" marL="0">
              <a:buNone/>
            </a:pPr>
            <a:r>
              <a:rPr lang="en-US" sz="1200" dirty="0">
                <a:solidFill>
                  <a:schemeClr val="tx1"/>
                </a:solidFill>
              </a:rPr>
              <a:t>Has taken over a real mailbox, a supplier's account or an ongoing thread. Mail comes from the real sender's domain, so every header check passes.</a:t>
            </a:r>
            <a:endParaRPr lang="en-US" sz="1200" dirty="0"/>
          </a:p>
        </p:txBody>
      </p:sp>
      <p:sp>
        <p:nvSpPr>
          <p:cNvPr id="18" name="Text 14"/>
          <p:cNvSpPr txBox="1"/>
          <p:nvPr/>
        </p:nvSpPr>
        <p:spPr>
          <a:xfrm>
            <a:off x="4892040" y="3063240"/>
            <a:ext cx="3566160" cy="201168"/>
          </a:xfrm>
          <a:prstGeom prst="rect">
            <a:avLst/>
          </a:prstGeom>
          <a:noFill/>
          <a:ln/>
        </p:spPr>
        <p:txBody>
          <a:bodyPr wrap="square" lIns="0" tIns="0" rIns="0" bIns="0" rtlCol="0" anchor="ctr"/>
          <a:lstStyle/>
          <a:p>
            <a:pPr indent="0" marL="0">
              <a:buNone/>
            </a:pPr>
            <a:r>
              <a:rPr lang="en-US" sz="900" b="1" spc="150" kern="0" dirty="0">
                <a:solidFill>
                  <a:schemeClr val="accent1"/>
                </a:solidFill>
              </a:rPr>
              <a:t>WHAT GIVES IT AWAY</a:t>
            </a:r>
            <a:endParaRPr lang="en-US" sz="900" dirty="0"/>
          </a:p>
        </p:txBody>
      </p:sp>
      <p:sp>
        <p:nvSpPr>
          <p:cNvPr id="19" name="Text 15"/>
          <p:cNvSpPr txBox="1"/>
          <p:nvPr/>
        </p:nvSpPr>
        <p:spPr>
          <a:xfrm>
            <a:off x="4892040" y="3291840"/>
            <a:ext cx="3611880" cy="457200"/>
          </a:xfrm>
          <a:prstGeom prst="rect">
            <a:avLst/>
          </a:prstGeom>
          <a:noFill/>
          <a:ln/>
        </p:spPr>
        <p:txBody>
          <a:bodyPr wrap="square" lIns="0" tIns="0" rIns="0" bIns="0" rtlCol="0" anchor="t"/>
          <a:lstStyle/>
          <a:p>
            <a:pPr indent="0" marL="0">
              <a:buNone/>
            </a:pPr>
            <a:r>
              <a:rPr lang="en-US" sz="1200" b="1" dirty="0">
                <a:solidFill>
                  <a:schemeClr val="tx1"/>
                </a:solidFill>
              </a:rPr>
              <a:t>The conversation changes: new urgency, new bank details, a new way of sending.</a:t>
            </a:r>
            <a:endParaRPr lang="en-US" sz="1200" dirty="0"/>
          </a:p>
        </p:txBody>
      </p:sp>
      <p:sp>
        <p:nvSpPr>
          <p:cNvPr id="20" name="Text 16"/>
          <p:cNvSpPr txBox="1"/>
          <p:nvPr/>
        </p:nvSpPr>
        <p:spPr>
          <a:xfrm>
            <a:off x="4892040" y="3794760"/>
            <a:ext cx="3566160" cy="201168"/>
          </a:xfrm>
          <a:prstGeom prst="rect">
            <a:avLst/>
          </a:prstGeom>
          <a:noFill/>
          <a:ln/>
        </p:spPr>
        <p:txBody>
          <a:bodyPr wrap="square" lIns="0" tIns="0" rIns="0" bIns="0" rtlCol="0" anchor="ctr"/>
          <a:lstStyle/>
          <a:p>
            <a:pPr indent="0" marL="0">
              <a:buNone/>
            </a:pPr>
            <a:r>
              <a:rPr lang="en-US" sz="900" b="1" spc="150" kern="0" dirty="0">
                <a:solidFill>
                  <a:schemeClr val="accent1"/>
                </a:solidFill>
              </a:rPr>
              <a:t>CHECKED BY</a:t>
            </a:r>
            <a:endParaRPr lang="en-US" sz="900" dirty="0"/>
          </a:p>
        </p:txBody>
      </p:sp>
      <p:sp>
        <p:nvSpPr>
          <p:cNvPr id="21" name="Text 17"/>
          <p:cNvSpPr txBox="1"/>
          <p:nvPr/>
        </p:nvSpPr>
        <p:spPr>
          <a:xfrm>
            <a:off x="4892040" y="4023360"/>
            <a:ext cx="3611880" cy="256032"/>
          </a:xfrm>
          <a:prstGeom prst="rect">
            <a:avLst/>
          </a:prstGeom>
          <a:noFill/>
          <a:ln/>
        </p:spPr>
        <p:txBody>
          <a:bodyPr wrap="square" lIns="0" tIns="0" rIns="0" bIns="0" rtlCol="0" anchor="t"/>
          <a:lstStyle/>
          <a:p>
            <a:pPr indent="0" marL="0">
              <a:buNone/>
            </a:pPr>
            <a:r>
              <a:rPr lang="en-US" sz="1200" dirty="0">
                <a:solidFill>
                  <a:schemeClr val="tx1"/>
                </a:solidFill>
              </a:rPr>
              <a:t>The thread verifier (N2)</a:t>
            </a:r>
            <a:endParaRPr lang="en-US" sz="1200" dirty="0"/>
          </a:p>
        </p:txBody>
      </p:sp>
      <p:sp>
        <p:nvSpPr>
          <p:cNvPr id="22" name="Text 18"/>
          <p:cNvSpPr txBox="1"/>
          <p:nvPr/>
        </p:nvSpPr>
        <p:spPr>
          <a:xfrm>
            <a:off x="457200" y="4480560"/>
            <a:ext cx="8229600" cy="411480"/>
          </a:xfrm>
          <a:prstGeom prst="rect">
            <a:avLst/>
          </a:prstGeom>
          <a:noFill/>
          <a:ln/>
        </p:spPr>
        <p:txBody>
          <a:bodyPr wrap="square" lIns="0" tIns="0" rIns="0" bIns="0" rtlCol="0" anchor="t"/>
          <a:lstStyle/>
          <a:p>
            <a:pPr indent="0" marL="0">
              <a:buNone/>
            </a:pPr>
            <a:r>
              <a:rPr lang="en-US" sz="1050" i="1" dirty="0">
                <a:solidFill>
                  <a:schemeClr val="accent2"/>
                </a:solidFill>
              </a:rPr>
              <a:t>Out of scope: an attacker who has read the mailbox and copies the real sender's reply identifiers, sending details and calm tone. No rule here can catch that message.</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56032"/>
          </a:xfrm>
          <a:prstGeom prst="rect">
            <a:avLst/>
          </a:prstGeom>
          <a:noFill/>
          <a:ln/>
        </p:spPr>
        <p:txBody>
          <a:bodyPr wrap="square" lIns="0" tIns="0" rIns="0" bIns="0" rtlCol="0" anchor="ctr"/>
          <a:lstStyle/>
          <a:p>
            <a:pPr indent="0" marL="0">
              <a:buNone/>
            </a:pPr>
            <a:r>
              <a:rPr lang="en-US" sz="1000" b="1" spc="200" kern="0" dirty="0">
                <a:solidFill>
                  <a:schemeClr val="accent1"/>
                </a:solidFill>
              </a:rPr>
              <a:t>EXISTING WORK</a:t>
            </a:r>
            <a:endParaRPr lang="en-US" sz="1000" dirty="0"/>
          </a:p>
        </p:txBody>
      </p:sp>
      <p:sp>
        <p:nvSpPr>
          <p:cNvPr id="3" name="Text 0"/>
          <p:cNvSpPr/>
          <p:nvPr>
            <p:ph idx="101" type="title" hasCustomPrompt="1"/>
          </p:nvPr>
        </p:nvSpPr>
        <p:spPr>
          <a:xfrm>
            <a:off x="457200" y="548640"/>
            <a:ext cx="8229600" cy="548640"/>
          </a:xfrm>
          <a:prstGeom prst="rect">
            <a:avLst/>
          </a:prstGeom>
          <a:noFill/>
          <a:ln/>
        </p:spPr>
        <p:txBody>
          <a:bodyPr wrap="square" lIns="0" tIns="0" rIns="0" bIns="0" rtlCol="0" anchor="t"/>
          <a:lstStyle/>
          <a:p>
            <a:pPr algn="l" indent="0" marL="0">
              <a:buNone/>
            </a:pPr>
            <a:r>
              <a:rPr lang="en-US" sz="2400" dirty="0">
                <a:solidFill>
                  <a:schemeClr val="tx1"/>
                </a:solidFill>
              </a:rPr>
              <a:t>What earlier detectors leave open</a:t>
            </a:r>
            <a:endParaRPr lang="en-US" sz="2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2011680"/>
                <a:gridCol w="3017520"/>
                <a:gridCol w="3200400"/>
              </a:tblGrid>
              <a:tr h="292608">
                <a:tc>
                  <a:txBody>
                    <a:bodyPr/>
                    <a:lstStyle/>
                    <a:p>
                      <a:pPr indent="0" marL="0">
                        <a:buNone/>
                      </a:pPr>
                      <a:r>
                        <a:rPr lang="en-US" sz="1050" b="1" dirty="0">
                          <a:solidFill>
                            <a:schemeClr val="bg1"/>
                          </a:solidFill>
                        </a:rPr>
                        <a:t>Work</a:t>
                      </a:r>
                      <a:endParaRPr lang="en-US" sz="1050" dirty="0"/>
                    </a:p>
                  </a:txBody>
                  <a:tcPr marL="76200" marR="76200" marT="50800" marB="5080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chemeClr val="tx2"/>
                    </a:solidFill>
                  </a:tcPr>
                </a:tc>
                <a:tc>
                  <a:txBody>
                    <a:bodyPr/>
                    <a:lstStyle/>
                    <a:p>
                      <a:pPr indent="0" marL="0">
                        <a:buNone/>
                      </a:pPr>
                      <a:r>
                        <a:rPr lang="en-US" sz="1050" b="1" dirty="0">
                          <a:solidFill>
                            <a:schemeClr val="bg1"/>
                          </a:solidFill>
                        </a:rPr>
                        <a:t>What it does</a:t>
                      </a:r>
                      <a:endParaRPr lang="en-US" sz="1050" dirty="0"/>
                    </a:p>
                  </a:txBody>
                  <a:tcPr marL="76200" marR="76200" marT="50800" marB="5080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chemeClr val="tx2"/>
                    </a:solidFill>
                  </a:tcPr>
                </a:tc>
                <a:tc>
                  <a:txBody>
                    <a:bodyPr/>
                    <a:lstStyle/>
                    <a:p>
                      <a:pPr indent="0" marL="0">
                        <a:buNone/>
                      </a:pPr>
                      <a:r>
                        <a:rPr lang="en-US" sz="1050" b="1" dirty="0">
                          <a:solidFill>
                            <a:schemeClr val="bg1"/>
                          </a:solidFill>
                        </a:rPr>
                        <a:t>What it leaves open</a:t>
                      </a:r>
                      <a:endParaRPr lang="en-US" sz="1050" dirty="0"/>
                    </a:p>
                  </a:txBody>
                  <a:tcPr marL="76200" marR="76200" marT="50800" marB="5080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chemeClr val="tx2"/>
                    </a:solidFill>
                  </a:tcPr>
                </a:tc>
              </a:tr>
              <a:tr h="502920">
                <a:tc>
                  <a:txBody>
                    <a:bodyPr/>
                    <a:lstStyle/>
                    <a:p>
                      <a:pPr indent="0" marL="0">
                        <a:buNone/>
                      </a:pPr>
                      <a:r>
                        <a:rPr lang="en-US" sz="1050" b="1" dirty="0">
                          <a:solidFill>
                            <a:schemeClr val="tx1"/>
                          </a:solidFill>
                        </a:rPr>
                        <a:t>Ho et al. [5]</a:t>
                      </a:r>
                      <a:endParaRPr lang="en-US" sz="1050" dirty="0"/>
                    </a:p>
                  </a:txBody>
                  <a:tcPr marL="76200" marR="76200" marT="50800" marB="5080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Detects phishing sent from hijacked accounts inside an organisation</a:t>
                      </a:r>
                      <a:endParaRPr lang="en-US" sz="1050" dirty="0"/>
                    </a:p>
                  </a:txBody>
                  <a:tcPr marL="76200" marR="76200" marT="50800" marB="5080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Focuses on emails with a malicious link; the authors note that attacks without one are likely underestimated</a:t>
                      </a:r>
                      <a:endParaRPr lang="en-US" sz="1050" dirty="0"/>
                    </a:p>
                  </a:txBody>
                  <a:tcPr marL="76200" marR="76200" marT="50800" marB="5080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chemeClr val="bg1"/>
                    </a:solidFill>
                  </a:tcPr>
                </a:tc>
              </a:tr>
              <a:tr h="502920">
                <a:tc>
                  <a:txBody>
                    <a:bodyPr/>
                    <a:lstStyle/>
                    <a:p>
                      <a:pPr indent="0" marL="0">
                        <a:buNone/>
                      </a:pPr>
                      <a:r>
                        <a:rPr lang="en-US" sz="1050" b="1" dirty="0">
                          <a:solidFill>
                            <a:schemeClr val="tx1"/>
                          </a:solidFill>
                        </a:rPr>
                        <a:t>BEC-Guard, Cidon et al. [6]</a:t>
                      </a:r>
                      <a:endParaRPr lang="en-US" sz="1050" dirty="0"/>
                    </a:p>
                  </a:txBody>
                  <a:tcPr marL="76200" marR="76200" marT="50800" marB="5080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Judges impersonation from the organisation's header history, then reads the body with names and signatures removed</a:t>
                      </a:r>
                      <a:endParaRPr lang="en-US" sz="1050" dirty="0"/>
                    </a:p>
                  </a:txBody>
                  <a:tcPr marL="76200" marR="76200" marT="50800" marB="5080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The statements that say who is writing are never compared with the headers</a:t>
                      </a:r>
                      <a:endParaRPr lang="en-US" sz="1050" dirty="0"/>
                    </a:p>
                  </a:txBody>
                  <a:tcPr marL="76200" marR="76200" marT="50800" marB="5080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chemeClr val="bg1"/>
                    </a:solidFill>
                  </a:tcPr>
                </a:tc>
              </a:tr>
              <a:tr h="411480">
                <a:tc>
                  <a:txBody>
                    <a:bodyPr/>
                    <a:lstStyle/>
                    <a:p>
                      <a:pPr indent="0" marL="0">
                        <a:buNone/>
                      </a:pPr>
                      <a:r>
                        <a:rPr lang="en-US" sz="1050" b="1" dirty="0">
                          <a:solidFill>
                            <a:schemeClr val="tx1"/>
                          </a:solidFill>
                        </a:rPr>
                        <a:t>ChatSpamDetector, Koide et al. [7]</a:t>
                      </a:r>
                      <a:endParaRPr lang="en-US" sz="1050" dirty="0"/>
                    </a:p>
                  </a:txBody>
                  <a:tcPr marL="76200" marR="76200" marT="50800" marB="5080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Asks GPT-4 to look for impersonation and header spoofing</a:t>
                      </a:r>
                      <a:endParaRPr lang="en-US" sz="1050" dirty="0"/>
                    </a:p>
                  </a:txBody>
                  <a:tcPr marL="76200" marR="76200" marT="50800" marB="5080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Its data exclude emails without a link, and each email costs one model call</a:t>
                      </a:r>
                      <a:endParaRPr lang="en-US" sz="1050" dirty="0"/>
                    </a:p>
                  </a:txBody>
                  <a:tcPr marL="76200" marR="76200" marT="50800" marB="5080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chemeClr val="bg1"/>
                    </a:solidFill>
                  </a:tcPr>
                </a:tc>
              </a:tr>
              <a:tr h="411480">
                <a:tc>
                  <a:txBody>
                    <a:bodyPr/>
                    <a:lstStyle/>
                    <a:p>
                      <a:pPr indent="0" marL="0">
                        <a:buNone/>
                      </a:pPr>
                      <a:r>
                        <a:rPr lang="en-US" sz="1050" b="1" dirty="0">
                          <a:solidFill>
                            <a:schemeClr val="tx1"/>
                          </a:solidFill>
                        </a:rPr>
                        <a:t>Paul et al. [8]</a:t>
                      </a:r>
                      <a:endParaRPr lang="en-US" sz="1050" dirty="0"/>
                    </a:p>
                  </a:txBody>
                  <a:tcPr marL="76200" marR="76200" marT="50800" marB="5080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Label warning signs such as the organisation a sender claims</a:t>
                      </a:r>
                      <a:endParaRPr lang="en-US" sz="1050" dirty="0"/>
                    </a:p>
                  </a:txBody>
                  <a:tcPr marL="76200" marR="76200" marT="50800" marB="5080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Leave the comparison of the claim with the metadata to a later verification step</a:t>
                      </a:r>
                      <a:endParaRPr lang="en-US" sz="1050" dirty="0"/>
                    </a:p>
                  </a:txBody>
                  <a:tcPr marL="76200" marR="76200" marT="50800" marB="5080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chemeClr val="bg1"/>
                    </a:solidFill>
                  </a:tcPr>
                </a:tc>
              </a:tr>
              <a:tr h="365760">
                <a:tc>
                  <a:txBody>
                    <a:bodyPr/>
                    <a:lstStyle/>
                    <a:p>
                      <a:pPr indent="0" marL="0">
                        <a:buNone/>
                      </a:pPr>
                      <a:r>
                        <a:rPr lang="en-US" sz="1050" b="1" dirty="0">
                          <a:solidFill>
                            <a:schemeClr val="tx1"/>
                          </a:solidFill>
                        </a:rPr>
                        <a:t>Karki et al. [9]; Tooher and Lallie [10]</a:t>
                      </a:r>
                      <a:endParaRPr lang="en-US" sz="1050" dirty="0"/>
                    </a:p>
                  </a:txBody>
                  <a:tcPr marL="76200" marR="76200" marT="50800" marB="5080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Find persuasion principles in the email text</a:t>
                      </a:r>
                      <a:endParaRPr lang="en-US" sz="1050" dirty="0"/>
                    </a:p>
                  </a:txBody>
                  <a:tcPr marL="76200" marR="76200" marT="50800" marB="5080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Read the body only</a:t>
                      </a:r>
                      <a:endParaRPr lang="en-US" sz="1050" dirty="0"/>
                    </a:p>
                  </a:txBody>
                  <a:tcPr marL="76200" marR="76200" marT="50800" marB="5080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chemeClr val="bg1"/>
                    </a:solidFill>
                  </a:tcPr>
                </a:tc>
              </a:tr>
            </a:tbl>
          </a:graphicData>
        </a:graphic>
      </p:graphicFrame>
      <p:sp>
        <p:nvSpPr>
          <p:cNvPr id="5" name="Shape 2"/>
          <p:cNvSpPr/>
          <p:nvPr/>
        </p:nvSpPr>
        <p:spPr>
          <a:xfrm>
            <a:off x="457200" y="4343400"/>
            <a:ext cx="8229600" cy="502920"/>
          </a:xfrm>
          <a:prstGeom prst="rect">
            <a:avLst/>
          </a:prstGeom>
          <a:solidFill>
            <a:schemeClr val="tx2"/>
          </a:solidFill>
          <a:ln w="9525">
            <a:solidFill>
              <a:schemeClr val="tx2"/>
            </a:solidFill>
            <a:prstDash val="solid"/>
          </a:ln>
        </p:spPr>
      </p:sp>
      <p:sp>
        <p:nvSpPr>
          <p:cNvPr id="6" name="Text 3"/>
          <p:cNvSpPr txBox="1"/>
          <p:nvPr/>
        </p:nvSpPr>
        <p:spPr>
          <a:xfrm>
            <a:off x="685800" y="4343400"/>
            <a:ext cx="7772400" cy="502920"/>
          </a:xfrm>
          <a:prstGeom prst="rect">
            <a:avLst/>
          </a:prstGeom>
          <a:noFill/>
          <a:ln/>
        </p:spPr>
        <p:txBody>
          <a:bodyPr wrap="square" lIns="0" tIns="0" rIns="0" bIns="0" rtlCol="0" anchor="ctr"/>
          <a:lstStyle/>
          <a:p>
            <a:pPr indent="0" marL="0">
              <a:buNone/>
            </a:pPr>
            <a:r>
              <a:rPr lang="en-US" sz="1300" i="1" dirty="0">
                <a:solidFill>
                  <a:schemeClr val="bg1"/>
                </a:solidFill>
                <a:latin typeface="+mj-lt" pitchFamily="34" charset="0"/>
                <a:ea typeface="+mj-lt" pitchFamily="34" charset="-122"/>
                <a:cs typeface="+mj-lt" pitchFamily="34" charset="-120"/>
              </a:rPr>
              <a:t>Our aim: check each claim of a payload-free email against its own headers and its own thread, and give the reason for every alarm.</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56032"/>
          </a:xfrm>
          <a:prstGeom prst="rect">
            <a:avLst/>
          </a:prstGeom>
          <a:noFill/>
          <a:ln/>
        </p:spPr>
        <p:txBody>
          <a:bodyPr wrap="square" lIns="0" tIns="0" rIns="0" bIns="0" rtlCol="0" anchor="ctr"/>
          <a:lstStyle/>
          <a:p>
            <a:pPr indent="0" marL="0">
              <a:buNone/>
            </a:pPr>
            <a:r>
              <a:rPr lang="en-US" sz="1000" b="1" spc="200" kern="0" dirty="0">
                <a:solidFill>
                  <a:schemeClr val="accent1"/>
                </a:solidFill>
              </a:rPr>
              <a:t>PREMISE</a:t>
            </a:r>
            <a:endParaRPr lang="en-US" sz="1000" dirty="0"/>
          </a:p>
        </p:txBody>
      </p:sp>
      <p:sp>
        <p:nvSpPr>
          <p:cNvPr id="3" name="Text 0"/>
          <p:cNvSpPr/>
          <p:nvPr>
            <p:ph idx="101" type="title" hasCustomPrompt="1"/>
          </p:nvPr>
        </p:nvSpPr>
        <p:spPr>
          <a:xfrm>
            <a:off x="457200" y="548640"/>
            <a:ext cx="8229600" cy="548640"/>
          </a:xfrm>
          <a:prstGeom prst="rect">
            <a:avLst/>
          </a:prstGeom>
          <a:noFill/>
          <a:ln/>
        </p:spPr>
        <p:txBody>
          <a:bodyPr wrap="square" lIns="0" tIns="0" rIns="0" bIns="0" rtlCol="0" anchor="t"/>
          <a:lstStyle/>
          <a:p>
            <a:pPr algn="l" indent="0" marL="0">
              <a:buNone/>
            </a:pPr>
            <a:r>
              <a:rPr lang="en-US" sz="2400" dirty="0">
                <a:solidFill>
                  <a:schemeClr val="tx1"/>
                </a:solidFill>
              </a:rPr>
              <a:t>Check the email the way a fact-checker would</a:t>
            </a:r>
            <a:endParaRPr lang="en-US" sz="2400" dirty="0"/>
          </a:p>
        </p:txBody>
      </p:sp>
      <p:sp>
        <p:nvSpPr>
          <p:cNvPr id="4" name="Text 2"/>
          <p:cNvSpPr txBox="1"/>
          <p:nvPr/>
        </p:nvSpPr>
        <p:spPr>
          <a:xfrm>
            <a:off x="457200" y="1188720"/>
            <a:ext cx="8229600" cy="457200"/>
          </a:xfrm>
          <a:prstGeom prst="rect">
            <a:avLst/>
          </a:prstGeom>
          <a:noFill/>
          <a:ln/>
        </p:spPr>
        <p:txBody>
          <a:bodyPr wrap="square" lIns="0" tIns="0" rIns="0" bIns="0" rtlCol="0" anchor="t"/>
          <a:lstStyle/>
          <a:p>
            <a:pPr indent="0" marL="0">
              <a:buNone/>
            </a:pPr>
            <a:r>
              <a:rPr lang="en-US" sz="1300" dirty="0">
                <a:solidFill>
                  <a:schemeClr val="tx1"/>
                </a:solidFill>
              </a:rPr>
              <a:t>Automated fact-checking splits the work into finding claims, gathering evidence and giving a verdict with its reason [11]. We apply the same steps to an email.</a:t>
            </a:r>
            <a:endParaRPr lang="en-US" sz="1300" dirty="0"/>
          </a:p>
        </p:txBody>
      </p:sp>
      <p:sp>
        <p:nvSpPr>
          <p:cNvPr id="5" name="Step Claim"/>
          <p:cNvSpPr/>
          <p:nvPr/>
        </p:nvSpPr>
        <p:spPr>
          <a:xfrm>
            <a:off x="457200" y="1737360"/>
            <a:ext cx="2523744" cy="1280160"/>
          </a:xfrm>
          <a:prstGeom prst="rect">
            <a:avLst/>
          </a:prstGeom>
          <a:solidFill>
            <a:schemeClr val="bg1"/>
          </a:solidFill>
          <a:ln w="9525">
            <a:solidFill>
              <a:schemeClr val="accent6"/>
            </a:solidFill>
            <a:prstDash val="solid"/>
          </a:ln>
        </p:spPr>
      </p:sp>
      <p:sp>
        <p:nvSpPr>
          <p:cNvPr id="6" name="Text 4"/>
          <p:cNvSpPr txBox="1"/>
          <p:nvPr/>
        </p:nvSpPr>
        <p:spPr>
          <a:xfrm>
            <a:off x="621792" y="1828800"/>
            <a:ext cx="2194560" cy="201168"/>
          </a:xfrm>
          <a:prstGeom prst="rect">
            <a:avLst/>
          </a:prstGeom>
          <a:noFill/>
          <a:ln/>
        </p:spPr>
        <p:txBody>
          <a:bodyPr wrap="square" lIns="0" tIns="0" rIns="0" bIns="0" rtlCol="0" anchor="ctr"/>
          <a:lstStyle/>
          <a:p>
            <a:pPr indent="0" marL="0">
              <a:buNone/>
            </a:pPr>
            <a:r>
              <a:rPr lang="en-US" sz="900" b="1" spc="150" kern="0" dirty="0">
                <a:solidFill>
                  <a:schemeClr val="accent1"/>
                </a:solidFill>
              </a:rPr>
              <a:t>CLAIM</a:t>
            </a:r>
            <a:endParaRPr lang="en-US" sz="900" dirty="0"/>
          </a:p>
        </p:txBody>
      </p:sp>
      <p:sp>
        <p:nvSpPr>
          <p:cNvPr id="7" name="Text 5"/>
          <p:cNvSpPr txBox="1"/>
          <p:nvPr/>
        </p:nvSpPr>
        <p:spPr>
          <a:xfrm>
            <a:off x="621792" y="2057400"/>
            <a:ext cx="2240280" cy="411480"/>
          </a:xfrm>
          <a:prstGeom prst="rect">
            <a:avLst/>
          </a:prstGeom>
          <a:noFill/>
          <a:ln/>
        </p:spPr>
        <p:txBody>
          <a:bodyPr wrap="square" lIns="0" tIns="0" rIns="0" bIns="0" rtlCol="0" anchor="t"/>
          <a:lstStyle/>
          <a:p>
            <a:pPr indent="0" marL="0">
              <a:buNone/>
            </a:pPr>
            <a:r>
              <a:rPr lang="en-US" sz="1300" b="1" dirty="0">
                <a:solidFill>
                  <a:schemeClr val="tx1"/>
                </a:solidFill>
              </a:rPr>
              <a:t>What the email says about itself</a:t>
            </a:r>
            <a:endParaRPr lang="en-US" sz="1300" dirty="0"/>
          </a:p>
        </p:txBody>
      </p:sp>
      <p:sp>
        <p:nvSpPr>
          <p:cNvPr id="8" name="Text 6"/>
          <p:cNvSpPr txBox="1"/>
          <p:nvPr/>
        </p:nvSpPr>
        <p:spPr>
          <a:xfrm>
            <a:off x="621792" y="2523744"/>
            <a:ext cx="2240280" cy="457200"/>
          </a:xfrm>
          <a:prstGeom prst="rect">
            <a:avLst/>
          </a:prstGeom>
          <a:noFill/>
          <a:ln/>
        </p:spPr>
        <p:txBody>
          <a:bodyPr wrap="square" lIns="0" tIns="0" rIns="0" bIns="0" rtlCol="0" anchor="t"/>
          <a:lstStyle/>
          <a:p>
            <a:pPr indent="0" marL="0">
              <a:buNone/>
            </a:pPr>
            <a:r>
              <a:rPr lang="en-US" sz="1050" i="1" dirty="0">
                <a:solidFill>
                  <a:schemeClr val="accent2"/>
                </a:solidFill>
              </a:rPr>
              <a:t>"this is David from Finance", "process a wire"</a:t>
            </a:r>
            <a:endParaRPr lang="en-US" sz="1050" dirty="0"/>
          </a:p>
        </p:txBody>
      </p:sp>
      <p:sp>
        <p:nvSpPr>
          <p:cNvPr id="9" name="Shape 7"/>
          <p:cNvSpPr/>
          <p:nvPr/>
        </p:nvSpPr>
        <p:spPr>
          <a:xfrm>
            <a:off x="3035808" y="2240280"/>
            <a:ext cx="237744" cy="274320"/>
          </a:xfrm>
          <a:prstGeom prst="rightArrow">
            <a:avLst/>
          </a:prstGeom>
          <a:solidFill>
            <a:schemeClr val="accent1"/>
          </a:solidFill>
          <a:ln w="6350">
            <a:solidFill>
              <a:schemeClr val="accent1"/>
            </a:solidFill>
            <a:prstDash val="solid"/>
          </a:ln>
        </p:spPr>
      </p:sp>
      <p:sp>
        <p:nvSpPr>
          <p:cNvPr id="10" name="Step Evidence"/>
          <p:cNvSpPr/>
          <p:nvPr/>
        </p:nvSpPr>
        <p:spPr>
          <a:xfrm>
            <a:off x="3310128" y="1737360"/>
            <a:ext cx="2523744" cy="1280160"/>
          </a:xfrm>
          <a:prstGeom prst="rect">
            <a:avLst/>
          </a:prstGeom>
          <a:solidFill>
            <a:schemeClr val="bg1"/>
          </a:solidFill>
          <a:ln w="9525">
            <a:solidFill>
              <a:schemeClr val="accent6"/>
            </a:solidFill>
            <a:prstDash val="solid"/>
          </a:ln>
        </p:spPr>
      </p:sp>
      <p:sp>
        <p:nvSpPr>
          <p:cNvPr id="11" name="Text 9"/>
          <p:cNvSpPr txBox="1"/>
          <p:nvPr/>
        </p:nvSpPr>
        <p:spPr>
          <a:xfrm>
            <a:off x="3474720" y="1828800"/>
            <a:ext cx="2194560" cy="201168"/>
          </a:xfrm>
          <a:prstGeom prst="rect">
            <a:avLst/>
          </a:prstGeom>
          <a:noFill/>
          <a:ln/>
        </p:spPr>
        <p:txBody>
          <a:bodyPr wrap="square" lIns="0" tIns="0" rIns="0" bIns="0" rtlCol="0" anchor="ctr"/>
          <a:lstStyle/>
          <a:p>
            <a:pPr indent="0" marL="0">
              <a:buNone/>
            </a:pPr>
            <a:r>
              <a:rPr lang="en-US" sz="900" b="1" spc="150" kern="0" dirty="0">
                <a:solidFill>
                  <a:schemeClr val="accent1"/>
                </a:solidFill>
              </a:rPr>
              <a:t>EVIDENCE</a:t>
            </a:r>
            <a:endParaRPr lang="en-US" sz="900" dirty="0"/>
          </a:p>
        </p:txBody>
      </p:sp>
      <p:sp>
        <p:nvSpPr>
          <p:cNvPr id="12" name="Text 10"/>
          <p:cNvSpPr txBox="1"/>
          <p:nvPr/>
        </p:nvSpPr>
        <p:spPr>
          <a:xfrm>
            <a:off x="3474720" y="2057400"/>
            <a:ext cx="2240280" cy="411480"/>
          </a:xfrm>
          <a:prstGeom prst="rect">
            <a:avLst/>
          </a:prstGeom>
          <a:noFill/>
          <a:ln/>
        </p:spPr>
        <p:txBody>
          <a:bodyPr wrap="square" lIns="0" tIns="0" rIns="0" bIns="0" rtlCol="0" anchor="t"/>
          <a:lstStyle/>
          <a:p>
            <a:pPr indent="0" marL="0">
              <a:buNone/>
            </a:pPr>
            <a:r>
              <a:rPr lang="en-US" sz="1300" b="1" dirty="0">
                <a:solidFill>
                  <a:schemeClr val="tx1"/>
                </a:solidFill>
              </a:rPr>
              <a:t>What can confirm or contradict it</a:t>
            </a:r>
            <a:endParaRPr lang="en-US" sz="1300" dirty="0"/>
          </a:p>
        </p:txBody>
      </p:sp>
      <p:sp>
        <p:nvSpPr>
          <p:cNvPr id="13" name="Text 11"/>
          <p:cNvSpPr txBox="1"/>
          <p:nvPr/>
        </p:nvSpPr>
        <p:spPr>
          <a:xfrm>
            <a:off x="3474720" y="2523744"/>
            <a:ext cx="2240280" cy="457200"/>
          </a:xfrm>
          <a:prstGeom prst="rect">
            <a:avLst/>
          </a:prstGeom>
          <a:noFill/>
          <a:ln/>
        </p:spPr>
        <p:txBody>
          <a:bodyPr wrap="square" lIns="0" tIns="0" rIns="0" bIns="0" rtlCol="0" anchor="t"/>
          <a:lstStyle/>
          <a:p>
            <a:pPr indent="0" marL="0">
              <a:buNone/>
            </a:pPr>
            <a:r>
              <a:rPr lang="en-US" sz="1050" i="1" dirty="0">
                <a:solidFill>
                  <a:schemeClr val="accent2"/>
                </a:solidFill>
              </a:rPr>
              <a:t>its own headers and, for a reply, the earlier messages of its thread</a:t>
            </a:r>
            <a:endParaRPr lang="en-US" sz="1050" dirty="0"/>
          </a:p>
        </p:txBody>
      </p:sp>
      <p:sp>
        <p:nvSpPr>
          <p:cNvPr id="14" name="Shape 12"/>
          <p:cNvSpPr/>
          <p:nvPr/>
        </p:nvSpPr>
        <p:spPr>
          <a:xfrm>
            <a:off x="5888736" y="2240280"/>
            <a:ext cx="237744" cy="274320"/>
          </a:xfrm>
          <a:prstGeom prst="rightArrow">
            <a:avLst/>
          </a:prstGeom>
          <a:solidFill>
            <a:schemeClr val="accent1"/>
          </a:solidFill>
          <a:ln w="6350">
            <a:solidFill>
              <a:schemeClr val="accent1"/>
            </a:solidFill>
            <a:prstDash val="solid"/>
          </a:ln>
        </p:spPr>
      </p:sp>
      <p:sp>
        <p:nvSpPr>
          <p:cNvPr id="15" name="Step Verdict"/>
          <p:cNvSpPr/>
          <p:nvPr/>
        </p:nvSpPr>
        <p:spPr>
          <a:xfrm>
            <a:off x="6163056" y="1737360"/>
            <a:ext cx="2523744" cy="1280160"/>
          </a:xfrm>
          <a:prstGeom prst="rect">
            <a:avLst/>
          </a:prstGeom>
          <a:solidFill>
            <a:schemeClr val="bg1"/>
          </a:solidFill>
          <a:ln w="9525">
            <a:solidFill>
              <a:schemeClr val="accent6"/>
            </a:solidFill>
            <a:prstDash val="solid"/>
          </a:ln>
        </p:spPr>
      </p:sp>
      <p:sp>
        <p:nvSpPr>
          <p:cNvPr id="16" name="Text 14"/>
          <p:cNvSpPr txBox="1"/>
          <p:nvPr/>
        </p:nvSpPr>
        <p:spPr>
          <a:xfrm>
            <a:off x="6327648" y="1828800"/>
            <a:ext cx="2194560" cy="201168"/>
          </a:xfrm>
          <a:prstGeom prst="rect">
            <a:avLst/>
          </a:prstGeom>
          <a:noFill/>
          <a:ln/>
        </p:spPr>
        <p:txBody>
          <a:bodyPr wrap="square" lIns="0" tIns="0" rIns="0" bIns="0" rtlCol="0" anchor="ctr"/>
          <a:lstStyle/>
          <a:p>
            <a:pPr indent="0" marL="0">
              <a:buNone/>
            </a:pPr>
            <a:r>
              <a:rPr lang="en-US" sz="900" b="1" spc="150" kern="0" dirty="0">
                <a:solidFill>
                  <a:schemeClr val="accent1"/>
                </a:solidFill>
              </a:rPr>
              <a:t>VERDICT</a:t>
            </a:r>
            <a:endParaRPr lang="en-US" sz="900" dirty="0"/>
          </a:p>
        </p:txBody>
      </p:sp>
      <p:sp>
        <p:nvSpPr>
          <p:cNvPr id="17" name="Text 15"/>
          <p:cNvSpPr txBox="1"/>
          <p:nvPr/>
        </p:nvSpPr>
        <p:spPr>
          <a:xfrm>
            <a:off x="6327648" y="2057400"/>
            <a:ext cx="2240280" cy="411480"/>
          </a:xfrm>
          <a:prstGeom prst="rect">
            <a:avLst/>
          </a:prstGeom>
          <a:noFill/>
          <a:ln/>
        </p:spPr>
        <p:txBody>
          <a:bodyPr wrap="square" lIns="0" tIns="0" rIns="0" bIns="0" rtlCol="0" anchor="t"/>
          <a:lstStyle/>
          <a:p>
            <a:pPr indent="0" marL="0">
              <a:buNone/>
            </a:pPr>
            <a:r>
              <a:rPr lang="en-US" sz="1300" b="1" dirty="0">
                <a:solidFill>
                  <a:schemeClr val="tx1"/>
                </a:solidFill>
              </a:rPr>
              <a:t>Contradiction, consistent or not checkable</a:t>
            </a:r>
            <a:endParaRPr lang="en-US" sz="1300" dirty="0"/>
          </a:p>
        </p:txBody>
      </p:sp>
      <p:sp>
        <p:nvSpPr>
          <p:cNvPr id="18" name="Text 16"/>
          <p:cNvSpPr txBox="1"/>
          <p:nvPr/>
        </p:nvSpPr>
        <p:spPr>
          <a:xfrm>
            <a:off x="6327648" y="2523744"/>
            <a:ext cx="2240280" cy="457200"/>
          </a:xfrm>
          <a:prstGeom prst="rect">
            <a:avLst/>
          </a:prstGeom>
          <a:noFill/>
          <a:ln/>
        </p:spPr>
        <p:txBody>
          <a:bodyPr wrap="square" lIns="0" tIns="0" rIns="0" bIns="0" rtlCol="0" anchor="t"/>
          <a:lstStyle/>
          <a:p>
            <a:pPr indent="0" marL="0">
              <a:buNone/>
            </a:pPr>
            <a:r>
              <a:rPr lang="en-US" sz="1050" i="1" dirty="0">
                <a:solidFill>
                  <a:schemeClr val="accent2"/>
                </a:solidFill>
              </a:rPr>
              <a:t>each with the rule and the evidence written out</a:t>
            </a:r>
            <a:endParaRPr lang="en-US" sz="1050" dirty="0"/>
          </a:p>
        </p:txBody>
      </p:sp>
      <p:sp>
        <p:nvSpPr>
          <p:cNvPr id="19" name="Claim conditioning"/>
          <p:cNvSpPr/>
          <p:nvPr/>
        </p:nvSpPr>
        <p:spPr>
          <a:xfrm>
            <a:off x="457200" y="3200400"/>
            <a:ext cx="8229600" cy="1691640"/>
          </a:xfrm>
          <a:prstGeom prst="rect">
            <a:avLst/>
          </a:prstGeom>
          <a:solidFill>
            <a:schemeClr val="tx2"/>
          </a:solidFill>
          <a:ln w="9525">
            <a:solidFill>
              <a:schemeClr val="tx2"/>
            </a:solidFill>
            <a:prstDash val="solid"/>
          </a:ln>
        </p:spPr>
      </p:sp>
      <p:sp>
        <p:nvSpPr>
          <p:cNvPr id="20" name="Text 18"/>
          <p:cNvSpPr txBox="1"/>
          <p:nvPr/>
        </p:nvSpPr>
        <p:spPr>
          <a:xfrm>
            <a:off x="685800" y="3310128"/>
            <a:ext cx="7772400" cy="201168"/>
          </a:xfrm>
          <a:prstGeom prst="rect">
            <a:avLst/>
          </a:prstGeom>
          <a:noFill/>
          <a:ln/>
        </p:spPr>
        <p:txBody>
          <a:bodyPr wrap="square" lIns="0" tIns="0" rIns="0" bIns="0" rtlCol="0" anchor="ctr"/>
          <a:lstStyle/>
          <a:p>
            <a:pPr indent="0" marL="0">
              <a:buNone/>
            </a:pPr>
            <a:r>
              <a:rPr lang="en-US" sz="900" b="1" spc="150" kern="0" dirty="0">
                <a:solidFill>
                  <a:schemeClr val="accent1"/>
                </a:solidFill>
              </a:rPr>
              <a:t>CLAIM CONDITIONING: THE SAME HEADER MEANS DIFFERENT THINGS UNDER DIFFERENT CLAIMS</a:t>
            </a:r>
            <a:endParaRPr lang="en-US" sz="900" dirty="0"/>
          </a:p>
        </p:txBody>
      </p:sp>
      <p:sp>
        <p:nvSpPr>
          <p:cNvPr id="21" name="Text 19"/>
          <p:cNvSpPr txBox="1"/>
          <p:nvPr/>
        </p:nvSpPr>
        <p:spPr>
          <a:xfrm>
            <a:off x="685800" y="3611880"/>
            <a:ext cx="3749040" cy="274320"/>
          </a:xfrm>
          <a:prstGeom prst="rect">
            <a:avLst/>
          </a:prstGeom>
          <a:noFill/>
          <a:ln/>
        </p:spPr>
        <p:txBody>
          <a:bodyPr wrap="square" lIns="0" tIns="0" rIns="0" bIns="0" rtlCol="0" anchor="t"/>
          <a:lstStyle/>
          <a:p>
            <a:pPr indent="0" marL="0">
              <a:buNone/>
            </a:pPr>
            <a:r>
              <a:rPr lang="en-US" sz="1250" b="1" dirty="0">
                <a:solidFill>
                  <a:schemeClr val="bg1"/>
                </a:solidFill>
              </a:rPr>
              <a:t>A private Gmail user writes to a friend</a:t>
            </a:r>
            <a:endParaRPr lang="en-US" sz="1250" dirty="0"/>
          </a:p>
        </p:txBody>
      </p:sp>
      <p:sp>
        <p:nvSpPr>
          <p:cNvPr id="22" name="Text 20"/>
          <p:cNvSpPr txBox="1"/>
          <p:nvPr/>
        </p:nvSpPr>
        <p:spPr>
          <a:xfrm>
            <a:off x="685800" y="3886200"/>
            <a:ext cx="3749040" cy="228600"/>
          </a:xfrm>
          <a:prstGeom prst="rect">
            <a:avLst/>
          </a:prstGeom>
          <a:noFill/>
          <a:ln/>
        </p:spPr>
        <p:txBody>
          <a:bodyPr wrap="square" lIns="0" tIns="0" rIns="0" bIns="0" rtlCol="0" anchor="t"/>
          <a:lstStyle/>
          <a:p>
            <a:pPr indent="0" marL="0">
              <a:buNone/>
            </a:pPr>
            <a:r>
              <a:rPr lang="en-US" sz="1100" dirty="0">
                <a:solidFill>
                  <a:schemeClr val="accent6"/>
                </a:solidFill>
              </a:rPr>
              <a:t>dmarc=pass for gmail.com</a:t>
            </a:r>
            <a:endParaRPr lang="en-US" sz="1100" dirty="0"/>
          </a:p>
        </p:txBody>
      </p:sp>
      <p:sp>
        <p:nvSpPr>
          <p:cNvPr id="23" name="Shape 21"/>
          <p:cNvSpPr/>
          <p:nvPr/>
        </p:nvSpPr>
        <p:spPr>
          <a:xfrm>
            <a:off x="685800" y="4169664"/>
            <a:ext cx="237744" cy="237744"/>
          </a:xfrm>
          <a:prstGeom prst="ellipse">
            <a:avLst/>
          </a:prstGeom>
          <a:solidFill>
            <a:schemeClr val="accent5"/>
          </a:solidFill>
          <a:ln w="6350">
            <a:solidFill>
              <a:schemeClr val="accent5"/>
            </a:solidFill>
            <a:prstDash val="solid"/>
          </a:ln>
        </p:spPr>
      </p:sp>
      <p:pic>
        <p:nvPicPr>
          <p:cNvPr id="24" name="Image 0" descr="preencoded.png">    </p:cNvPr>
          <p:cNvPicPr>
            <a:picLocks noChangeAspect="1"/>
          </p:cNvPicPr>
          <p:nvPr/>
        </p:nvPicPr>
        <p:blipFill>
          <a:blip r:embed="rId1"/>
          <a:stretch>
            <a:fillRect/>
          </a:stretch>
        </p:blipFill>
        <p:spPr>
          <a:xfrm>
            <a:off x="740664" y="4224528"/>
            <a:ext cx="128016" cy="128016"/>
          </a:xfrm>
          <a:prstGeom prst="rect">
            <a:avLst/>
          </a:prstGeom>
        </p:spPr>
      </p:pic>
      <p:sp>
        <p:nvSpPr>
          <p:cNvPr id="25" name="Text 22"/>
          <p:cNvSpPr txBox="1"/>
          <p:nvPr/>
        </p:nvSpPr>
        <p:spPr>
          <a:xfrm>
            <a:off x="1014984" y="4142232"/>
            <a:ext cx="3429000" cy="411480"/>
          </a:xfrm>
          <a:prstGeom prst="rect">
            <a:avLst/>
          </a:prstGeom>
          <a:noFill/>
          <a:ln/>
        </p:spPr>
        <p:txBody>
          <a:bodyPr wrap="square" lIns="0" tIns="0" rIns="0" bIns="0" rtlCol="0" anchor="t"/>
          <a:lstStyle/>
          <a:p>
            <a:pPr indent="0" marL="0">
              <a:buNone/>
            </a:pPr>
            <a:r>
              <a:rPr lang="en-US" sz="1100" dirty="0">
                <a:solidFill>
                  <a:schemeClr val="bg1"/>
                </a:solidFill>
              </a:rPr>
              <a:t>Nothing is claimed, so this is normal.</a:t>
            </a:r>
            <a:endParaRPr lang="en-US" sz="1100" dirty="0"/>
          </a:p>
        </p:txBody>
      </p:sp>
      <p:sp>
        <p:nvSpPr>
          <p:cNvPr id="26" name="Text 23"/>
          <p:cNvSpPr txBox="1"/>
          <p:nvPr/>
        </p:nvSpPr>
        <p:spPr>
          <a:xfrm>
            <a:off x="4709160" y="3611880"/>
            <a:ext cx="3749040" cy="274320"/>
          </a:xfrm>
          <a:prstGeom prst="rect">
            <a:avLst/>
          </a:prstGeom>
          <a:noFill/>
          <a:ln/>
        </p:spPr>
        <p:txBody>
          <a:bodyPr wrap="square" lIns="0" tIns="0" rIns="0" bIns="0" rtlCol="0" anchor="t"/>
          <a:lstStyle/>
          <a:p>
            <a:pPr indent="0" marL="0">
              <a:buNone/>
            </a:pPr>
            <a:r>
              <a:rPr lang="en-US" sz="1250" b="1" dirty="0">
                <a:solidFill>
                  <a:schemeClr val="bg1"/>
                </a:solidFill>
              </a:rPr>
              <a:t>"This is David from Finance", sent from gmail.com</a:t>
            </a:r>
            <a:endParaRPr lang="en-US" sz="1250" dirty="0"/>
          </a:p>
        </p:txBody>
      </p:sp>
      <p:sp>
        <p:nvSpPr>
          <p:cNvPr id="27" name="Text 24"/>
          <p:cNvSpPr txBox="1"/>
          <p:nvPr/>
        </p:nvSpPr>
        <p:spPr>
          <a:xfrm>
            <a:off x="4709160" y="3886200"/>
            <a:ext cx="3749040" cy="228600"/>
          </a:xfrm>
          <a:prstGeom prst="rect">
            <a:avLst/>
          </a:prstGeom>
          <a:noFill/>
          <a:ln/>
        </p:spPr>
        <p:txBody>
          <a:bodyPr wrap="square" lIns="0" tIns="0" rIns="0" bIns="0" rtlCol="0" anchor="t"/>
          <a:lstStyle/>
          <a:p>
            <a:pPr indent="0" marL="0">
              <a:buNone/>
            </a:pPr>
            <a:r>
              <a:rPr lang="en-US" sz="1100" dirty="0">
                <a:solidFill>
                  <a:schemeClr val="accent6"/>
                </a:solidFill>
              </a:rPr>
              <a:t>dmarc=pass for gmail.com</a:t>
            </a:r>
            <a:endParaRPr lang="en-US" sz="1100" dirty="0"/>
          </a:p>
        </p:txBody>
      </p:sp>
      <p:sp>
        <p:nvSpPr>
          <p:cNvPr id="28" name="Shape 25"/>
          <p:cNvSpPr/>
          <p:nvPr/>
        </p:nvSpPr>
        <p:spPr>
          <a:xfrm>
            <a:off x="4709160" y="4169664"/>
            <a:ext cx="237744" cy="237744"/>
          </a:xfrm>
          <a:prstGeom prst="ellipse">
            <a:avLst/>
          </a:prstGeom>
          <a:solidFill>
            <a:schemeClr val="accent4"/>
          </a:solidFill>
          <a:ln w="6350">
            <a:solidFill>
              <a:schemeClr val="accent4"/>
            </a:solidFill>
            <a:prstDash val="solid"/>
          </a:ln>
        </p:spPr>
      </p:sp>
      <p:pic>
        <p:nvPicPr>
          <p:cNvPr id="29" name="Image 1" descr="preencoded.png">    </p:cNvPr>
          <p:cNvPicPr>
            <a:picLocks noChangeAspect="1"/>
          </p:cNvPicPr>
          <p:nvPr/>
        </p:nvPicPr>
        <p:blipFill>
          <a:blip r:embed="rId2"/>
          <a:stretch>
            <a:fillRect/>
          </a:stretch>
        </p:blipFill>
        <p:spPr>
          <a:xfrm>
            <a:off x="4764024" y="4224528"/>
            <a:ext cx="128016" cy="128016"/>
          </a:xfrm>
          <a:prstGeom prst="rect">
            <a:avLst/>
          </a:prstGeom>
        </p:spPr>
      </p:pic>
      <p:sp>
        <p:nvSpPr>
          <p:cNvPr id="30" name="Text 26"/>
          <p:cNvSpPr txBox="1"/>
          <p:nvPr/>
        </p:nvSpPr>
        <p:spPr>
          <a:xfrm>
            <a:off x="5038344" y="4142232"/>
            <a:ext cx="3429000" cy="411480"/>
          </a:xfrm>
          <a:prstGeom prst="rect">
            <a:avLst/>
          </a:prstGeom>
          <a:noFill/>
          <a:ln/>
        </p:spPr>
        <p:txBody>
          <a:bodyPr wrap="square" lIns="0" tIns="0" rIns="0" bIns="0" rtlCol="0" anchor="t"/>
          <a:lstStyle/>
          <a:p>
            <a:pPr indent="0" marL="0">
              <a:buNone/>
            </a:pPr>
            <a:r>
              <a:rPr lang="en-US" sz="1100" dirty="0">
                <a:solidFill>
                  <a:schemeClr val="bg1"/>
                </a:solidFill>
              </a:rPr>
              <a:t>Contradiction, high: the claim is internal, the sender is a free mailbox.</a:t>
            </a:r>
            <a:endParaRPr lang="en-US" sz="1100" dirty="0"/>
          </a:p>
        </p:txBody>
      </p:sp>
      <p:sp>
        <p:nvSpPr>
          <p:cNvPr id="31" name="Text 27"/>
          <p:cNvSpPr txBox="1"/>
          <p:nvPr/>
        </p:nvSpPr>
        <p:spPr>
          <a:xfrm>
            <a:off x="685800" y="4599432"/>
            <a:ext cx="7772400" cy="228600"/>
          </a:xfrm>
          <a:prstGeom prst="rect">
            <a:avLst/>
          </a:prstGeom>
          <a:noFill/>
          <a:ln/>
        </p:spPr>
        <p:txBody>
          <a:bodyPr wrap="square" lIns="0" tIns="0" rIns="0" bIns="0" rtlCol="0" anchor="t"/>
          <a:lstStyle/>
          <a:p>
            <a:pPr indent="0" marL="0">
              <a:buNone/>
            </a:pPr>
            <a:r>
              <a:rPr lang="en-US" sz="1050" i="1" dirty="0">
                <a:solidFill>
                  <a:schemeClr val="accent6"/>
                </a:solidFill>
              </a:rPr>
              <a:t>Tactics such as urgency only raise the weight of a contradiction; they never create one.</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56032"/>
          </a:xfrm>
          <a:prstGeom prst="rect">
            <a:avLst/>
          </a:prstGeom>
          <a:noFill/>
          <a:ln/>
        </p:spPr>
        <p:txBody>
          <a:bodyPr wrap="square" lIns="0" tIns="0" rIns="0" bIns="0" rtlCol="0" anchor="ctr"/>
          <a:lstStyle/>
          <a:p>
            <a:pPr indent="0" marL="0">
              <a:buNone/>
            </a:pPr>
            <a:r>
              <a:rPr lang="en-US" sz="1000" b="1" spc="200" kern="0" dirty="0">
                <a:solidFill>
                  <a:schemeClr val="accent1"/>
                </a:solidFill>
              </a:rPr>
              <a:t>ARCHITECTURE</a:t>
            </a:r>
            <a:endParaRPr lang="en-US" sz="1000" dirty="0"/>
          </a:p>
        </p:txBody>
      </p:sp>
      <p:sp>
        <p:nvSpPr>
          <p:cNvPr id="3" name="Text 0"/>
          <p:cNvSpPr/>
          <p:nvPr>
            <p:ph idx="101" type="title" hasCustomPrompt="1"/>
          </p:nvPr>
        </p:nvSpPr>
        <p:spPr>
          <a:xfrm>
            <a:off x="457200" y="548640"/>
            <a:ext cx="8229600" cy="548640"/>
          </a:xfrm>
          <a:prstGeom prst="rect">
            <a:avLst/>
          </a:prstGeom>
          <a:noFill/>
          <a:ln/>
        </p:spPr>
        <p:txBody>
          <a:bodyPr wrap="square" lIns="0" tIns="0" rIns="0" bIns="0" rtlCol="0" anchor="t"/>
          <a:lstStyle/>
          <a:p>
            <a:pPr algn="l" indent="0" marL="0">
              <a:buNone/>
            </a:pPr>
            <a:r>
              <a:rPr lang="en-US" sz="2400" dirty="0">
                <a:solidFill>
                  <a:schemeClr val="tx1"/>
                </a:solidFill>
              </a:rPr>
              <a:t>The claim-routed verification pipeline</a:t>
            </a:r>
            <a:endParaRPr lang="en-US" sz="2400" dirty="0"/>
          </a:p>
        </p:txBody>
      </p:sp>
      <p:sp>
        <p:nvSpPr>
          <p:cNvPr id="4" name="Figure frame"/>
          <p:cNvSpPr/>
          <p:nvPr/>
        </p:nvSpPr>
        <p:spPr>
          <a:xfrm>
            <a:off x="457200" y="1188720"/>
            <a:ext cx="3347109" cy="3794760"/>
          </a:xfrm>
          <a:prstGeom prst="rect">
            <a:avLst/>
          </a:prstGeom>
          <a:solidFill>
            <a:schemeClr val="bg1"/>
          </a:solidFill>
          <a:ln w="9525">
            <a:solidFill>
              <a:schemeClr val="accent6"/>
            </a:solidFill>
            <a:prstDash val="solid"/>
          </a:ln>
        </p:spPr>
      </p:sp>
      <p:pic>
        <p:nvPicPr>
          <p:cNvPr id="5" name="Image 0" descr="Pipeline diagram: parser, header evidence, body redaction, thread builder, claim extractor, tactic classifier, claim router, three verifiers, verdict ledger, risk score.">    </p:cNvPr>
          <p:cNvPicPr>
            <a:picLocks noChangeAspect="1"/>
          </p:cNvPicPr>
          <p:nvPr/>
        </p:nvPicPr>
        <p:blipFill>
          <a:blip r:embed="rId1"/>
          <a:stretch>
            <a:fillRect/>
          </a:stretch>
        </p:blipFill>
        <p:spPr>
          <a:xfrm>
            <a:off x="548640" y="1234440"/>
            <a:ext cx="3164229" cy="3703320"/>
          </a:xfrm>
          <a:prstGeom prst="rect">
            <a:avLst/>
          </a:prstGeom>
        </p:spPr>
      </p:pic>
      <p:sp>
        <p:nvSpPr>
          <p:cNvPr id="6" name="Shape 3"/>
          <p:cNvSpPr/>
          <p:nvPr/>
        </p:nvSpPr>
        <p:spPr>
          <a:xfrm>
            <a:off x="4078629" y="1207008"/>
            <a:ext cx="347472" cy="347472"/>
          </a:xfrm>
          <a:prstGeom prst="ellipse">
            <a:avLst/>
          </a:prstGeom>
          <a:solidFill>
            <a:schemeClr val="accent1"/>
          </a:solidFill>
          <a:ln w="6350">
            <a:solidFill>
              <a:schemeClr val="accent1"/>
            </a:solidFill>
            <a:prstDash val="solid"/>
          </a:ln>
        </p:spPr>
      </p:sp>
      <p:sp>
        <p:nvSpPr>
          <p:cNvPr id="7" name="Text 4"/>
          <p:cNvSpPr txBox="1"/>
          <p:nvPr/>
        </p:nvSpPr>
        <p:spPr>
          <a:xfrm>
            <a:off x="4078629" y="1207008"/>
            <a:ext cx="347472" cy="347472"/>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8" name="Text 5"/>
          <p:cNvSpPr txBox="1"/>
          <p:nvPr/>
        </p:nvSpPr>
        <p:spPr>
          <a:xfrm>
            <a:off x="4554117" y="1225296"/>
            <a:ext cx="4132683" cy="256032"/>
          </a:xfrm>
          <a:prstGeom prst="rect">
            <a:avLst/>
          </a:prstGeom>
          <a:noFill/>
          <a:ln/>
        </p:spPr>
        <p:txBody>
          <a:bodyPr wrap="square" lIns="0" tIns="0" rIns="0" bIns="0" rtlCol="0" anchor="t"/>
          <a:lstStyle/>
          <a:p>
            <a:pPr indent="0" marL="0">
              <a:buNone/>
            </a:pPr>
            <a:r>
              <a:rPr lang="en-US" sz="1300" b="1" dirty="0">
                <a:solidFill>
                  <a:schemeClr val="tx1"/>
                </a:solidFill>
              </a:rPr>
              <a:t>Split</a:t>
            </a:r>
            <a:endParaRPr lang="en-US" sz="1300" dirty="0"/>
          </a:p>
        </p:txBody>
      </p:sp>
      <p:sp>
        <p:nvSpPr>
          <p:cNvPr id="9" name="Text 6"/>
          <p:cNvSpPr txBox="1"/>
          <p:nvPr/>
        </p:nvSpPr>
        <p:spPr>
          <a:xfrm>
            <a:off x="4554117" y="1481328"/>
            <a:ext cx="4132683" cy="548640"/>
          </a:xfrm>
          <a:prstGeom prst="rect">
            <a:avLst/>
          </a:prstGeom>
          <a:noFill/>
          <a:ln/>
        </p:spPr>
        <p:txBody>
          <a:bodyPr wrap="square" lIns="0" tIns="0" rIns="0" bIns="0" rtlCol="0" anchor="t"/>
          <a:lstStyle/>
          <a:p>
            <a:pPr indent="0" marL="0">
              <a:buNone/>
            </a:pPr>
            <a:r>
              <a:rPr lang="en-US" sz="1050" dirty="0">
                <a:solidFill>
                  <a:schemeClr val="accent2"/>
                </a:solidFill>
              </a:rPr>
              <a:t>The parser splits each message into headers, body and thread links. Three branches follow: header evidence, body redaction and the thread builder.</a:t>
            </a:r>
            <a:endParaRPr lang="en-US" sz="1050" dirty="0"/>
          </a:p>
        </p:txBody>
      </p:sp>
      <p:sp>
        <p:nvSpPr>
          <p:cNvPr id="10" name="Shape 7"/>
          <p:cNvSpPr/>
          <p:nvPr/>
        </p:nvSpPr>
        <p:spPr>
          <a:xfrm>
            <a:off x="4078629" y="2057400"/>
            <a:ext cx="347472" cy="347472"/>
          </a:xfrm>
          <a:prstGeom prst="ellipse">
            <a:avLst/>
          </a:prstGeom>
          <a:solidFill>
            <a:schemeClr val="accent1"/>
          </a:solidFill>
          <a:ln w="6350">
            <a:solidFill>
              <a:schemeClr val="accent1"/>
            </a:solidFill>
            <a:prstDash val="solid"/>
          </a:ln>
        </p:spPr>
      </p:sp>
      <p:sp>
        <p:nvSpPr>
          <p:cNvPr id="11" name="Text 8"/>
          <p:cNvSpPr txBox="1"/>
          <p:nvPr/>
        </p:nvSpPr>
        <p:spPr>
          <a:xfrm>
            <a:off x="4078629" y="2057400"/>
            <a:ext cx="347472" cy="347472"/>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2" name="Text 9"/>
          <p:cNvSpPr txBox="1"/>
          <p:nvPr/>
        </p:nvSpPr>
        <p:spPr>
          <a:xfrm>
            <a:off x="4554117" y="2075688"/>
            <a:ext cx="4132683" cy="256032"/>
          </a:xfrm>
          <a:prstGeom prst="rect">
            <a:avLst/>
          </a:prstGeom>
          <a:noFill/>
          <a:ln/>
        </p:spPr>
        <p:txBody>
          <a:bodyPr wrap="square" lIns="0" tIns="0" rIns="0" bIns="0" rtlCol="0" anchor="t"/>
          <a:lstStyle/>
          <a:p>
            <a:pPr indent="0" marL="0">
              <a:buNone/>
            </a:pPr>
            <a:r>
              <a:rPr lang="en-US" sz="1300" b="1" dirty="0">
                <a:solidFill>
                  <a:schemeClr val="tx1"/>
                </a:solidFill>
              </a:rPr>
              <a:t>Read the body</a:t>
            </a:r>
            <a:endParaRPr lang="en-US" sz="1300" dirty="0"/>
          </a:p>
        </p:txBody>
      </p:sp>
      <p:sp>
        <p:nvSpPr>
          <p:cNvPr id="13" name="Text 10"/>
          <p:cNvSpPr txBox="1"/>
          <p:nvPr/>
        </p:nvSpPr>
        <p:spPr>
          <a:xfrm>
            <a:off x="4554117" y="2331720"/>
            <a:ext cx="4132683" cy="548640"/>
          </a:xfrm>
          <a:prstGeom prst="rect">
            <a:avLst/>
          </a:prstGeom>
          <a:noFill/>
          <a:ln/>
        </p:spPr>
        <p:txBody>
          <a:bodyPr wrap="square" lIns="0" tIns="0" rIns="0" bIns="0" rtlCol="0" anchor="t"/>
          <a:lstStyle/>
          <a:p>
            <a:pPr indent="0" marL="0">
              <a:buNone/>
            </a:pPr>
            <a:r>
              <a:rPr lang="en-US" sz="1050" dirty="0">
                <a:solidFill>
                  <a:schemeClr val="accent2"/>
                </a:solidFill>
              </a:rPr>
              <a:t>Links, addresses, domains and file names become placeholders before any model reads the text (N1). A claim extractor finds typed claims; a tactic classifier scores seven tactics, such as urgency and secrecy.</a:t>
            </a:r>
            <a:endParaRPr lang="en-US" sz="1050" dirty="0"/>
          </a:p>
        </p:txBody>
      </p:sp>
      <p:sp>
        <p:nvSpPr>
          <p:cNvPr id="14" name="Shape 11"/>
          <p:cNvSpPr/>
          <p:nvPr/>
        </p:nvSpPr>
        <p:spPr>
          <a:xfrm>
            <a:off x="4078629" y="2907792"/>
            <a:ext cx="347472" cy="347472"/>
          </a:xfrm>
          <a:prstGeom prst="ellipse">
            <a:avLst/>
          </a:prstGeom>
          <a:solidFill>
            <a:schemeClr val="accent1"/>
          </a:solidFill>
          <a:ln w="6350">
            <a:solidFill>
              <a:schemeClr val="accent1"/>
            </a:solidFill>
            <a:prstDash val="solid"/>
          </a:ln>
        </p:spPr>
      </p:sp>
      <p:sp>
        <p:nvSpPr>
          <p:cNvPr id="15" name="Text 12"/>
          <p:cNvSpPr txBox="1"/>
          <p:nvPr/>
        </p:nvSpPr>
        <p:spPr>
          <a:xfrm>
            <a:off x="4078629" y="2907792"/>
            <a:ext cx="347472" cy="347472"/>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6" name="Text 13"/>
          <p:cNvSpPr txBox="1"/>
          <p:nvPr/>
        </p:nvSpPr>
        <p:spPr>
          <a:xfrm>
            <a:off x="4554117" y="2926080"/>
            <a:ext cx="4132683" cy="256032"/>
          </a:xfrm>
          <a:prstGeom prst="rect">
            <a:avLst/>
          </a:prstGeom>
          <a:noFill/>
          <a:ln/>
        </p:spPr>
        <p:txBody>
          <a:bodyPr wrap="square" lIns="0" tIns="0" rIns="0" bIns="0" rtlCol="0" anchor="t"/>
          <a:lstStyle/>
          <a:p>
            <a:pPr indent="0" marL="0">
              <a:buNone/>
            </a:pPr>
            <a:r>
              <a:rPr lang="en-US" sz="1300" b="1" dirty="0">
                <a:solidFill>
                  <a:schemeClr val="tx1"/>
                </a:solidFill>
              </a:rPr>
              <a:t>Route and check</a:t>
            </a:r>
            <a:endParaRPr lang="en-US" sz="1300" dirty="0"/>
          </a:p>
        </p:txBody>
      </p:sp>
      <p:sp>
        <p:nvSpPr>
          <p:cNvPr id="17" name="Text 14"/>
          <p:cNvSpPr txBox="1"/>
          <p:nvPr/>
        </p:nvSpPr>
        <p:spPr>
          <a:xfrm>
            <a:off x="4554117" y="3182112"/>
            <a:ext cx="4132683" cy="548640"/>
          </a:xfrm>
          <a:prstGeom prst="rect">
            <a:avLst/>
          </a:prstGeom>
          <a:noFill/>
          <a:ln/>
        </p:spPr>
        <p:txBody>
          <a:bodyPr wrap="square" lIns="0" tIns="0" rIns="0" bIns="0" rtlCol="0" anchor="t"/>
          <a:lstStyle/>
          <a:p>
            <a:pPr indent="0" marL="0">
              <a:buNone/>
            </a:pPr>
            <a:r>
              <a:rPr lang="en-US" sz="1050" dirty="0">
                <a:solidFill>
                  <a:schemeClr val="accent2"/>
                </a:solidFill>
              </a:rPr>
              <a:t>The router sends each claim to the verifier that can test it: the header verifier (N3), the request verifier or the thread verifier (N2).</a:t>
            </a:r>
            <a:endParaRPr lang="en-US" sz="1050" dirty="0"/>
          </a:p>
        </p:txBody>
      </p:sp>
      <p:sp>
        <p:nvSpPr>
          <p:cNvPr id="18" name="Shape 15"/>
          <p:cNvSpPr/>
          <p:nvPr/>
        </p:nvSpPr>
        <p:spPr>
          <a:xfrm>
            <a:off x="4078629" y="3758184"/>
            <a:ext cx="347472" cy="347472"/>
          </a:xfrm>
          <a:prstGeom prst="ellipse">
            <a:avLst/>
          </a:prstGeom>
          <a:solidFill>
            <a:schemeClr val="accent1"/>
          </a:solidFill>
          <a:ln w="6350">
            <a:solidFill>
              <a:schemeClr val="accent1"/>
            </a:solidFill>
            <a:prstDash val="solid"/>
          </a:ln>
        </p:spPr>
      </p:sp>
      <p:sp>
        <p:nvSpPr>
          <p:cNvPr id="19" name="Text 16"/>
          <p:cNvSpPr txBox="1"/>
          <p:nvPr/>
        </p:nvSpPr>
        <p:spPr>
          <a:xfrm>
            <a:off x="4078629" y="3758184"/>
            <a:ext cx="347472" cy="347472"/>
          </a:xfrm>
          <a:prstGeom prst="rect">
            <a:avLst/>
          </a:prstGeom>
          <a:no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20" name="Text 17"/>
          <p:cNvSpPr txBox="1"/>
          <p:nvPr/>
        </p:nvSpPr>
        <p:spPr>
          <a:xfrm>
            <a:off x="4554117" y="3776472"/>
            <a:ext cx="4132683" cy="256032"/>
          </a:xfrm>
          <a:prstGeom prst="rect">
            <a:avLst/>
          </a:prstGeom>
          <a:noFill/>
          <a:ln/>
        </p:spPr>
        <p:txBody>
          <a:bodyPr wrap="square" lIns="0" tIns="0" rIns="0" bIns="0" rtlCol="0" anchor="t"/>
          <a:lstStyle/>
          <a:p>
            <a:pPr indent="0" marL="0">
              <a:buNone/>
            </a:pPr>
            <a:r>
              <a:rPr lang="en-US" sz="1300" b="1" dirty="0">
                <a:solidFill>
                  <a:schemeClr val="tx1"/>
                </a:solidFill>
              </a:rPr>
              <a:t>Record and score</a:t>
            </a:r>
            <a:endParaRPr lang="en-US" sz="1300" dirty="0"/>
          </a:p>
        </p:txBody>
      </p:sp>
      <p:sp>
        <p:nvSpPr>
          <p:cNvPr id="21" name="Text 18"/>
          <p:cNvSpPr txBox="1"/>
          <p:nvPr/>
        </p:nvSpPr>
        <p:spPr>
          <a:xfrm>
            <a:off x="4554117" y="4032504"/>
            <a:ext cx="4132683" cy="548640"/>
          </a:xfrm>
          <a:prstGeom prst="rect">
            <a:avLst/>
          </a:prstGeom>
          <a:noFill/>
          <a:ln/>
        </p:spPr>
        <p:txBody>
          <a:bodyPr wrap="square" lIns="0" tIns="0" rIns="0" bIns="0" rtlCol="0" anchor="t"/>
          <a:lstStyle/>
          <a:p>
            <a:pPr indent="0" marL="0">
              <a:buNone/>
            </a:pPr>
            <a:r>
              <a:rPr lang="en-US" sz="1050" dirty="0">
                <a:solidFill>
                  <a:schemeClr val="accent2"/>
                </a:solidFill>
              </a:rPr>
              <a:t>Every verdict is a ledger row naming the claim, the rule and the evidence. The risk score is computed from the ledger.</a:t>
            </a:r>
            <a:endParaRPr lang="en-US" sz="1050" dirty="0"/>
          </a:p>
        </p:txBody>
      </p:sp>
      <p:sp>
        <p:nvSpPr>
          <p:cNvPr id="22" name="Text 19"/>
          <p:cNvSpPr txBox="1"/>
          <p:nvPr/>
        </p:nvSpPr>
        <p:spPr>
          <a:xfrm>
            <a:off x="4078629" y="4617720"/>
            <a:ext cx="4608171" cy="320040"/>
          </a:xfrm>
          <a:prstGeom prst="rect">
            <a:avLst/>
          </a:prstGeom>
          <a:noFill/>
          <a:ln/>
        </p:spPr>
        <p:txBody>
          <a:bodyPr wrap="square" lIns="0" tIns="0" rIns="0" bIns="0" rtlCol="0" anchor="t"/>
          <a:lstStyle/>
          <a:p>
            <a:pPr indent="0" marL="0">
              <a:buNone/>
            </a:pPr>
            <a:r>
              <a:rPr lang="en-US" sz="900" i="1" dirty="0">
                <a:solidFill>
                  <a:schemeClr val="accent3"/>
                </a:solidFill>
              </a:rPr>
              <a:t>In the figure, double borders mark the parts introduced in this work; dashed lines carry tactic probabilities to the thread verifier and the score.</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56032"/>
          </a:xfrm>
          <a:prstGeom prst="rect">
            <a:avLst/>
          </a:prstGeom>
          <a:noFill/>
          <a:ln/>
        </p:spPr>
        <p:txBody>
          <a:bodyPr wrap="square" lIns="0" tIns="0" rIns="0" bIns="0" rtlCol="0" anchor="ctr"/>
          <a:lstStyle/>
          <a:p>
            <a:pPr indent="0" marL="0">
              <a:buNone/>
            </a:pPr>
            <a:r>
              <a:rPr lang="en-US" sz="1000" b="1" spc="200" kern="0" dirty="0">
                <a:solidFill>
                  <a:schemeClr val="accent1"/>
                </a:solidFill>
              </a:rPr>
              <a:t>ARCHITECTURE</a:t>
            </a:r>
            <a:endParaRPr lang="en-US" sz="1000" dirty="0"/>
          </a:p>
        </p:txBody>
      </p:sp>
      <p:sp>
        <p:nvSpPr>
          <p:cNvPr id="3" name="Text 0"/>
          <p:cNvSpPr/>
          <p:nvPr>
            <p:ph idx="101" type="title" hasCustomPrompt="1"/>
          </p:nvPr>
        </p:nvSpPr>
        <p:spPr>
          <a:xfrm>
            <a:off x="457200" y="548640"/>
            <a:ext cx="8229600" cy="548640"/>
          </a:xfrm>
          <a:prstGeom prst="rect">
            <a:avLst/>
          </a:prstGeom>
          <a:noFill/>
          <a:ln/>
        </p:spPr>
        <p:txBody>
          <a:bodyPr wrap="square" lIns="0" tIns="0" rIns="0" bIns="0" rtlCol="0" anchor="t"/>
          <a:lstStyle/>
          <a:p>
            <a:pPr algn="l" indent="0" marL="0">
              <a:buNone/>
            </a:pPr>
            <a:r>
              <a:rPr lang="en-US" sz="2400" dirty="0">
                <a:solidFill>
                  <a:schemeClr val="tx1"/>
                </a:solidFill>
              </a:rPr>
              <a:t>What each verifier asks</a:t>
            </a:r>
            <a:endParaRPr lang="en-US" sz="2400" dirty="0"/>
          </a:p>
        </p:txBody>
      </p:sp>
      <p:sp>
        <p:nvSpPr>
          <p:cNvPr id="4" name="Header verifier (N3)"/>
          <p:cNvSpPr/>
          <p:nvPr/>
        </p:nvSpPr>
        <p:spPr>
          <a:xfrm>
            <a:off x="457200" y="1188720"/>
            <a:ext cx="2651760" cy="2103120"/>
          </a:xfrm>
          <a:prstGeom prst="rect">
            <a:avLst/>
          </a:prstGeom>
          <a:solidFill>
            <a:schemeClr val="bg1"/>
          </a:solidFill>
          <a:ln w="9525">
            <a:solidFill>
              <a:schemeClr val="accent6"/>
            </a:solidFill>
            <a:prstDash val="solid"/>
          </a:ln>
        </p:spPr>
      </p:sp>
      <p:sp>
        <p:nvSpPr>
          <p:cNvPr id="5" name="Shape 3"/>
          <p:cNvSpPr/>
          <p:nvPr/>
        </p:nvSpPr>
        <p:spPr>
          <a:xfrm>
            <a:off x="640080" y="1325880"/>
            <a:ext cx="457200" cy="457200"/>
          </a:xfrm>
          <a:prstGeom prst="ellipse">
            <a:avLst/>
          </a:prstGeom>
          <a:solidFill>
            <a:schemeClr val="accent1"/>
          </a:solidFill>
          <a:ln w="635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754380" y="1440180"/>
            <a:ext cx="228600" cy="228600"/>
          </a:xfrm>
          <a:prstGeom prst="rect">
            <a:avLst/>
          </a:prstGeom>
        </p:spPr>
      </p:pic>
      <p:sp>
        <p:nvSpPr>
          <p:cNvPr id="7" name="Text 4"/>
          <p:cNvSpPr txBox="1"/>
          <p:nvPr/>
        </p:nvSpPr>
        <p:spPr>
          <a:xfrm>
            <a:off x="1207008" y="1325880"/>
            <a:ext cx="1828800" cy="457200"/>
          </a:xfrm>
          <a:prstGeom prst="rect">
            <a:avLst/>
          </a:prstGeom>
          <a:noFill/>
          <a:ln/>
        </p:spPr>
        <p:txBody>
          <a:bodyPr wrap="square" lIns="0" tIns="0" rIns="0" bIns="0" rtlCol="0" anchor="ctr"/>
          <a:lstStyle/>
          <a:p>
            <a:pPr indent="0" marL="0">
              <a:buNone/>
            </a:pPr>
            <a:r>
              <a:rPr lang="en-US" sz="1350" b="1" dirty="0">
                <a:solidFill>
                  <a:schemeClr val="tx1"/>
                </a:solidFill>
                <a:latin typeface="+mj-lt" pitchFamily="34" charset="0"/>
                <a:ea typeface="+mj-lt" pitchFamily="34" charset="-122"/>
                <a:cs typeface="+mj-lt" pitchFamily="34" charset="-120"/>
              </a:rPr>
              <a:t>Header verifier (N3)</a:t>
            </a:r>
            <a:endParaRPr lang="en-US" sz="1350" dirty="0"/>
          </a:p>
        </p:txBody>
      </p:sp>
      <p:sp>
        <p:nvSpPr>
          <p:cNvPr id="8" name="Text 5"/>
          <p:cNvSpPr txBox="1"/>
          <p:nvPr/>
        </p:nvSpPr>
        <p:spPr>
          <a:xfrm>
            <a:off x="640080" y="1874520"/>
            <a:ext cx="2331720" cy="457200"/>
          </a:xfrm>
          <a:prstGeom prst="rect">
            <a:avLst/>
          </a:prstGeom>
          <a:noFill/>
          <a:ln/>
        </p:spPr>
        <p:txBody>
          <a:bodyPr wrap="square" lIns="0" tIns="0" rIns="0" bIns="0" rtlCol="0" anchor="t"/>
          <a:lstStyle/>
          <a:p>
            <a:pPr indent="0" marL="0">
              <a:buNone/>
            </a:pPr>
            <a:r>
              <a:rPr lang="en-US" sz="1150" b="1" i="1" dirty="0">
                <a:solidFill>
                  <a:schemeClr val="accent1"/>
                </a:solidFill>
              </a:rPr>
              <a:t>Do the headers support who the email claims to be?</a:t>
            </a:r>
            <a:endParaRPr lang="en-US" sz="1150" dirty="0"/>
          </a:p>
        </p:txBody>
      </p:sp>
      <p:sp>
        <p:nvSpPr>
          <p:cNvPr id="9" name="Text 6"/>
          <p:cNvSpPr txBox="1"/>
          <p:nvPr/>
        </p:nvSpPr>
        <p:spPr>
          <a:xfrm>
            <a:off x="640080" y="2377440"/>
            <a:ext cx="2331720" cy="868680"/>
          </a:xfrm>
          <a:prstGeom prst="rect">
            <a:avLst/>
          </a:prstGeom>
          <a:noFill/>
          <a:ln/>
        </p:spPr>
        <p:txBody>
          <a:bodyPr wrap="square" lIns="0" tIns="0" rIns="0" bIns="0" rtlCol="0" anchor="t"/>
          <a:lstStyle/>
          <a:p>
            <a:pPr indent="0" marL="0">
              <a:buNone/>
            </a:pPr>
            <a:r>
              <a:rPr lang="en-US" sz="1050" dirty="0">
                <a:solidFill>
                  <a:schemeClr val="accent2"/>
                </a:solidFill>
              </a:rPr>
              <a:t>Compares the From domain, the domain that authentication vouched for and the domain the claim implies.</a:t>
            </a:r>
            <a:endParaRPr lang="en-US" sz="1050" dirty="0"/>
          </a:p>
        </p:txBody>
      </p:sp>
      <p:sp>
        <p:nvSpPr>
          <p:cNvPr id="10" name="Request verifier"/>
          <p:cNvSpPr/>
          <p:nvPr/>
        </p:nvSpPr>
        <p:spPr>
          <a:xfrm>
            <a:off x="3246120" y="1188720"/>
            <a:ext cx="2651760" cy="2103120"/>
          </a:xfrm>
          <a:prstGeom prst="rect">
            <a:avLst/>
          </a:prstGeom>
          <a:solidFill>
            <a:schemeClr val="bg1"/>
          </a:solidFill>
          <a:ln w="9525">
            <a:solidFill>
              <a:schemeClr val="accent6"/>
            </a:solidFill>
            <a:prstDash val="solid"/>
          </a:ln>
        </p:spPr>
      </p:sp>
      <p:sp>
        <p:nvSpPr>
          <p:cNvPr id="11" name="Shape 8"/>
          <p:cNvSpPr/>
          <p:nvPr/>
        </p:nvSpPr>
        <p:spPr>
          <a:xfrm>
            <a:off x="3429000" y="1325880"/>
            <a:ext cx="457200" cy="457200"/>
          </a:xfrm>
          <a:prstGeom prst="ellipse">
            <a:avLst/>
          </a:prstGeom>
          <a:solidFill>
            <a:schemeClr val="accent1"/>
          </a:solidFill>
          <a:ln w="6350">
            <a:solidFill>
              <a:schemeClr val="accent1"/>
            </a:solidFill>
            <a:prstDash val="solid"/>
          </a:ln>
        </p:spPr>
      </p:sp>
      <p:pic>
        <p:nvPicPr>
          <p:cNvPr id="12" name="Image 1" descr="preencoded.png">    </p:cNvPr>
          <p:cNvPicPr>
            <a:picLocks noChangeAspect="1"/>
          </p:cNvPicPr>
          <p:nvPr/>
        </p:nvPicPr>
        <p:blipFill>
          <a:blip r:embed="rId2"/>
          <a:stretch>
            <a:fillRect/>
          </a:stretch>
        </p:blipFill>
        <p:spPr>
          <a:xfrm>
            <a:off x="3543300" y="1440180"/>
            <a:ext cx="228600" cy="228600"/>
          </a:xfrm>
          <a:prstGeom prst="rect">
            <a:avLst/>
          </a:prstGeom>
        </p:spPr>
      </p:pic>
      <p:sp>
        <p:nvSpPr>
          <p:cNvPr id="13" name="Text 9"/>
          <p:cNvSpPr txBox="1"/>
          <p:nvPr/>
        </p:nvSpPr>
        <p:spPr>
          <a:xfrm>
            <a:off x="3995928" y="1325880"/>
            <a:ext cx="1828800" cy="457200"/>
          </a:xfrm>
          <a:prstGeom prst="rect">
            <a:avLst/>
          </a:prstGeom>
          <a:noFill/>
          <a:ln/>
        </p:spPr>
        <p:txBody>
          <a:bodyPr wrap="square" lIns="0" tIns="0" rIns="0" bIns="0" rtlCol="0" anchor="ctr"/>
          <a:lstStyle/>
          <a:p>
            <a:pPr indent="0" marL="0">
              <a:buNone/>
            </a:pPr>
            <a:r>
              <a:rPr lang="en-US" sz="1350" b="1" dirty="0">
                <a:solidFill>
                  <a:schemeClr val="tx1"/>
                </a:solidFill>
                <a:latin typeface="+mj-lt" pitchFamily="34" charset="0"/>
                <a:ea typeface="+mj-lt" pitchFamily="34" charset="-122"/>
                <a:cs typeface="+mj-lt" pitchFamily="34" charset="-120"/>
              </a:rPr>
              <a:t>Request verifier</a:t>
            </a:r>
            <a:endParaRPr lang="en-US" sz="1350" dirty="0"/>
          </a:p>
        </p:txBody>
      </p:sp>
      <p:sp>
        <p:nvSpPr>
          <p:cNvPr id="14" name="Text 10"/>
          <p:cNvSpPr txBox="1"/>
          <p:nvPr/>
        </p:nvSpPr>
        <p:spPr>
          <a:xfrm>
            <a:off x="3429000" y="1874520"/>
            <a:ext cx="2331720" cy="457200"/>
          </a:xfrm>
          <a:prstGeom prst="rect">
            <a:avLst/>
          </a:prstGeom>
          <a:noFill/>
          <a:ln/>
        </p:spPr>
        <p:txBody>
          <a:bodyPr wrap="square" lIns="0" tIns="0" rIns="0" bIns="0" rtlCol="0" anchor="t"/>
          <a:lstStyle/>
          <a:p>
            <a:pPr indent="0" marL="0">
              <a:buNone/>
            </a:pPr>
            <a:r>
              <a:rPr lang="en-US" sz="1150" b="1" i="1" dirty="0">
                <a:solidFill>
                  <a:schemeClr val="accent1"/>
                </a:solidFill>
              </a:rPr>
              <a:t>Who is asking for the money or the data?</a:t>
            </a:r>
            <a:endParaRPr lang="en-US" sz="1150" dirty="0"/>
          </a:p>
        </p:txBody>
      </p:sp>
      <p:sp>
        <p:nvSpPr>
          <p:cNvPr id="15" name="Text 11"/>
          <p:cNvSpPr txBox="1"/>
          <p:nvPr/>
        </p:nvSpPr>
        <p:spPr>
          <a:xfrm>
            <a:off x="3429000" y="2377440"/>
            <a:ext cx="2331720" cy="868680"/>
          </a:xfrm>
          <a:prstGeom prst="rect">
            <a:avLst/>
          </a:prstGeom>
          <a:noFill/>
          <a:ln/>
        </p:spPr>
        <p:txBody>
          <a:bodyPr wrap="square" lIns="0" tIns="0" rIns="0" bIns="0" rtlCol="0" anchor="t"/>
          <a:lstStyle/>
          <a:p>
            <a:pPr indent="0" marL="0">
              <a:buNone/>
            </a:pPr>
            <a:r>
              <a:rPr lang="en-US" sz="1050" dirty="0">
                <a:solidFill>
                  <a:schemeClr val="accent2"/>
                </a:solidFill>
              </a:rPr>
              <a:t>Flags requests from a free mailbox, a lookalike sender, a failed DMARC check or a Reply-To to another domain.</a:t>
            </a:r>
            <a:endParaRPr lang="en-US" sz="1050" dirty="0"/>
          </a:p>
        </p:txBody>
      </p:sp>
      <p:sp>
        <p:nvSpPr>
          <p:cNvPr id="16" name="Thread verifier (N2)"/>
          <p:cNvSpPr/>
          <p:nvPr/>
        </p:nvSpPr>
        <p:spPr>
          <a:xfrm>
            <a:off x="6035040" y="1188720"/>
            <a:ext cx="2651760" cy="2103120"/>
          </a:xfrm>
          <a:prstGeom prst="rect">
            <a:avLst/>
          </a:prstGeom>
          <a:solidFill>
            <a:schemeClr val="bg1"/>
          </a:solidFill>
          <a:ln w="9525">
            <a:solidFill>
              <a:schemeClr val="accent6"/>
            </a:solidFill>
            <a:prstDash val="solid"/>
          </a:ln>
        </p:spPr>
      </p:sp>
      <p:sp>
        <p:nvSpPr>
          <p:cNvPr id="17" name="Shape 13"/>
          <p:cNvSpPr/>
          <p:nvPr/>
        </p:nvSpPr>
        <p:spPr>
          <a:xfrm>
            <a:off x="6217920" y="1325880"/>
            <a:ext cx="457200" cy="457200"/>
          </a:xfrm>
          <a:prstGeom prst="ellipse">
            <a:avLst/>
          </a:prstGeom>
          <a:solidFill>
            <a:schemeClr val="accent1"/>
          </a:solidFill>
          <a:ln w="6350">
            <a:solidFill>
              <a:schemeClr val="accent1"/>
            </a:solidFill>
            <a:prstDash val="solid"/>
          </a:ln>
        </p:spPr>
      </p:sp>
      <p:pic>
        <p:nvPicPr>
          <p:cNvPr id="18" name="Image 2" descr="preencoded.png">    </p:cNvPr>
          <p:cNvPicPr>
            <a:picLocks noChangeAspect="1"/>
          </p:cNvPicPr>
          <p:nvPr/>
        </p:nvPicPr>
        <p:blipFill>
          <a:blip r:embed="rId3"/>
          <a:stretch>
            <a:fillRect/>
          </a:stretch>
        </p:blipFill>
        <p:spPr>
          <a:xfrm>
            <a:off x="6332220" y="1440180"/>
            <a:ext cx="228600" cy="228600"/>
          </a:xfrm>
          <a:prstGeom prst="rect">
            <a:avLst/>
          </a:prstGeom>
        </p:spPr>
      </p:pic>
      <p:sp>
        <p:nvSpPr>
          <p:cNvPr id="19" name="Text 14"/>
          <p:cNvSpPr txBox="1"/>
          <p:nvPr/>
        </p:nvSpPr>
        <p:spPr>
          <a:xfrm>
            <a:off x="6784848" y="1325880"/>
            <a:ext cx="1828800" cy="457200"/>
          </a:xfrm>
          <a:prstGeom prst="rect">
            <a:avLst/>
          </a:prstGeom>
          <a:noFill/>
          <a:ln/>
        </p:spPr>
        <p:txBody>
          <a:bodyPr wrap="square" lIns="0" tIns="0" rIns="0" bIns="0" rtlCol="0" anchor="ctr"/>
          <a:lstStyle/>
          <a:p>
            <a:pPr indent="0" marL="0">
              <a:buNone/>
            </a:pPr>
            <a:r>
              <a:rPr lang="en-US" sz="1350" b="1" dirty="0">
                <a:solidFill>
                  <a:schemeClr val="tx1"/>
                </a:solidFill>
                <a:latin typeface="+mj-lt" pitchFamily="34" charset="0"/>
                <a:ea typeface="+mj-lt" pitchFamily="34" charset="-122"/>
                <a:cs typeface="+mj-lt" pitchFamily="34" charset="-120"/>
              </a:rPr>
              <a:t>Thread verifier (N2)</a:t>
            </a:r>
            <a:endParaRPr lang="en-US" sz="1350" dirty="0"/>
          </a:p>
        </p:txBody>
      </p:sp>
      <p:sp>
        <p:nvSpPr>
          <p:cNvPr id="20" name="Text 15"/>
          <p:cNvSpPr txBox="1"/>
          <p:nvPr/>
        </p:nvSpPr>
        <p:spPr>
          <a:xfrm>
            <a:off x="6217920" y="1874520"/>
            <a:ext cx="2331720" cy="457200"/>
          </a:xfrm>
          <a:prstGeom prst="rect">
            <a:avLst/>
          </a:prstGeom>
          <a:noFill/>
          <a:ln/>
        </p:spPr>
        <p:txBody>
          <a:bodyPr wrap="square" lIns="0" tIns="0" rIns="0" bIns="0" rtlCol="0" anchor="t"/>
          <a:lstStyle/>
          <a:p>
            <a:pPr indent="0" marL="0">
              <a:buNone/>
            </a:pPr>
            <a:r>
              <a:rPr lang="en-US" sz="1150" b="1" i="1" dirty="0">
                <a:solidFill>
                  <a:schemeClr val="accent1"/>
                </a:solidFill>
              </a:rPr>
              <a:t>Does this reply fit its own conversation?</a:t>
            </a:r>
            <a:endParaRPr lang="en-US" sz="1150" dirty="0"/>
          </a:p>
        </p:txBody>
      </p:sp>
      <p:sp>
        <p:nvSpPr>
          <p:cNvPr id="21" name="Text 16"/>
          <p:cNvSpPr txBox="1"/>
          <p:nvPr/>
        </p:nvSpPr>
        <p:spPr>
          <a:xfrm>
            <a:off x="6217920" y="2377440"/>
            <a:ext cx="2331720" cy="868680"/>
          </a:xfrm>
          <a:prstGeom prst="rect">
            <a:avLst/>
          </a:prstGeom>
          <a:noFill/>
          <a:ln/>
        </p:spPr>
        <p:txBody>
          <a:bodyPr wrap="square" lIns="0" tIns="0" rIns="0" bIns="0" rtlCol="0" anchor="t"/>
          <a:lstStyle/>
          <a:p>
            <a:pPr indent="0" marL="0">
              <a:buNone/>
            </a:pPr>
            <a:r>
              <a:rPr lang="en-US" sz="1050" dirty="0">
                <a:solidFill>
                  <a:schemeClr val="accent2"/>
                </a:solidFill>
              </a:rPr>
              <a:t>Looks for first urgency or secrecy, new bank details, a new sending path and reply links that point to nothing.</a:t>
            </a:r>
            <a:endParaRPr lang="en-US" sz="1050" dirty="0"/>
          </a:p>
        </p:txBody>
      </p:sp>
      <p:sp>
        <p:nvSpPr>
          <p:cNvPr id="22" name="Text 17"/>
          <p:cNvSpPr txBox="1"/>
          <p:nvPr/>
        </p:nvSpPr>
        <p:spPr>
          <a:xfrm>
            <a:off x="457200" y="3429000"/>
            <a:ext cx="3657600" cy="201168"/>
          </a:xfrm>
          <a:prstGeom prst="rect">
            <a:avLst/>
          </a:prstGeom>
          <a:noFill/>
          <a:ln/>
        </p:spPr>
        <p:txBody>
          <a:bodyPr wrap="square" lIns="0" tIns="0" rIns="0" bIns="0" rtlCol="0" anchor="ctr"/>
          <a:lstStyle/>
          <a:p>
            <a:pPr indent="0" marL="0">
              <a:buNone/>
            </a:pPr>
            <a:r>
              <a:rPr lang="en-US" sz="900" b="1" spc="150" kern="0" dirty="0">
                <a:solidFill>
                  <a:schemeClr val="accent1"/>
                </a:solidFill>
              </a:rPr>
              <a:t>THREE POSSIBLE VERDICTS</a:t>
            </a:r>
            <a:endParaRPr lang="en-US" sz="900" dirty="0"/>
          </a:p>
        </p:txBody>
      </p:sp>
      <p:sp>
        <p:nvSpPr>
          <p:cNvPr id="23" name="Shape 18"/>
          <p:cNvSpPr/>
          <p:nvPr/>
        </p:nvSpPr>
        <p:spPr>
          <a:xfrm>
            <a:off x="457200" y="3657600"/>
            <a:ext cx="2606040" cy="310896"/>
          </a:xfrm>
          <a:prstGeom prst="roundRect">
            <a:avLst>
              <a:gd name="adj" fmla="val 35294"/>
            </a:avLst>
          </a:prstGeom>
          <a:solidFill>
            <a:schemeClr val="accent4"/>
          </a:solidFill>
          <a:ln w="9525">
            <a:solidFill>
              <a:schemeClr val="accent4"/>
            </a:solidFill>
            <a:prstDash val="solid"/>
          </a:ln>
        </p:spPr>
      </p:sp>
      <p:sp>
        <p:nvSpPr>
          <p:cNvPr id="24" name="Text 19"/>
          <p:cNvSpPr txBox="1"/>
          <p:nvPr/>
        </p:nvSpPr>
        <p:spPr>
          <a:xfrm>
            <a:off x="457200" y="3657600"/>
            <a:ext cx="2606040" cy="310896"/>
          </a:xfrm>
          <a:prstGeom prst="rect">
            <a:avLst/>
          </a:prstGeom>
          <a:noFill/>
          <a:ln/>
        </p:spPr>
        <p:txBody>
          <a:bodyPr wrap="square" lIns="0" tIns="0" rIns="0" bIns="0" rtlCol="0" anchor="ctr"/>
          <a:lstStyle/>
          <a:p>
            <a:pPr algn="ctr" indent="0" marL="0">
              <a:buNone/>
            </a:pPr>
            <a:r>
              <a:rPr lang="en-US" sz="1100" b="1" dirty="0">
                <a:solidFill>
                  <a:schemeClr val="bg1"/>
                </a:solidFill>
              </a:rPr>
              <a:t>Contradiction: high, medium or low</a:t>
            </a:r>
            <a:endParaRPr lang="en-US" sz="1100" dirty="0"/>
          </a:p>
        </p:txBody>
      </p:sp>
      <p:sp>
        <p:nvSpPr>
          <p:cNvPr id="25" name="Shape 20"/>
          <p:cNvSpPr/>
          <p:nvPr/>
        </p:nvSpPr>
        <p:spPr>
          <a:xfrm>
            <a:off x="3200400" y="3657600"/>
            <a:ext cx="1188720" cy="310896"/>
          </a:xfrm>
          <a:prstGeom prst="roundRect">
            <a:avLst>
              <a:gd name="adj" fmla="val 35294"/>
            </a:avLst>
          </a:prstGeom>
          <a:solidFill>
            <a:schemeClr val="accent5"/>
          </a:solidFill>
          <a:ln w="9525">
            <a:solidFill>
              <a:schemeClr val="accent5"/>
            </a:solidFill>
            <a:prstDash val="solid"/>
          </a:ln>
        </p:spPr>
      </p:sp>
      <p:sp>
        <p:nvSpPr>
          <p:cNvPr id="26" name="Text 21"/>
          <p:cNvSpPr txBox="1"/>
          <p:nvPr/>
        </p:nvSpPr>
        <p:spPr>
          <a:xfrm>
            <a:off x="3200400" y="3657600"/>
            <a:ext cx="1188720" cy="310896"/>
          </a:xfrm>
          <a:prstGeom prst="rect">
            <a:avLst/>
          </a:prstGeom>
          <a:noFill/>
          <a:ln/>
        </p:spPr>
        <p:txBody>
          <a:bodyPr wrap="square" lIns="0" tIns="0" rIns="0" bIns="0" rtlCol="0" anchor="ctr"/>
          <a:lstStyle/>
          <a:p>
            <a:pPr algn="ctr" indent="0" marL="0">
              <a:buNone/>
            </a:pPr>
            <a:r>
              <a:rPr lang="en-US" sz="1100" b="1" dirty="0">
                <a:solidFill>
                  <a:schemeClr val="bg1"/>
                </a:solidFill>
              </a:rPr>
              <a:t>Consistent</a:t>
            </a:r>
            <a:endParaRPr lang="en-US" sz="1100" dirty="0"/>
          </a:p>
        </p:txBody>
      </p:sp>
      <p:sp>
        <p:nvSpPr>
          <p:cNvPr id="27" name="Shape 22"/>
          <p:cNvSpPr/>
          <p:nvPr/>
        </p:nvSpPr>
        <p:spPr>
          <a:xfrm>
            <a:off x="4526280" y="3657600"/>
            <a:ext cx="2377440" cy="310896"/>
          </a:xfrm>
          <a:prstGeom prst="roundRect">
            <a:avLst>
              <a:gd name="adj" fmla="val 35294"/>
            </a:avLst>
          </a:prstGeom>
          <a:solidFill>
            <a:schemeClr val="accent3"/>
          </a:solidFill>
          <a:ln w="9525">
            <a:solidFill>
              <a:schemeClr val="accent3"/>
            </a:solidFill>
            <a:prstDash val="solid"/>
          </a:ln>
        </p:spPr>
      </p:sp>
      <p:sp>
        <p:nvSpPr>
          <p:cNvPr id="28" name="Text 23"/>
          <p:cNvSpPr txBox="1"/>
          <p:nvPr/>
        </p:nvSpPr>
        <p:spPr>
          <a:xfrm>
            <a:off x="4526280" y="3657600"/>
            <a:ext cx="2377440" cy="310896"/>
          </a:xfrm>
          <a:prstGeom prst="rect">
            <a:avLst/>
          </a:prstGeom>
          <a:noFill/>
          <a:ln/>
        </p:spPr>
        <p:txBody>
          <a:bodyPr wrap="square" lIns="0" tIns="0" rIns="0" bIns="0" rtlCol="0" anchor="ctr"/>
          <a:lstStyle/>
          <a:p>
            <a:pPr algn="ctr" indent="0" marL="0">
              <a:buNone/>
            </a:pPr>
            <a:r>
              <a:rPr lang="en-US" sz="1100" b="1" dirty="0">
                <a:solidFill>
                  <a:schemeClr val="bg1"/>
                </a:solidFill>
              </a:rPr>
              <a:t>Not checkable (evidence missing)</a:t>
            </a:r>
            <a:endParaRPr lang="en-US" sz="1100" dirty="0"/>
          </a:p>
        </p:txBody>
      </p:sp>
      <p:sp>
        <p:nvSpPr>
          <p:cNvPr id="29" name="Text 24"/>
          <p:cNvSpPr txBox="1"/>
          <p:nvPr/>
        </p:nvSpPr>
        <p:spPr>
          <a:xfrm>
            <a:off x="457200" y="4069080"/>
            <a:ext cx="8229600" cy="256032"/>
          </a:xfrm>
          <a:prstGeom prst="rect">
            <a:avLst/>
          </a:prstGeom>
          <a:noFill/>
          <a:ln/>
        </p:spPr>
        <p:txBody>
          <a:bodyPr wrap="square" lIns="0" tIns="0" rIns="0" bIns="0" rtlCol="0" anchor="t"/>
          <a:lstStyle/>
          <a:p>
            <a:pPr indent="0" marL="0">
              <a:buNone/>
            </a:pPr>
            <a:r>
              <a:rPr lang="en-US" sz="1100" dirty="0">
                <a:solidFill>
                  <a:schemeClr val="accent2"/>
                </a:solidFill>
              </a:rPr>
              <a:t>Only contradictions add points: high 60, medium 35, low 5. The strongest finding counts in full; each further claim counts half as much.</a:t>
            </a:r>
            <a:endParaRPr lang="en-US" sz="1100" dirty="0"/>
          </a:p>
        </p:txBody>
      </p:sp>
      <p:sp>
        <p:nvSpPr>
          <p:cNvPr id="30" name="Shape 25"/>
          <p:cNvSpPr/>
          <p:nvPr/>
        </p:nvSpPr>
        <p:spPr>
          <a:xfrm>
            <a:off x="457200" y="4407408"/>
            <a:ext cx="2880360" cy="384048"/>
          </a:xfrm>
          <a:prstGeom prst="rect">
            <a:avLst/>
          </a:prstGeom>
          <a:solidFill>
            <a:schemeClr val="accent5"/>
          </a:solidFill>
          <a:ln w="9525">
            <a:solidFill>
              <a:schemeClr val="accent5"/>
            </a:solidFill>
            <a:prstDash val="solid"/>
          </a:ln>
        </p:spPr>
      </p:sp>
      <p:sp>
        <p:nvSpPr>
          <p:cNvPr id="31" name="Text 26"/>
          <p:cNvSpPr txBox="1"/>
          <p:nvPr/>
        </p:nvSpPr>
        <p:spPr>
          <a:xfrm>
            <a:off x="457200" y="4407408"/>
            <a:ext cx="2880360" cy="384048"/>
          </a:xfrm>
          <a:prstGeom prst="rect">
            <a:avLst/>
          </a:prstGeom>
          <a:noFill/>
          <a:ln/>
        </p:spPr>
        <p:txBody>
          <a:bodyPr wrap="square" lIns="0" tIns="0" rIns="0" bIns="0" rtlCol="0" anchor="ctr"/>
          <a:lstStyle/>
          <a:p>
            <a:pPr algn="ctr" indent="0" marL="0">
              <a:buNone/>
            </a:pPr>
            <a:r>
              <a:rPr lang="en-US" sz="1200" b="1" dirty="0">
                <a:solidFill>
                  <a:schemeClr val="bg1"/>
                </a:solidFill>
              </a:rPr>
              <a:t>Low risk: below 35</a:t>
            </a:r>
            <a:endParaRPr lang="en-US" sz="1200" dirty="0"/>
          </a:p>
        </p:txBody>
      </p:sp>
      <p:sp>
        <p:nvSpPr>
          <p:cNvPr id="32" name="Shape 27"/>
          <p:cNvSpPr/>
          <p:nvPr/>
        </p:nvSpPr>
        <p:spPr>
          <a:xfrm>
            <a:off x="3337560" y="4407408"/>
            <a:ext cx="2880360" cy="384048"/>
          </a:xfrm>
          <a:prstGeom prst="rect">
            <a:avLst/>
          </a:prstGeom>
          <a:solidFill>
            <a:schemeClr val="accent1"/>
          </a:solidFill>
          <a:ln w="9525">
            <a:solidFill>
              <a:schemeClr val="accent1"/>
            </a:solidFill>
            <a:prstDash val="solid"/>
          </a:ln>
        </p:spPr>
      </p:sp>
      <p:sp>
        <p:nvSpPr>
          <p:cNvPr id="33" name="Text 28"/>
          <p:cNvSpPr txBox="1"/>
          <p:nvPr/>
        </p:nvSpPr>
        <p:spPr>
          <a:xfrm>
            <a:off x="3337560" y="4407408"/>
            <a:ext cx="2880360" cy="384048"/>
          </a:xfrm>
          <a:prstGeom prst="rect">
            <a:avLst/>
          </a:prstGeom>
          <a:noFill/>
          <a:ln/>
        </p:spPr>
        <p:txBody>
          <a:bodyPr wrap="square" lIns="0" tIns="0" rIns="0" bIns="0" rtlCol="0" anchor="ctr"/>
          <a:lstStyle/>
          <a:p>
            <a:pPr algn="ctr" indent="0" marL="0">
              <a:buNone/>
            </a:pPr>
            <a:r>
              <a:rPr lang="en-US" sz="1200" b="1" dirty="0">
                <a:solidFill>
                  <a:schemeClr val="bg1"/>
                </a:solidFill>
              </a:rPr>
              <a:t>Suspicious: 35 to 69</a:t>
            </a:r>
            <a:endParaRPr lang="en-US" sz="1200" dirty="0"/>
          </a:p>
        </p:txBody>
      </p:sp>
      <p:sp>
        <p:nvSpPr>
          <p:cNvPr id="34" name="Shape 29"/>
          <p:cNvSpPr/>
          <p:nvPr/>
        </p:nvSpPr>
        <p:spPr>
          <a:xfrm>
            <a:off x="6217920" y="4407408"/>
            <a:ext cx="2468880" cy="384048"/>
          </a:xfrm>
          <a:prstGeom prst="rect">
            <a:avLst/>
          </a:prstGeom>
          <a:solidFill>
            <a:schemeClr val="accent4"/>
          </a:solidFill>
          <a:ln w="9525">
            <a:solidFill>
              <a:schemeClr val="accent4"/>
            </a:solidFill>
            <a:prstDash val="solid"/>
          </a:ln>
        </p:spPr>
      </p:sp>
      <p:sp>
        <p:nvSpPr>
          <p:cNvPr id="35" name="Text 30"/>
          <p:cNvSpPr txBox="1"/>
          <p:nvPr/>
        </p:nvSpPr>
        <p:spPr>
          <a:xfrm>
            <a:off x="6217920" y="4407408"/>
            <a:ext cx="2468880" cy="384048"/>
          </a:xfrm>
          <a:prstGeom prst="rect">
            <a:avLst/>
          </a:prstGeom>
          <a:noFill/>
          <a:ln/>
        </p:spPr>
        <p:txBody>
          <a:bodyPr wrap="square" lIns="0" tIns="0" rIns="0" bIns="0" rtlCol="0" anchor="ctr"/>
          <a:lstStyle/>
          <a:p>
            <a:pPr algn="ctr" indent="0" marL="0">
              <a:buNone/>
            </a:pPr>
            <a:r>
              <a:rPr lang="en-US" sz="1200" b="1" dirty="0">
                <a:solidFill>
                  <a:schemeClr val="bg1"/>
                </a:solidFill>
              </a:rPr>
              <a:t>High risk: 70 and above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56032"/>
          </a:xfrm>
          <a:prstGeom prst="rect">
            <a:avLst/>
          </a:prstGeom>
          <a:noFill/>
          <a:ln/>
        </p:spPr>
        <p:txBody>
          <a:bodyPr wrap="square" lIns="0" tIns="0" rIns="0" bIns="0" rtlCol="0" anchor="ctr"/>
          <a:lstStyle/>
          <a:p>
            <a:pPr indent="0" marL="0">
              <a:buNone/>
            </a:pPr>
            <a:r>
              <a:rPr lang="en-US" sz="1000" b="1" spc="200" kern="0" dirty="0">
                <a:solidFill>
                  <a:schemeClr val="accent1"/>
                </a:solidFill>
              </a:rPr>
              <a:t>WORKED EXAMPLE</a:t>
            </a:r>
            <a:endParaRPr lang="en-US" sz="1000" dirty="0"/>
          </a:p>
        </p:txBody>
      </p:sp>
      <p:sp>
        <p:nvSpPr>
          <p:cNvPr id="3" name="Text 0"/>
          <p:cNvSpPr/>
          <p:nvPr>
            <p:ph idx="101" type="title" hasCustomPrompt="1"/>
          </p:nvPr>
        </p:nvSpPr>
        <p:spPr>
          <a:xfrm>
            <a:off x="457200" y="548640"/>
            <a:ext cx="8229600" cy="548640"/>
          </a:xfrm>
          <a:prstGeom prst="rect">
            <a:avLst/>
          </a:prstGeom>
          <a:noFill/>
          <a:ln/>
        </p:spPr>
        <p:txBody>
          <a:bodyPr wrap="square" lIns="0" tIns="0" rIns="0" bIns="0" rtlCol="0" anchor="t"/>
          <a:lstStyle/>
          <a:p>
            <a:pPr algn="l" indent="0" marL="0">
              <a:buNone/>
            </a:pPr>
            <a:r>
              <a:rPr lang="en-US" sz="2400" dirty="0">
                <a:solidFill>
                  <a:schemeClr val="tx1"/>
                </a:solidFill>
              </a:rPr>
              <a:t>The fake David, checked claim by claim</a:t>
            </a:r>
            <a:endParaRPr lang="en-US" sz="2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2194560"/>
                <a:gridCol w="1371600"/>
                <a:gridCol w="2834640"/>
                <a:gridCol w="1828800"/>
              </a:tblGrid>
              <a:tr h="310896">
                <a:tc>
                  <a:txBody>
                    <a:bodyPr/>
                    <a:lstStyle/>
                    <a:p>
                      <a:pPr indent="0" marL="0">
                        <a:buNone/>
                      </a:pPr>
                      <a:r>
                        <a:rPr lang="en-US" sz="1100" b="1" dirty="0">
                          <a:solidFill>
                            <a:schemeClr val="bg1"/>
                          </a:solidFill>
                        </a:rPr>
                        <a:t>Claim found in the body</a:t>
                      </a:r>
                      <a:endParaRPr lang="en-US" sz="1100" dirty="0"/>
                    </a:p>
                  </a:txBody>
                  <a:tcPr marL="88900" marR="88900" marT="63500" marB="6350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rPr>
                        <a:t>Checked by</a:t>
                      </a:r>
                      <a:endParaRPr lang="en-US" sz="1100" dirty="0"/>
                    </a:p>
                  </a:txBody>
                  <a:tcPr marL="88900" marR="88900" marT="63500" marB="6350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rPr>
                        <a:t>Evidence</a:t>
                      </a:r>
                      <a:endParaRPr lang="en-US" sz="1100" dirty="0"/>
                    </a:p>
                  </a:txBody>
                  <a:tcPr marL="88900" marR="88900" marT="63500" marB="6350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rPr>
                        <a:t>Verdict</a:t>
                      </a:r>
                      <a:endParaRPr lang="en-US" sz="1100" dirty="0"/>
                    </a:p>
                  </a:txBody>
                  <a:tcPr marL="88900" marR="88900" marT="63500" marB="6350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chemeClr val="tx2"/>
                    </a:solidFill>
                  </a:tcPr>
                </a:tc>
              </a:tr>
              <a:tr h="566928">
                <a:tc>
                  <a:txBody>
                    <a:bodyPr/>
                    <a:lstStyle/>
                    <a:p>
                      <a:pPr indent="0" marL="0">
                        <a:buNone/>
                      </a:pPr>
                      <a:r>
                        <a:rPr lang="en-US" sz="1100" dirty="0">
                          <a:solidFill>
                            <a:schemeClr val="tx1"/>
                          </a:solidFill>
                        </a:rPr>
                        <a:t>"this is David from Finance"</a:t>
                      </a:r>
                      <a:endParaRPr lang="en-US" sz="1100" dirty="0"/>
                    </a:p>
                    <a:p>
                      <a:pPr indent="0" marL="0">
                        <a:buNone/>
                      </a:pPr>
                      <a:r>
                        <a:rPr lang="en-US" sz="1100" dirty="0">
                          <a:solidFill>
                            <a:schemeClr val="tx1"/>
                          </a:solidFill>
                        </a:rPr>
                        <a:t>(internal affiliation)</a:t>
                      </a:r>
                      <a:endParaRPr lang="en-US" sz="1100" dirty="0"/>
                    </a:p>
                  </a:txBody>
                  <a:tcPr marL="88900" marR="88900" marT="63500" marB="6350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Header verifier</a:t>
                      </a:r>
                      <a:endParaRPr lang="en-US" sz="1100" dirty="0"/>
                    </a:p>
                  </a:txBody>
                  <a:tcPr marL="88900" marR="88900" marT="63500" marB="6350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From gmail.com, a free mailbox; authenticated as gmail.com; organisation acmecorp.com</a:t>
                      </a:r>
                      <a:endParaRPr lang="en-US" sz="1100" dirty="0"/>
                    </a:p>
                  </a:txBody>
                  <a:tcPr marL="88900" marR="88900" marT="63500" marB="6350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chemeClr val="bg1"/>
                    </a:solidFill>
                  </a:tcPr>
                </a:tc>
                <a:tc>
                  <a:txBody>
                    <a:bodyPr/>
                    <a:lstStyle/>
                    <a:p>
                      <a:pPr indent="0" marL="0">
                        <a:buNone/>
                      </a:pPr>
                      <a:r>
                        <a:rPr lang="en-US" sz="1100" b="1" dirty="0">
                          <a:solidFill>
                            <a:schemeClr val="accent4"/>
                          </a:solidFill>
                        </a:rPr>
                        <a:t>Contradiction, high</a:t>
                      </a:r>
                      <a:endParaRPr lang="en-US" sz="1100" dirty="0"/>
                    </a:p>
                    <a:p>
                      <a:pPr indent="0" marL="0">
                        <a:buNone/>
                      </a:pPr>
                      <a:r>
                        <a:rPr lang="en-US" sz="1100" b="1" dirty="0">
                          <a:solidFill>
                            <a:schemeClr val="accent4"/>
                          </a:solidFill>
                        </a:rPr>
                        <a:t>60 points</a:t>
                      </a:r>
                      <a:endParaRPr lang="en-US" sz="1100" dirty="0"/>
                    </a:p>
                  </a:txBody>
                  <a:tcPr marL="88900" marR="88900" marT="63500" marB="6350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chemeClr val="bg1"/>
                    </a:solidFill>
                  </a:tcPr>
                </a:tc>
              </a:tr>
              <a:tr h="566928">
                <a:tc>
                  <a:txBody>
                    <a:bodyPr/>
                    <a:lstStyle/>
                    <a:p>
                      <a:pPr indent="0" marL="0">
                        <a:buNone/>
                      </a:pPr>
                      <a:r>
                        <a:rPr lang="en-US" sz="1100" dirty="0">
                          <a:solidFill>
                            <a:schemeClr val="tx1"/>
                          </a:solidFill>
                        </a:rPr>
                        <a:t>"process a wire"</a:t>
                      </a:r>
                      <a:endParaRPr lang="en-US" sz="1100" dirty="0"/>
                    </a:p>
                    <a:p>
                      <a:pPr indent="0" marL="0">
                        <a:buNone/>
                      </a:pPr>
                      <a:r>
                        <a:rPr lang="en-US" sz="1100" dirty="0">
                          <a:solidFill>
                            <a:schemeClr val="tx1"/>
                          </a:solidFill>
                        </a:rPr>
                        <a:t>(payment request)</a:t>
                      </a:r>
                      <a:endParaRPr lang="en-US" sz="1100" dirty="0"/>
                    </a:p>
                  </a:txBody>
                  <a:tcPr marL="88900" marR="88900" marT="63500" marB="6350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Request verifier</a:t>
                      </a:r>
                      <a:endParaRPr lang="en-US" sz="1100" dirty="0"/>
                    </a:p>
                  </a:txBody>
                  <a:tcPr marL="88900" marR="88900" marT="63500" marB="6350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Payment request from a free mailbox outside acmecorp.com</a:t>
                      </a:r>
                      <a:endParaRPr lang="en-US" sz="1100" dirty="0"/>
                    </a:p>
                  </a:txBody>
                  <a:tcPr marL="88900" marR="88900" marT="63500" marB="6350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chemeClr val="bg1"/>
                    </a:solidFill>
                  </a:tcPr>
                </a:tc>
                <a:tc>
                  <a:txBody>
                    <a:bodyPr/>
                    <a:lstStyle/>
                    <a:p>
                      <a:pPr indent="0" marL="0">
                        <a:buNone/>
                      </a:pPr>
                      <a:r>
                        <a:rPr lang="en-US" sz="1100" b="1" dirty="0">
                          <a:solidFill>
                            <a:schemeClr val="accent4"/>
                          </a:solidFill>
                        </a:rPr>
                        <a:t>Contradiction, high</a:t>
                      </a:r>
                      <a:endParaRPr lang="en-US" sz="1100" dirty="0"/>
                    </a:p>
                    <a:p>
                      <a:pPr indent="0" marL="0">
                        <a:buNone/>
                      </a:pPr>
                      <a:r>
                        <a:rPr lang="en-US" sz="1100" b="1" dirty="0">
                          <a:solidFill>
                            <a:schemeClr val="accent4"/>
                          </a:solidFill>
                        </a:rPr>
                        <a:t>+30 points (counts half)</a:t>
                      </a:r>
                      <a:endParaRPr lang="en-US" sz="1100" dirty="0"/>
                    </a:p>
                  </a:txBody>
                  <a:tcPr marL="88900" marR="88900" marT="63500" marB="6350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chemeClr val="bg1"/>
                    </a:solidFill>
                  </a:tcPr>
                </a:tc>
              </a:tr>
            </a:tbl>
          </a:graphicData>
        </a:graphic>
      </p:graphicFrame>
      <p:sp>
        <p:nvSpPr>
          <p:cNvPr id="5" name="Score card"/>
          <p:cNvSpPr/>
          <p:nvPr/>
        </p:nvSpPr>
        <p:spPr>
          <a:xfrm>
            <a:off x="457200" y="2971800"/>
            <a:ext cx="2377440" cy="1874520"/>
          </a:xfrm>
          <a:prstGeom prst="rect">
            <a:avLst/>
          </a:prstGeom>
          <a:solidFill>
            <a:schemeClr val="tx2"/>
          </a:solidFill>
          <a:ln w="9525">
            <a:solidFill>
              <a:schemeClr val="tx2"/>
            </a:solidFill>
            <a:prstDash val="solid"/>
          </a:ln>
        </p:spPr>
      </p:sp>
      <p:sp>
        <p:nvSpPr>
          <p:cNvPr id="6" name="Text 3"/>
          <p:cNvSpPr txBox="1"/>
          <p:nvPr/>
        </p:nvSpPr>
        <p:spPr>
          <a:xfrm>
            <a:off x="457200" y="3063240"/>
            <a:ext cx="2377440" cy="868680"/>
          </a:xfrm>
          <a:prstGeom prst="rect">
            <a:avLst/>
          </a:prstGeom>
          <a:noFill/>
          <a:ln/>
        </p:spPr>
        <p:txBody>
          <a:bodyPr wrap="square" lIns="0" tIns="0" rIns="0" bIns="0" rtlCol="0" anchor="ctr"/>
          <a:lstStyle/>
          <a:p>
            <a:pPr algn="ctr" indent="0" marL="0">
              <a:buNone/>
            </a:pPr>
            <a:r>
              <a:rPr lang="en-US" sz="5400" b="1" dirty="0">
                <a:solidFill>
                  <a:schemeClr val="accent1"/>
                </a:solidFill>
                <a:latin typeface="+mj-lt" pitchFamily="34" charset="0"/>
                <a:ea typeface="+mj-lt" pitchFamily="34" charset="-122"/>
                <a:cs typeface="+mj-lt" pitchFamily="34" charset="-120"/>
              </a:rPr>
              <a:t>90</a:t>
            </a:r>
            <a:endParaRPr lang="en-US" sz="5400" dirty="0"/>
          </a:p>
        </p:txBody>
      </p:sp>
      <p:sp>
        <p:nvSpPr>
          <p:cNvPr id="7" name="Text 4"/>
          <p:cNvSpPr txBox="1"/>
          <p:nvPr/>
        </p:nvSpPr>
        <p:spPr>
          <a:xfrm>
            <a:off x="457200" y="3931920"/>
            <a:ext cx="2377440" cy="320040"/>
          </a:xfrm>
          <a:prstGeom prst="rect">
            <a:avLst/>
          </a:prstGeom>
          <a:noFill/>
          <a:ln/>
        </p:spPr>
        <p:txBody>
          <a:bodyPr wrap="square" lIns="0" tIns="0" rIns="0" bIns="0" rtlCol="0" anchor="t"/>
          <a:lstStyle/>
          <a:p>
            <a:pPr algn="ctr" indent="0" marL="0">
              <a:buNone/>
            </a:pPr>
            <a:r>
              <a:rPr lang="en-US" sz="1600" b="1" dirty="0">
                <a:solidFill>
                  <a:schemeClr val="bg1"/>
                </a:solidFill>
              </a:rPr>
              <a:t>High risk</a:t>
            </a:r>
            <a:endParaRPr lang="en-US" sz="1600" dirty="0"/>
          </a:p>
        </p:txBody>
      </p:sp>
      <p:sp>
        <p:nvSpPr>
          <p:cNvPr id="8" name="Text 5"/>
          <p:cNvSpPr txBox="1"/>
          <p:nvPr/>
        </p:nvSpPr>
        <p:spPr>
          <a:xfrm>
            <a:off x="457200" y="4251960"/>
            <a:ext cx="2377440" cy="274320"/>
          </a:xfrm>
          <a:prstGeom prst="rect">
            <a:avLst/>
          </a:prstGeom>
          <a:noFill/>
          <a:ln/>
        </p:spPr>
        <p:txBody>
          <a:bodyPr wrap="square" lIns="0" tIns="0" rIns="0" bIns="0" rtlCol="0" anchor="t"/>
          <a:lstStyle/>
          <a:p>
            <a:pPr algn="ctr" indent="0" marL="0">
              <a:buNone/>
            </a:pPr>
            <a:r>
              <a:rPr lang="en-US" sz="1100" dirty="0">
                <a:solidFill>
                  <a:schemeClr val="accent6"/>
                </a:solidFill>
              </a:rPr>
              <a:t>before any tactic counts</a:t>
            </a:r>
            <a:endParaRPr lang="en-US" sz="1100" dirty="0"/>
          </a:p>
        </p:txBody>
      </p:sp>
      <p:sp>
        <p:nvSpPr>
          <p:cNvPr id="9" name="Text 6"/>
          <p:cNvSpPr txBox="1"/>
          <p:nvPr/>
        </p:nvSpPr>
        <p:spPr>
          <a:xfrm>
            <a:off x="3108960" y="3017520"/>
            <a:ext cx="5577840" cy="960120"/>
          </a:xfrm>
          <a:prstGeom prst="rect">
            <a:avLst/>
          </a:prstGeom>
          <a:noFill/>
          <a:ln/>
        </p:spPr>
        <p:txBody>
          <a:bodyPr wrap="square" lIns="0" tIns="0" rIns="0" bIns="0" rtlCol="0" anchor="t"/>
          <a:lstStyle/>
          <a:p>
            <a:pPr indent="0" marL="0">
              <a:spcAft>
                <a:spcPts val="200"/>
              </a:spcAft>
              <a:buNone/>
            </a:pPr>
            <a:r>
              <a:rPr lang="en-US" sz="1150" b="1" dirty="0">
                <a:solidFill>
                  <a:schemeClr val="tx1"/>
                </a:solidFill>
              </a:rPr>
              <a:t>How the score adds up</a:t>
            </a:r>
            <a:endParaRPr lang="en-US" sz="1150" dirty="0"/>
          </a:p>
          <a:p>
            <a:pPr marL="177800" indent="-177800">
              <a:spcAft>
                <a:spcPts val="200"/>
              </a:spcAft>
              <a:buSzPct val="100000"/>
              <a:buChar char="•"/>
            </a:pPr>
            <a:r>
              <a:rPr lang="en-US" sz="1150" dirty="0">
                <a:solidFill>
                  <a:schemeClr val="tx1"/>
                </a:solidFill>
              </a:rPr>
              <a:t>Strongest claim, a high contradiction: 60 points.</a:t>
            </a:r>
            <a:endParaRPr lang="en-US" sz="1150" dirty="0"/>
          </a:p>
          <a:p>
            <a:pPr marL="177800" indent="-177800">
              <a:spcAft>
                <a:spcPts val="200"/>
              </a:spcAft>
              <a:buSzPct val="100000"/>
              <a:buChar char="•"/>
            </a:pPr>
            <a:r>
              <a:rPr lang="en-US" sz="1150" dirty="0">
                <a:solidFill>
                  <a:schemeClr val="tx1"/>
                </a:solidFill>
              </a:rPr>
              <a:t>Second claim, also high, counts half: 30 points.</a:t>
            </a:r>
            <a:endParaRPr lang="en-US" sz="1150" dirty="0"/>
          </a:p>
          <a:p>
            <a:pPr marL="177800" indent="-177800">
              <a:spcAft>
                <a:spcPts val="200"/>
              </a:spcAft>
              <a:buSzPct val="100000"/>
              <a:buChar char="•"/>
            </a:pPr>
            <a:r>
              <a:rPr lang="en-US" sz="1150" dirty="0">
                <a:solidFill>
                  <a:schemeClr val="tx1"/>
                </a:solidFill>
              </a:rPr>
              <a:t>Urgency and secrecy, when detected, raise it further; the score is capped at 100.</a:t>
            </a:r>
            <a:endParaRPr lang="en-US" sz="1150" dirty="0"/>
          </a:p>
        </p:txBody>
      </p:sp>
      <p:sp>
        <p:nvSpPr>
          <p:cNvPr id="10" name="Reply-To note"/>
          <p:cNvSpPr/>
          <p:nvPr/>
        </p:nvSpPr>
        <p:spPr>
          <a:xfrm>
            <a:off x="3108960" y="4023360"/>
            <a:ext cx="5577840" cy="822960"/>
          </a:xfrm>
          <a:prstGeom prst="rect">
            <a:avLst/>
          </a:prstGeom>
          <a:solidFill>
            <a:schemeClr val="bg1"/>
          </a:solidFill>
          <a:ln w="9525">
            <a:solidFill>
              <a:schemeClr val="accent6"/>
            </a:solidFill>
            <a:prstDash val="solid"/>
          </a:ln>
        </p:spPr>
      </p:sp>
      <p:sp>
        <p:nvSpPr>
          <p:cNvPr id="11" name="Text 8"/>
          <p:cNvSpPr txBox="1"/>
          <p:nvPr/>
        </p:nvSpPr>
        <p:spPr>
          <a:xfrm>
            <a:off x="3246120" y="4087368"/>
            <a:ext cx="5303520" cy="713232"/>
          </a:xfrm>
          <a:prstGeom prst="rect">
            <a:avLst/>
          </a:prstGeom>
          <a:noFill/>
          <a:ln/>
        </p:spPr>
        <p:txBody>
          <a:bodyPr wrap="square" lIns="0" tIns="0" rIns="0" bIns="0" rtlCol="0" anchor="ctr"/>
          <a:lstStyle/>
          <a:p>
            <a:pPr indent="0" marL="0">
              <a:buNone/>
            </a:pPr>
            <a:r>
              <a:rPr lang="en-US" sz="1050" b="1" dirty="0">
                <a:solidFill>
                  <a:schemeClr val="accent2"/>
                </a:solidFill>
              </a:rPr>
              <a:t>Why no row for the Reply-To? </a:t>
            </a:r>
            <a:pPr indent="0" marL="0">
              <a:buNone/>
            </a:pPr>
            <a:r>
              <a:rPr lang="en-US" sz="1050" dirty="0">
                <a:solidFill>
                  <a:schemeClr val="accent2"/>
                </a:solidFill>
              </a:rPr>
              <a:t>It sends answers to protonmail.com, but the body makes no claim about where replies should go, so it appears in the findings and adds no row. The claim decides what a header means.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56032"/>
          </a:xfrm>
          <a:prstGeom prst="rect">
            <a:avLst/>
          </a:prstGeom>
          <a:noFill/>
          <a:ln/>
        </p:spPr>
        <p:txBody>
          <a:bodyPr wrap="square" lIns="0" tIns="0" rIns="0" bIns="0" rtlCol="0" anchor="ctr"/>
          <a:lstStyle/>
          <a:p>
            <a:pPr indent="0" marL="0">
              <a:buNone/>
            </a:pPr>
            <a:r>
              <a:rPr lang="en-US" sz="1000" b="1" spc="200" kern="0" dirty="0">
                <a:solidFill>
                  <a:schemeClr val="accent1"/>
                </a:solidFill>
              </a:rPr>
              <a:t>WORKED EXAMPLE</a:t>
            </a:r>
            <a:endParaRPr lang="en-US" sz="1000" dirty="0"/>
          </a:p>
        </p:txBody>
      </p:sp>
      <p:sp>
        <p:nvSpPr>
          <p:cNvPr id="3" name="Text 0"/>
          <p:cNvSpPr/>
          <p:nvPr>
            <p:ph idx="101" type="title" hasCustomPrompt="1"/>
          </p:nvPr>
        </p:nvSpPr>
        <p:spPr>
          <a:xfrm>
            <a:off x="457200" y="548640"/>
            <a:ext cx="8229600" cy="548640"/>
          </a:xfrm>
          <a:prstGeom prst="rect">
            <a:avLst/>
          </a:prstGeom>
          <a:noFill/>
          <a:ln/>
        </p:spPr>
        <p:txBody>
          <a:bodyPr wrap="square" lIns="0" tIns="0" rIns="0" bIns="0" rtlCol="0" anchor="t"/>
          <a:lstStyle/>
          <a:p>
            <a:pPr algn="l" indent="0" marL="0">
              <a:buNone/>
            </a:pPr>
            <a:r>
              <a:rPr lang="en-US" sz="2400" dirty="0">
                <a:solidFill>
                  <a:schemeClr val="tx1"/>
                </a:solidFill>
              </a:rPr>
              <a:t>A hijacked supplier thread</a:t>
            </a:r>
            <a:endParaRPr lang="en-US" sz="2400" dirty="0"/>
          </a:p>
        </p:txBody>
      </p:sp>
      <p:sp>
        <p:nvSpPr>
          <p:cNvPr id="4" name="Shape 2"/>
          <p:cNvSpPr/>
          <p:nvPr/>
        </p:nvSpPr>
        <p:spPr>
          <a:xfrm>
            <a:off x="749808" y="1463040"/>
            <a:ext cx="0" cy="1280160"/>
          </a:xfrm>
          <a:prstGeom prst="line">
            <a:avLst/>
          </a:prstGeom>
          <a:noFill/>
          <a:ln w="15875">
            <a:solidFill>
              <a:schemeClr val="accent3"/>
            </a:solidFill>
            <a:prstDash val="dash"/>
          </a:ln>
        </p:spPr>
      </p:sp>
      <p:sp>
        <p:nvSpPr>
          <p:cNvPr id="5" name="Shape 3"/>
          <p:cNvSpPr/>
          <p:nvPr/>
        </p:nvSpPr>
        <p:spPr>
          <a:xfrm>
            <a:off x="557784" y="1280160"/>
            <a:ext cx="384048" cy="329184"/>
          </a:xfrm>
          <a:prstGeom prst="roundRect">
            <a:avLst>
              <a:gd name="adj" fmla="val 50000"/>
            </a:avLst>
          </a:prstGeom>
          <a:solidFill>
            <a:schemeClr val="accent3"/>
          </a:solidFill>
          <a:ln w="9525">
            <a:solidFill>
              <a:schemeClr val="accent3"/>
            </a:solidFill>
            <a:prstDash val="solid"/>
          </a:ln>
        </p:spPr>
      </p:sp>
      <p:sp>
        <p:nvSpPr>
          <p:cNvPr id="6" name="Text 4"/>
          <p:cNvSpPr txBox="1"/>
          <p:nvPr/>
        </p:nvSpPr>
        <p:spPr>
          <a:xfrm>
            <a:off x="557784" y="1280160"/>
            <a:ext cx="384048" cy="329184"/>
          </a:xfrm>
          <a:prstGeom prst="rect">
            <a:avLst/>
          </a:prstGeom>
          <a:noFill/>
          <a:ln/>
        </p:spPr>
        <p:txBody>
          <a:bodyPr wrap="square" lIns="0" tIns="0" rIns="0" bIns="0" rtlCol="0" anchor="ctr"/>
          <a:lstStyle/>
          <a:p>
            <a:pPr algn="ctr" indent="0" marL="0">
              <a:buNone/>
            </a:pPr>
            <a:r>
              <a:rPr lang="en-US" sz="1050" b="1" dirty="0">
                <a:solidFill>
                  <a:schemeClr val="bg1"/>
                </a:solidFill>
              </a:rPr>
              <a:t>1</a:t>
            </a:r>
            <a:endParaRPr lang="en-US" sz="1050" dirty="0"/>
          </a:p>
        </p:txBody>
      </p:sp>
      <p:sp>
        <p:nvSpPr>
          <p:cNvPr id="7" name="Text 5"/>
          <p:cNvSpPr txBox="1"/>
          <p:nvPr/>
        </p:nvSpPr>
        <p:spPr>
          <a:xfrm>
            <a:off x="1234440" y="1298448"/>
            <a:ext cx="3154680" cy="502920"/>
          </a:xfrm>
          <a:prstGeom prst="rect">
            <a:avLst/>
          </a:prstGeom>
          <a:noFill/>
          <a:ln/>
        </p:spPr>
        <p:txBody>
          <a:bodyPr wrap="square" lIns="0" tIns="0" rIns="0" bIns="0" rtlCol="0" anchor="t"/>
          <a:lstStyle/>
          <a:p>
            <a:pPr indent="0" marL="0">
              <a:buNone/>
            </a:pPr>
            <a:r>
              <a:rPr lang="en-US" sz="1150" dirty="0">
                <a:solidFill>
                  <a:schemeClr val="tx1"/>
                </a:solidFill>
              </a:rPr>
              <a:t>Marta, the supplier, sends invoice 4471 with the usual bank account.</a:t>
            </a:r>
            <a:endParaRPr lang="en-US" sz="1150" dirty="0"/>
          </a:p>
        </p:txBody>
      </p:sp>
      <p:sp>
        <p:nvSpPr>
          <p:cNvPr id="8" name="Shape 6"/>
          <p:cNvSpPr/>
          <p:nvPr/>
        </p:nvSpPr>
        <p:spPr>
          <a:xfrm>
            <a:off x="420624" y="1965960"/>
            <a:ext cx="658368" cy="329184"/>
          </a:xfrm>
          <a:prstGeom prst="roundRect">
            <a:avLst>
              <a:gd name="adj" fmla="val 50000"/>
            </a:avLst>
          </a:prstGeom>
          <a:solidFill>
            <a:schemeClr val="accent3"/>
          </a:solidFill>
          <a:ln w="9525">
            <a:solidFill>
              <a:schemeClr val="accent3"/>
            </a:solidFill>
            <a:prstDash val="solid"/>
          </a:ln>
        </p:spPr>
      </p:sp>
      <p:sp>
        <p:nvSpPr>
          <p:cNvPr id="9" name="Text 7"/>
          <p:cNvSpPr txBox="1"/>
          <p:nvPr/>
        </p:nvSpPr>
        <p:spPr>
          <a:xfrm>
            <a:off x="420624" y="1965960"/>
            <a:ext cx="658368" cy="329184"/>
          </a:xfrm>
          <a:prstGeom prst="rect">
            <a:avLst/>
          </a:prstGeom>
          <a:noFill/>
          <a:ln/>
        </p:spPr>
        <p:txBody>
          <a:bodyPr wrap="square" lIns="0" tIns="0" rIns="0" bIns="0" rtlCol="0" anchor="ctr"/>
          <a:lstStyle/>
          <a:p>
            <a:pPr algn="ctr" indent="0" marL="0">
              <a:buNone/>
            </a:pPr>
            <a:r>
              <a:rPr lang="en-US" sz="1050" b="1" dirty="0">
                <a:solidFill>
                  <a:schemeClr val="bg1"/>
                </a:solidFill>
              </a:rPr>
              <a:t>2 to 4</a:t>
            </a:r>
            <a:endParaRPr lang="en-US" sz="1050" dirty="0"/>
          </a:p>
        </p:txBody>
      </p:sp>
      <p:sp>
        <p:nvSpPr>
          <p:cNvPr id="10" name="Text 8"/>
          <p:cNvSpPr txBox="1"/>
          <p:nvPr/>
        </p:nvSpPr>
        <p:spPr>
          <a:xfrm>
            <a:off x="1234440" y="1984248"/>
            <a:ext cx="3154680" cy="502920"/>
          </a:xfrm>
          <a:prstGeom prst="rect">
            <a:avLst/>
          </a:prstGeom>
          <a:noFill/>
          <a:ln/>
        </p:spPr>
        <p:txBody>
          <a:bodyPr wrap="square" lIns="0" tIns="0" rIns="0" bIns="0" rtlCol="0" anchor="t"/>
          <a:lstStyle/>
          <a:p>
            <a:pPr indent="0" marL="0">
              <a:buNone/>
            </a:pPr>
            <a:r>
              <a:rPr lang="en-US" sz="1150" dirty="0">
                <a:solidFill>
                  <a:schemeClr val="tx1"/>
                </a:solidFill>
              </a:rPr>
              <a:t>An ordinary exchange about delivery and a return fee.</a:t>
            </a:r>
            <a:endParaRPr lang="en-US" sz="1150" dirty="0"/>
          </a:p>
        </p:txBody>
      </p:sp>
      <p:sp>
        <p:nvSpPr>
          <p:cNvPr id="11" name="Shape 9"/>
          <p:cNvSpPr/>
          <p:nvPr/>
        </p:nvSpPr>
        <p:spPr>
          <a:xfrm>
            <a:off x="557784" y="2743200"/>
            <a:ext cx="384048" cy="329184"/>
          </a:xfrm>
          <a:prstGeom prst="roundRect">
            <a:avLst>
              <a:gd name="adj" fmla="val 50000"/>
            </a:avLst>
          </a:prstGeom>
          <a:solidFill>
            <a:schemeClr val="accent4"/>
          </a:solidFill>
          <a:ln w="9525">
            <a:solidFill>
              <a:schemeClr val="accent4"/>
            </a:solidFill>
            <a:prstDash val="solid"/>
          </a:ln>
        </p:spPr>
      </p:sp>
      <p:sp>
        <p:nvSpPr>
          <p:cNvPr id="12" name="Text 10"/>
          <p:cNvSpPr txBox="1"/>
          <p:nvPr/>
        </p:nvSpPr>
        <p:spPr>
          <a:xfrm>
            <a:off x="557784" y="2743200"/>
            <a:ext cx="384048" cy="329184"/>
          </a:xfrm>
          <a:prstGeom prst="rect">
            <a:avLst/>
          </a:prstGeom>
          <a:noFill/>
          <a:ln/>
        </p:spPr>
        <p:txBody>
          <a:bodyPr wrap="square" lIns="0" tIns="0" rIns="0" bIns="0" rtlCol="0" anchor="ctr"/>
          <a:lstStyle/>
          <a:p>
            <a:pPr algn="ctr" indent="0" marL="0">
              <a:buNone/>
            </a:pPr>
            <a:r>
              <a:rPr lang="en-US" sz="1050" b="1" dirty="0">
                <a:solidFill>
                  <a:schemeClr val="bg1"/>
                </a:solidFill>
              </a:rPr>
              <a:t>5</a:t>
            </a:r>
            <a:endParaRPr lang="en-US" sz="1050" dirty="0"/>
          </a:p>
        </p:txBody>
      </p:sp>
      <p:sp>
        <p:nvSpPr>
          <p:cNvPr id="13" name="Message 5"/>
          <p:cNvSpPr/>
          <p:nvPr/>
        </p:nvSpPr>
        <p:spPr>
          <a:xfrm>
            <a:off x="1143000" y="2697480"/>
            <a:ext cx="3291840" cy="1600200"/>
          </a:xfrm>
          <a:prstGeom prst="rect">
            <a:avLst/>
          </a:prstGeom>
          <a:solidFill>
            <a:schemeClr val="bg1"/>
          </a:solidFill>
          <a:ln w="15875">
            <a:solidFill>
              <a:schemeClr val="accent4"/>
            </a:solidFill>
            <a:prstDash val="solid"/>
          </a:ln>
        </p:spPr>
      </p:sp>
      <p:sp>
        <p:nvSpPr>
          <p:cNvPr id="14" name="Text 12"/>
          <p:cNvSpPr txBox="1"/>
          <p:nvPr/>
        </p:nvSpPr>
        <p:spPr>
          <a:xfrm>
            <a:off x="1280160" y="2788920"/>
            <a:ext cx="3063240" cy="1463040"/>
          </a:xfrm>
          <a:prstGeom prst="rect">
            <a:avLst/>
          </a:prstGeom>
          <a:noFill/>
          <a:ln/>
        </p:spPr>
        <p:txBody>
          <a:bodyPr wrap="square" lIns="0" tIns="0" rIns="0" bIns="0" rtlCol="0" anchor="t"/>
          <a:lstStyle/>
          <a:p>
            <a:pPr indent="0" marL="0">
              <a:spcAft>
                <a:spcPts val="500"/>
              </a:spcAft>
              <a:buNone/>
            </a:pPr>
            <a:r>
              <a:rPr lang="en-US" sz="1100" b="1" dirty="0">
                <a:solidFill>
                  <a:schemeClr val="tx1"/>
                </a:solidFill>
              </a:rPr>
              <a:t>From Marta's real address. SPF, DKIM and DMARC pass.</a:t>
            </a:r>
            <a:endParaRPr lang="en-US" sz="1100" dirty="0"/>
          </a:p>
          <a:p>
            <a:pPr indent="0" marL="0">
              <a:spcAft>
                <a:spcPts val="500"/>
              </a:spcAft>
              <a:buNone/>
            </a:pPr>
            <a:r>
              <a:rPr lang="en-US" sz="1100" i="1" dirty="0">
                <a:solidFill>
                  <a:schemeClr val="accent2"/>
                </a:solidFill>
              </a:rPr>
              <a:t>"Our bank has changed this week ... Please use our new account for invoice 4471 ... Pay today, it is urgent ... please do not mention it to anyone at our company and reply only to me."</a:t>
            </a:r>
            <a:endParaRPr lang="en-US" sz="1100" dirty="0"/>
          </a:p>
        </p:txBody>
      </p:sp>
      <p:sp>
        <p:nvSpPr>
          <p:cNvPr id="15" name="Text 13"/>
          <p:cNvSpPr txBox="1"/>
          <p:nvPr/>
        </p:nvSpPr>
        <p:spPr>
          <a:xfrm>
            <a:off x="4754880" y="1234440"/>
            <a:ext cx="3931920" cy="201168"/>
          </a:xfrm>
          <a:prstGeom prst="rect">
            <a:avLst/>
          </a:prstGeom>
          <a:noFill/>
          <a:ln/>
        </p:spPr>
        <p:txBody>
          <a:bodyPr wrap="square" lIns="0" tIns="0" rIns="0" bIns="0" rtlCol="0" anchor="ctr"/>
          <a:lstStyle/>
          <a:p>
            <a:pPr indent="0" marL="0">
              <a:buNone/>
            </a:pPr>
            <a:r>
              <a:rPr lang="en-US" sz="900" b="1" spc="150" kern="0" dirty="0">
                <a:solidFill>
                  <a:schemeClr val="accent1"/>
                </a:solidFill>
              </a:rPr>
              <a:t>WHAT THE THREAD VERIFIER SEES</a:t>
            </a:r>
            <a:endParaRPr lang="en-US" sz="900" dirty="0"/>
          </a:p>
        </p:txBody>
      </p:sp>
      <p:sp>
        <p:nvSpPr>
          <p:cNvPr id="16" name="Shape 14"/>
          <p:cNvSpPr/>
          <p:nvPr/>
        </p:nvSpPr>
        <p:spPr>
          <a:xfrm>
            <a:off x="4754880" y="1563624"/>
            <a:ext cx="256032" cy="256032"/>
          </a:xfrm>
          <a:prstGeom prst="ellipse">
            <a:avLst/>
          </a:prstGeom>
          <a:solidFill>
            <a:srgbClr val="A23B2A"/>
          </a:solidFill>
          <a:ln w="6350">
            <a:solidFill>
              <a:srgbClr val="A23B2A"/>
            </a:solidFill>
            <a:prstDash val="solid"/>
          </a:ln>
        </p:spPr>
      </p:sp>
      <p:pic>
        <p:nvPicPr>
          <p:cNvPr id="17" name="Image 0" descr="preencoded.png">    </p:cNvPr>
          <p:cNvPicPr>
            <a:picLocks noChangeAspect="1"/>
          </p:cNvPicPr>
          <p:nvPr/>
        </p:nvPicPr>
        <p:blipFill>
          <a:blip r:embed="rId1"/>
          <a:stretch>
            <a:fillRect/>
          </a:stretch>
        </p:blipFill>
        <p:spPr>
          <a:xfrm>
            <a:off x="4818888" y="1627632"/>
            <a:ext cx="128016" cy="128016"/>
          </a:xfrm>
          <a:prstGeom prst="rect">
            <a:avLst/>
          </a:prstGeom>
        </p:spPr>
      </p:pic>
      <p:sp>
        <p:nvSpPr>
          <p:cNvPr id="18" name="Text 15"/>
          <p:cNvSpPr txBox="1"/>
          <p:nvPr/>
        </p:nvSpPr>
        <p:spPr>
          <a:xfrm>
            <a:off x="5120640" y="1536192"/>
            <a:ext cx="3566160" cy="502920"/>
          </a:xfrm>
          <a:prstGeom prst="rect">
            <a:avLst/>
          </a:prstGeom>
          <a:noFill/>
          <a:ln/>
        </p:spPr>
        <p:txBody>
          <a:bodyPr wrap="square" lIns="0" tIns="0" rIns="0" bIns="0" rtlCol="0" anchor="t"/>
          <a:lstStyle/>
          <a:p>
            <a:pPr indent="0" marL="0">
              <a:buNone/>
            </a:pPr>
            <a:r>
              <a:rPr lang="en-US" sz="1100" b="1" dirty="0">
                <a:solidFill>
                  <a:schemeClr val="tx1"/>
                </a:solidFill>
              </a:rPr>
              <a:t>Request drift: </a:t>
            </a:r>
            <a:pPr indent="0" marL="0">
              <a:buNone/>
            </a:pPr>
            <a:r>
              <a:rPr lang="en-US" sz="1100" dirty="0">
                <a:solidFill>
                  <a:schemeClr val="tx1"/>
                </a:solidFill>
              </a:rPr>
              <a:t>a bank account that never appeared in the thread replaces the usual one</a:t>
            </a:r>
            <a:endParaRPr lang="en-US" sz="1100" dirty="0"/>
          </a:p>
        </p:txBody>
      </p:sp>
      <p:sp>
        <p:nvSpPr>
          <p:cNvPr id="19" name="Shape 16"/>
          <p:cNvSpPr/>
          <p:nvPr/>
        </p:nvSpPr>
        <p:spPr>
          <a:xfrm>
            <a:off x="4754880" y="2112264"/>
            <a:ext cx="256032" cy="256032"/>
          </a:xfrm>
          <a:prstGeom prst="ellipse">
            <a:avLst/>
          </a:prstGeom>
          <a:solidFill>
            <a:srgbClr val="A23B2A"/>
          </a:solidFill>
          <a:ln w="6350">
            <a:solidFill>
              <a:srgbClr val="A23B2A"/>
            </a:solidFill>
            <a:prstDash val="solid"/>
          </a:ln>
        </p:spPr>
      </p:sp>
      <p:pic>
        <p:nvPicPr>
          <p:cNvPr id="20" name="Image 1" descr="preencoded.png">    </p:cNvPr>
          <p:cNvPicPr>
            <a:picLocks noChangeAspect="1"/>
          </p:cNvPicPr>
          <p:nvPr/>
        </p:nvPicPr>
        <p:blipFill>
          <a:blip r:embed="rId2"/>
          <a:stretch>
            <a:fillRect/>
          </a:stretch>
        </p:blipFill>
        <p:spPr>
          <a:xfrm>
            <a:off x="4818888" y="2176272"/>
            <a:ext cx="128016" cy="128016"/>
          </a:xfrm>
          <a:prstGeom prst="rect">
            <a:avLst/>
          </a:prstGeom>
        </p:spPr>
      </p:pic>
      <p:sp>
        <p:nvSpPr>
          <p:cNvPr id="21" name="Text 17"/>
          <p:cNvSpPr txBox="1"/>
          <p:nvPr/>
        </p:nvSpPr>
        <p:spPr>
          <a:xfrm>
            <a:off x="5120640" y="2084832"/>
            <a:ext cx="3566160" cy="502920"/>
          </a:xfrm>
          <a:prstGeom prst="rect">
            <a:avLst/>
          </a:prstGeom>
          <a:noFill/>
          <a:ln/>
        </p:spPr>
        <p:txBody>
          <a:bodyPr wrap="square" lIns="0" tIns="0" rIns="0" bIns="0" rtlCol="0" anchor="t"/>
          <a:lstStyle/>
          <a:p>
            <a:pPr indent="0" marL="0">
              <a:buNone/>
            </a:pPr>
            <a:r>
              <a:rPr lang="en-US" sz="1100" b="1" dirty="0">
                <a:solidFill>
                  <a:schemeClr val="tx1"/>
                </a:solidFill>
              </a:rPr>
              <a:t>Tactic onset: </a:t>
            </a:r>
            <a:pPr indent="0" marL="0">
              <a:buNone/>
            </a:pPr>
            <a:r>
              <a:rPr lang="en-US" sz="1100" dirty="0">
                <a:solidFill>
                  <a:schemeClr val="tx1"/>
                </a:solidFill>
              </a:rPr>
              <a:t>urgency and secrecy appear for the first time</a:t>
            </a:r>
            <a:endParaRPr lang="en-US" sz="1100" dirty="0"/>
          </a:p>
        </p:txBody>
      </p:sp>
      <p:sp>
        <p:nvSpPr>
          <p:cNvPr id="22" name="Shape 18"/>
          <p:cNvSpPr/>
          <p:nvPr/>
        </p:nvSpPr>
        <p:spPr>
          <a:xfrm>
            <a:off x="4754880" y="2660904"/>
            <a:ext cx="256032" cy="256032"/>
          </a:xfrm>
          <a:prstGeom prst="ellipse">
            <a:avLst/>
          </a:prstGeom>
          <a:solidFill>
            <a:srgbClr val="A23B2A"/>
          </a:solidFill>
          <a:ln w="6350">
            <a:solidFill>
              <a:srgbClr val="A23B2A"/>
            </a:solidFill>
            <a:prstDash val="solid"/>
          </a:ln>
        </p:spPr>
      </p:sp>
      <p:pic>
        <p:nvPicPr>
          <p:cNvPr id="23" name="Image 2" descr="preencoded.png">    </p:cNvPr>
          <p:cNvPicPr>
            <a:picLocks noChangeAspect="1"/>
          </p:cNvPicPr>
          <p:nvPr/>
        </p:nvPicPr>
        <p:blipFill>
          <a:blip r:embed="rId3"/>
          <a:stretch>
            <a:fillRect/>
          </a:stretch>
        </p:blipFill>
        <p:spPr>
          <a:xfrm>
            <a:off x="4818888" y="2724912"/>
            <a:ext cx="128016" cy="128016"/>
          </a:xfrm>
          <a:prstGeom prst="rect">
            <a:avLst/>
          </a:prstGeom>
        </p:spPr>
      </p:pic>
      <p:sp>
        <p:nvSpPr>
          <p:cNvPr id="24" name="Text 19"/>
          <p:cNvSpPr txBox="1"/>
          <p:nvPr/>
        </p:nvSpPr>
        <p:spPr>
          <a:xfrm>
            <a:off x="5120640" y="2633472"/>
            <a:ext cx="3566160" cy="502920"/>
          </a:xfrm>
          <a:prstGeom prst="rect">
            <a:avLst/>
          </a:prstGeom>
          <a:noFill/>
          <a:ln/>
        </p:spPr>
        <p:txBody>
          <a:bodyPr wrap="square" lIns="0" tIns="0" rIns="0" bIns="0" rtlCol="0" anchor="t"/>
          <a:lstStyle/>
          <a:p>
            <a:pPr indent="0" marL="0">
              <a:buNone/>
            </a:pPr>
            <a:r>
              <a:rPr lang="en-US" sz="1100" b="1" dirty="0">
                <a:solidFill>
                  <a:schemeClr val="tx1"/>
                </a:solidFill>
              </a:rPr>
              <a:t>Sending-path drift: </a:t>
            </a:r>
            <a:pPr indent="0" marL="0">
              <a:buNone/>
            </a:pPr>
            <a:r>
              <a:rPr lang="en-US" sz="1100" dirty="0">
                <a:solidFill>
                  <a:schemeClr val="tx1"/>
                </a:solidFill>
              </a:rPr>
              <a:t>a different mail program from Marta's earlier messages</a:t>
            </a:r>
            <a:endParaRPr lang="en-US" sz="1100" dirty="0"/>
          </a:p>
        </p:txBody>
      </p:sp>
      <p:sp>
        <p:nvSpPr>
          <p:cNvPr id="25" name="Shape 20"/>
          <p:cNvSpPr/>
          <p:nvPr/>
        </p:nvSpPr>
        <p:spPr>
          <a:xfrm>
            <a:off x="4754880" y="3209544"/>
            <a:ext cx="256032" cy="256032"/>
          </a:xfrm>
          <a:prstGeom prst="ellipse">
            <a:avLst/>
          </a:prstGeom>
          <a:solidFill>
            <a:srgbClr val="4F7B5C"/>
          </a:solidFill>
          <a:ln w="6350">
            <a:solidFill>
              <a:srgbClr val="4F7B5C"/>
            </a:solidFill>
            <a:prstDash val="solid"/>
          </a:ln>
        </p:spPr>
      </p:sp>
      <p:pic>
        <p:nvPicPr>
          <p:cNvPr id="26" name="Image 3" descr="preencoded.png">    </p:cNvPr>
          <p:cNvPicPr>
            <a:picLocks noChangeAspect="1"/>
          </p:cNvPicPr>
          <p:nvPr/>
        </p:nvPicPr>
        <p:blipFill>
          <a:blip r:embed="rId4"/>
          <a:stretch>
            <a:fillRect/>
          </a:stretch>
        </p:blipFill>
        <p:spPr>
          <a:xfrm>
            <a:off x="4818888" y="3273552"/>
            <a:ext cx="128016" cy="128016"/>
          </a:xfrm>
          <a:prstGeom prst="rect">
            <a:avLst/>
          </a:prstGeom>
        </p:spPr>
      </p:pic>
      <p:sp>
        <p:nvSpPr>
          <p:cNvPr id="27" name="Text 21"/>
          <p:cNvSpPr txBox="1"/>
          <p:nvPr/>
        </p:nvSpPr>
        <p:spPr>
          <a:xfrm>
            <a:off x="5120640" y="3182112"/>
            <a:ext cx="3566160" cy="502920"/>
          </a:xfrm>
          <a:prstGeom prst="rect">
            <a:avLst/>
          </a:prstGeom>
          <a:noFill/>
          <a:ln/>
        </p:spPr>
        <p:txBody>
          <a:bodyPr wrap="square" lIns="0" tIns="0" rIns="0" bIns="0" rtlCol="0" anchor="t"/>
          <a:lstStyle/>
          <a:p>
            <a:pPr indent="0" marL="0">
              <a:buNone/>
            </a:pPr>
            <a:r>
              <a:rPr lang="en-US" sz="1100" b="1" dirty="0">
                <a:solidFill>
                  <a:schemeClr val="tx1"/>
                </a:solidFill>
              </a:rPr>
              <a:t>Thread integrity: consistent: </a:t>
            </a:r>
            <a:pPr indent="0" marL="0">
              <a:buNone/>
            </a:pPr>
            <a:r>
              <a:rPr lang="en-US" sz="1100" dirty="0">
                <a:solidFill>
                  <a:schemeClr val="tx1"/>
                </a:solidFill>
              </a:rPr>
              <a:t>the attacker is inside the real account, so the IDs and quotes are real</a:t>
            </a:r>
            <a:endParaRPr lang="en-US" sz="1100" dirty="0"/>
          </a:p>
        </p:txBody>
      </p:sp>
      <p:sp>
        <p:nvSpPr>
          <p:cNvPr id="28" name="Thread result"/>
          <p:cNvSpPr/>
          <p:nvPr/>
        </p:nvSpPr>
        <p:spPr>
          <a:xfrm>
            <a:off x="4754880" y="3794760"/>
            <a:ext cx="3931920" cy="822960"/>
          </a:xfrm>
          <a:prstGeom prst="rect">
            <a:avLst/>
          </a:prstGeom>
          <a:solidFill>
            <a:schemeClr val="tx2"/>
          </a:solidFill>
          <a:ln w="9525">
            <a:solidFill>
              <a:schemeClr val="tx2"/>
            </a:solidFill>
            <a:prstDash val="solid"/>
          </a:ln>
        </p:spPr>
      </p:sp>
      <p:sp>
        <p:nvSpPr>
          <p:cNvPr id="29" name="Text 23"/>
          <p:cNvSpPr txBox="1"/>
          <p:nvPr/>
        </p:nvSpPr>
        <p:spPr>
          <a:xfrm>
            <a:off x="4937760" y="3794760"/>
            <a:ext cx="3611880" cy="822960"/>
          </a:xfrm>
          <a:prstGeom prst="rect">
            <a:avLst/>
          </a:prstGeom>
          <a:noFill/>
          <a:ln/>
        </p:spPr>
        <p:txBody>
          <a:bodyPr wrap="square" lIns="0" tIns="0" rIns="0" bIns="0" rtlCol="0" anchor="ctr"/>
          <a:lstStyle/>
          <a:p>
            <a:pPr indent="0" marL="0">
              <a:buNone/>
            </a:pPr>
            <a:r>
              <a:rPr lang="en-US" sz="1150" dirty="0">
                <a:solidFill>
                  <a:schemeClr val="bg1"/>
                </a:solidFill>
              </a:rPr>
              <a:t>Message 5 is marked as the point where the thread flipped. With an honest fifth message instead, the result is Low risk.</a:t>
            </a:r>
            <a:endParaRPr lang="en-US" sz="1150" dirty="0"/>
          </a:p>
        </p:txBody>
      </p:sp>
      <p:sp>
        <p:nvSpPr>
          <p:cNvPr id="30" name="Text 24"/>
          <p:cNvSpPr txBox="1"/>
          <p:nvPr/>
        </p:nvSpPr>
        <p:spPr>
          <a:xfrm>
            <a:off x="457200" y="4709160"/>
            <a:ext cx="8229600" cy="228600"/>
          </a:xfrm>
          <a:prstGeom prst="rect">
            <a:avLst/>
          </a:prstGeom>
          <a:noFill/>
          <a:ln/>
        </p:spPr>
        <p:txBody>
          <a:bodyPr wrap="square" lIns="0" tIns="0" rIns="0" bIns="0" rtlCol="0" anchor="t"/>
          <a:lstStyle/>
          <a:p>
            <a:pPr indent="0" marL="0">
              <a:buNone/>
            </a:pPr>
            <a:r>
              <a:rPr lang="en-US" sz="950" i="1" dirty="0">
                <a:solidFill>
                  <a:schemeClr val="accent3"/>
                </a:solidFill>
              </a:rPr>
              <a:t>A made-up demo thread: all names, companies and account numbers are invented.</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56032"/>
          </a:xfrm>
          <a:prstGeom prst="rect">
            <a:avLst/>
          </a:prstGeom>
          <a:noFill/>
          <a:ln/>
        </p:spPr>
        <p:txBody>
          <a:bodyPr wrap="square" lIns="0" tIns="0" rIns="0" bIns="0" rtlCol="0" anchor="ctr"/>
          <a:lstStyle/>
          <a:p>
            <a:pPr indent="0" marL="0">
              <a:buNone/>
            </a:pPr>
            <a:r>
              <a:rPr lang="en-US" sz="1000" b="1" spc="200" kern="0" dirty="0">
                <a:solidFill>
                  <a:schemeClr val="accent1"/>
                </a:solidFill>
              </a:rPr>
              <a:t>DATA</a:t>
            </a:r>
            <a:endParaRPr lang="en-US" sz="1000" dirty="0"/>
          </a:p>
        </p:txBody>
      </p:sp>
      <p:sp>
        <p:nvSpPr>
          <p:cNvPr id="3" name="Text 0"/>
          <p:cNvSpPr/>
          <p:nvPr>
            <p:ph idx="101" type="title" hasCustomPrompt="1"/>
          </p:nvPr>
        </p:nvSpPr>
        <p:spPr>
          <a:xfrm>
            <a:off x="457200" y="548640"/>
            <a:ext cx="8229600" cy="548640"/>
          </a:xfrm>
          <a:prstGeom prst="rect">
            <a:avLst/>
          </a:prstGeom>
          <a:noFill/>
          <a:ln/>
        </p:spPr>
        <p:txBody>
          <a:bodyPr wrap="square" lIns="0" tIns="0" rIns="0" bIns="0" rtlCol="0" anchor="t"/>
          <a:lstStyle/>
          <a:p>
            <a:pPr algn="l" indent="0" marL="0">
              <a:buNone/>
            </a:pPr>
            <a:r>
              <a:rPr lang="en-US" sz="2400" dirty="0">
                <a:solidFill>
                  <a:schemeClr val="tx1"/>
                </a:solidFill>
              </a:rPr>
              <a:t>Nine public sources and how each is used</a:t>
            </a:r>
            <a:endParaRPr lang="en-US" sz="2400" dirty="0"/>
          </a:p>
        </p:txBody>
      </p:sp>
      <p:sp>
        <p:nvSpPr>
          <p:cNvPr id="4" name="Text 2"/>
          <p:cNvSpPr txBox="1"/>
          <p:nvPr/>
        </p:nvSpPr>
        <p:spPr>
          <a:xfrm>
            <a:off x="457200" y="1188720"/>
            <a:ext cx="2468880" cy="457200"/>
          </a:xfrm>
          <a:prstGeom prst="rect">
            <a:avLst/>
          </a:prstGeom>
          <a:noFill/>
          <a:ln/>
        </p:spPr>
        <p:txBody>
          <a:bodyPr wrap="square" lIns="0" tIns="0" rIns="0" bIns="0" rtlCol="0" anchor="t"/>
          <a:lstStyle/>
          <a:p>
            <a:pPr indent="0" marL="0">
              <a:buNone/>
            </a:pPr>
            <a:r>
              <a:rPr lang="en-US" sz="2800" b="1" dirty="0">
                <a:solidFill>
                  <a:schemeClr val="accent1"/>
                </a:solidFill>
                <a:latin typeface="+mj-lt" pitchFamily="34" charset="0"/>
                <a:ea typeface="+mj-lt" pitchFamily="34" charset="-122"/>
                <a:cs typeface="+mj-lt" pitchFamily="34" charset="-120"/>
              </a:rPr>
              <a:t>99,324</a:t>
            </a:r>
            <a:endParaRPr lang="en-US" sz="2800" dirty="0"/>
          </a:p>
        </p:txBody>
      </p:sp>
      <p:sp>
        <p:nvSpPr>
          <p:cNvPr id="5" name="Text 3"/>
          <p:cNvSpPr txBox="1"/>
          <p:nvPr/>
        </p:nvSpPr>
        <p:spPr>
          <a:xfrm>
            <a:off x="457200" y="1645920"/>
            <a:ext cx="2468880" cy="502920"/>
          </a:xfrm>
          <a:prstGeom prst="rect">
            <a:avLst/>
          </a:prstGeom>
          <a:noFill/>
          <a:ln/>
        </p:spPr>
        <p:txBody>
          <a:bodyPr wrap="square" lIns="0" tIns="0" rIns="0" bIns="0" rtlCol="0" anchor="t"/>
          <a:lstStyle/>
          <a:p>
            <a:pPr indent="0" marL="0">
              <a:buNone/>
            </a:pPr>
            <a:r>
              <a:rPr lang="en-US" sz="1050" dirty="0">
                <a:solidFill>
                  <a:schemeClr val="accent2"/>
                </a:solidFill>
              </a:rPr>
              <a:t>unique emails from nine public sources</a:t>
            </a:r>
            <a:endParaRPr lang="en-US" sz="1050" dirty="0"/>
          </a:p>
        </p:txBody>
      </p:sp>
      <p:sp>
        <p:nvSpPr>
          <p:cNvPr id="6" name="Text 4"/>
          <p:cNvSpPr txBox="1"/>
          <p:nvPr/>
        </p:nvSpPr>
        <p:spPr>
          <a:xfrm>
            <a:off x="457200" y="2212848"/>
            <a:ext cx="2468880" cy="457200"/>
          </a:xfrm>
          <a:prstGeom prst="rect">
            <a:avLst/>
          </a:prstGeom>
          <a:noFill/>
          <a:ln/>
        </p:spPr>
        <p:txBody>
          <a:bodyPr wrap="square" lIns="0" tIns="0" rIns="0" bIns="0" rtlCol="0" anchor="t"/>
          <a:lstStyle/>
          <a:p>
            <a:pPr indent="0" marL="0">
              <a:buNone/>
            </a:pPr>
            <a:r>
              <a:rPr lang="en-US" sz="2800" b="1" dirty="0">
                <a:solidFill>
                  <a:schemeClr val="accent1"/>
                </a:solidFill>
                <a:latin typeface="+mj-lt" pitchFamily="34" charset="0"/>
                <a:ea typeface="+mj-lt" pitchFamily="34" charset="-122"/>
                <a:cs typeface="+mj-lt" pitchFamily="34" charset="-120"/>
              </a:rPr>
              <a:t>20,313</a:t>
            </a:r>
            <a:endParaRPr lang="en-US" sz="2800" dirty="0"/>
          </a:p>
        </p:txBody>
      </p:sp>
      <p:sp>
        <p:nvSpPr>
          <p:cNvPr id="7" name="Text 5"/>
          <p:cNvSpPr txBox="1"/>
          <p:nvPr/>
        </p:nvSpPr>
        <p:spPr>
          <a:xfrm>
            <a:off x="457200" y="2670048"/>
            <a:ext cx="2468880" cy="502920"/>
          </a:xfrm>
          <a:prstGeom prst="rect">
            <a:avLst/>
          </a:prstGeom>
          <a:noFill/>
          <a:ln/>
        </p:spPr>
        <p:txBody>
          <a:bodyPr wrap="square" lIns="0" tIns="0" rIns="0" bIns="0" rtlCol="0" anchor="t"/>
          <a:lstStyle/>
          <a:p>
            <a:pPr indent="0" marL="0">
              <a:buNone/>
            </a:pPr>
            <a:r>
              <a:rPr lang="en-US" sz="1050" dirty="0">
                <a:solidFill>
                  <a:schemeClr val="accent2"/>
                </a:solidFill>
              </a:rPr>
              <a:t>of them attacks</a:t>
            </a:r>
            <a:endParaRPr lang="en-US" sz="1050" dirty="0"/>
          </a:p>
        </p:txBody>
      </p:sp>
      <p:sp>
        <p:nvSpPr>
          <p:cNvPr id="8" name="Text 6"/>
          <p:cNvSpPr txBox="1"/>
          <p:nvPr/>
        </p:nvSpPr>
        <p:spPr>
          <a:xfrm>
            <a:off x="457200" y="3236976"/>
            <a:ext cx="2468880" cy="457200"/>
          </a:xfrm>
          <a:prstGeom prst="rect">
            <a:avLst/>
          </a:prstGeom>
          <a:noFill/>
          <a:ln/>
        </p:spPr>
        <p:txBody>
          <a:bodyPr wrap="square" lIns="0" tIns="0" rIns="0" bIns="0" rtlCol="0" anchor="t"/>
          <a:lstStyle/>
          <a:p>
            <a:pPr indent="0" marL="0">
              <a:buNone/>
            </a:pPr>
            <a:r>
              <a:rPr lang="en-US" sz="2800" b="1" dirty="0">
                <a:solidFill>
                  <a:schemeClr val="accent1"/>
                </a:solidFill>
                <a:latin typeface="+mj-lt" pitchFamily="34" charset="0"/>
                <a:ea typeface="+mj-lt" pitchFamily="34" charset="-122"/>
                <a:cs typeface="+mj-lt" pitchFamily="34" charset="-120"/>
              </a:rPr>
              <a:t>70 / 15 / 15</a:t>
            </a:r>
            <a:endParaRPr lang="en-US" sz="2800" dirty="0"/>
          </a:p>
        </p:txBody>
      </p:sp>
      <p:sp>
        <p:nvSpPr>
          <p:cNvPr id="9" name="Text 7"/>
          <p:cNvSpPr txBox="1"/>
          <p:nvPr/>
        </p:nvSpPr>
        <p:spPr>
          <a:xfrm>
            <a:off x="457200" y="3694176"/>
            <a:ext cx="2468880" cy="502920"/>
          </a:xfrm>
          <a:prstGeom prst="rect">
            <a:avLst/>
          </a:prstGeom>
          <a:noFill/>
          <a:ln/>
        </p:spPr>
        <p:txBody>
          <a:bodyPr wrap="square" lIns="0" tIns="0" rIns="0" bIns="0" rtlCol="0" anchor="t"/>
          <a:lstStyle/>
          <a:p>
            <a:pPr indent="0" marL="0">
              <a:buNone/>
            </a:pPr>
            <a:r>
              <a:rPr lang="en-US" sz="1050" dirty="0">
                <a:solidFill>
                  <a:schemeClr val="accent2"/>
                </a:solidFill>
              </a:rPr>
              <a:t>split by source and category: 69,542 train, 14,879 validation, 14,903 test</a:t>
            </a:r>
            <a:endParaRPr lang="en-US" sz="10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154680" y="1188720"/>
          <a:ext cx="5532120" cy="914400"/>
        </p:xfrm>
        <a:graphic>
          <a:graphicData uri="http://schemas.openxmlformats.org/drawingml/2006/table">
            <a:tbl>
              <a:tblPr/>
              <a:tblGrid>
                <a:gridCol w="1920240"/>
                <a:gridCol w="3611880"/>
              </a:tblGrid>
              <a:tr h="274320">
                <a:tc>
                  <a:txBody>
                    <a:bodyPr/>
                    <a:lstStyle/>
                    <a:p>
                      <a:pPr indent="0" marL="0">
                        <a:buNone/>
                      </a:pPr>
                      <a:r>
                        <a:rPr lang="en-US" sz="1050" b="1" dirty="0">
                          <a:solidFill>
                            <a:schemeClr val="bg1"/>
                          </a:solidFill>
                        </a:rPr>
                        <a:t>Role</a:t>
                      </a:r>
                      <a:endParaRPr lang="en-US" sz="1050" dirty="0"/>
                    </a:p>
                  </a:txBody>
                  <a:tcPr marL="76200" marR="76200" marT="50800" marB="5080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chemeClr val="tx2"/>
                    </a:solidFill>
                  </a:tcPr>
                </a:tc>
                <a:tc>
                  <a:txBody>
                    <a:bodyPr/>
                    <a:lstStyle/>
                    <a:p>
                      <a:pPr indent="0" marL="0">
                        <a:buNone/>
                      </a:pPr>
                      <a:r>
                        <a:rPr lang="en-US" sz="1050" b="1" dirty="0">
                          <a:solidFill>
                            <a:schemeClr val="bg1"/>
                          </a:solidFill>
                        </a:rPr>
                        <a:t>Sources</a:t>
                      </a:r>
                      <a:endParaRPr lang="en-US" sz="1050" dirty="0"/>
                    </a:p>
                  </a:txBody>
                  <a:tcPr marL="76200" marR="76200" marT="50800" marB="5080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chemeClr val="tx2"/>
                    </a:solidFill>
                  </a:tcPr>
                </a:tc>
              </a:tr>
              <a:tr h="347472">
                <a:tc>
                  <a:txBody>
                    <a:bodyPr/>
                    <a:lstStyle/>
                    <a:p>
                      <a:pPr indent="0" marL="0">
                        <a:buNone/>
                      </a:pPr>
                      <a:r>
                        <a:rPr lang="en-US" sz="1050" b="1" dirty="0">
                          <a:solidFill>
                            <a:schemeClr val="tx1"/>
                          </a:solidFill>
                        </a:rPr>
                        <a:t>Phishing attacks</a:t>
                      </a:r>
                      <a:endParaRPr lang="en-US" sz="1050" dirty="0"/>
                    </a:p>
                  </a:txBody>
                  <a:tcPr marL="76200" marR="76200" marT="50800" marB="5080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Nazario phishing corpus [12]; phishing_pot honeypot samples [13]</a:t>
                      </a:r>
                      <a:endParaRPr lang="en-US" sz="1050" dirty="0"/>
                    </a:p>
                  </a:txBody>
                  <a:tcPr marL="76200" marR="76200" marT="50800" marB="5080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chemeClr val="bg1"/>
                    </a:solidFill>
                  </a:tcPr>
                </a:tc>
              </a:tr>
              <a:tr h="292608">
                <a:tc>
                  <a:txBody>
                    <a:bodyPr/>
                    <a:lstStyle/>
                    <a:p>
                      <a:pPr indent="0" marL="0">
                        <a:buNone/>
                      </a:pPr>
                      <a:r>
                        <a:rPr lang="en-US" sz="1050" b="1" dirty="0">
                          <a:solidFill>
                            <a:schemeClr val="tx1"/>
                          </a:solidFill>
                        </a:rPr>
                        <a:t>Fraud attacks</a:t>
                      </a:r>
                      <a:endParaRPr lang="en-US" sz="1050" dirty="0"/>
                    </a:p>
                  </a:txBody>
                  <a:tcPr marL="76200" marR="76200" marT="50800" marB="5080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Nigerian Fraud file of a merged public corpus [14]</a:t>
                      </a:r>
                      <a:endParaRPr lang="en-US" sz="1050" dirty="0"/>
                    </a:p>
                  </a:txBody>
                  <a:tcPr marL="76200" marR="76200" marT="50800" marB="5080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chemeClr val="bg1"/>
                    </a:solidFill>
                  </a:tcPr>
                </a:tc>
              </a:tr>
              <a:tr h="457200">
                <a:tc>
                  <a:txBody>
                    <a:bodyPr/>
                    <a:lstStyle/>
                    <a:p>
                      <a:pPr indent="0" marL="0">
                        <a:buNone/>
                      </a:pPr>
                      <a:r>
                        <a:rPr lang="en-US" sz="1050" b="1" dirty="0">
                          <a:solidFill>
                            <a:schemeClr val="tx1"/>
                          </a:solidFill>
                        </a:rPr>
                        <a:t>Legitimate mail and spam</a:t>
                      </a:r>
                      <a:endParaRPr lang="en-US" sz="1050" dirty="0"/>
                    </a:p>
                  </a:txBody>
                  <a:tcPr marL="76200" marR="76200" marT="50800" marB="5080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CEAS-08, Enron [15] and Ling files of the merged corpus [14]; SpamAssassin public corpus [16]</a:t>
                      </a:r>
                      <a:endParaRPr lang="en-US" sz="1050" dirty="0"/>
                    </a:p>
                  </a:txBody>
                  <a:tcPr marL="76200" marR="76200" marT="50800" marB="5080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chemeClr val="bg1"/>
                    </a:solidFill>
                  </a:tcPr>
                </a:tc>
              </a:tr>
              <a:tr h="457200">
                <a:tc>
                  <a:txBody>
                    <a:bodyPr/>
                    <a:lstStyle/>
                    <a:p>
                      <a:pPr indent="0" marL="0">
                        <a:buNone/>
                      </a:pPr>
                      <a:r>
                        <a:rPr lang="en-US" sz="1050" b="1" dirty="0">
                          <a:solidFill>
                            <a:schemeClr val="tx1"/>
                          </a:solidFill>
                        </a:rPr>
                        <a:t>Modern legitimate mail with authentication headers</a:t>
                      </a:r>
                      <a:endParaRPr lang="en-US" sz="1050" dirty="0"/>
                    </a:p>
                  </a:txBody>
                  <a:tcPr marL="76200" marR="76200" marT="50800" marB="5080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Apache Kafka and Tomcat user mailing lists [17]</a:t>
                      </a:r>
                      <a:endParaRPr lang="en-US" sz="1050" dirty="0"/>
                    </a:p>
                  </a:txBody>
                  <a:tcPr marL="76200" marR="76200" marT="50800" marB="50800" anchor="ctr">
                    <a:lnL w="9525" cap="flat" cmpd="sng" algn="ctr">
                      <a:solidFill>
                        <a:srgbClr val="E6DCC8"/>
                      </a:solidFill>
                      <a:prstDash val="solid"/>
                      <a:round/>
                      <a:headEnd type="none" w="med" len="med"/>
                      <a:tailEnd type="none" w="med" len="med"/>
                    </a:lnL>
                    <a:lnR w="9525" cap="flat" cmpd="sng" algn="ctr">
                      <a:solidFill>
                        <a:srgbClr val="E6DCC8"/>
                      </a:solidFill>
                      <a:prstDash val="solid"/>
                      <a:round/>
                      <a:headEnd type="none" w="med" len="med"/>
                      <a:tailEnd type="none" w="med" len="med"/>
                    </a:lnR>
                    <a:lnT w="9525" cap="flat" cmpd="sng" algn="ctr">
                      <a:solidFill>
                        <a:srgbClr val="E6DCC8"/>
                      </a:solidFill>
                      <a:prstDash val="solid"/>
                      <a:round/>
                      <a:headEnd type="none" w="med" len="med"/>
                      <a:tailEnd type="none" w="med" len="med"/>
                    </a:lnT>
                    <a:lnB w="9525" cap="flat" cmpd="sng" algn="ctr">
                      <a:solidFill>
                        <a:srgbClr val="E6DCC8"/>
                      </a:solidFill>
                      <a:prstDash val="solid"/>
                      <a:round/>
                      <a:headEnd type="none" w="med" len="med"/>
                      <a:tailEnd type="none" w="med" len="med"/>
                    </a:lnB>
                    <a:solidFill>
                      <a:schemeClr val="bg1"/>
                    </a:solidFill>
                  </a:tcPr>
                </a:tc>
              </a:tr>
            </a:tbl>
          </a:graphicData>
        </a:graphic>
      </p:graphicFrame>
      <p:sp>
        <p:nvSpPr>
          <p:cNvPr id="11" name="Text 8"/>
          <p:cNvSpPr txBox="1"/>
          <p:nvPr/>
        </p:nvSpPr>
        <p:spPr>
          <a:xfrm>
            <a:off x="3154680" y="3154680"/>
            <a:ext cx="3657600" cy="201168"/>
          </a:xfrm>
          <a:prstGeom prst="rect">
            <a:avLst/>
          </a:prstGeom>
          <a:noFill/>
          <a:ln/>
        </p:spPr>
        <p:txBody>
          <a:bodyPr wrap="square" lIns="0" tIns="0" rIns="0" bIns="0" rtlCol="0" anchor="ctr"/>
          <a:lstStyle/>
          <a:p>
            <a:pPr indent="0" marL="0">
              <a:buNone/>
            </a:pPr>
            <a:r>
              <a:rPr lang="en-US" sz="900" b="1" spc="150" kern="0" dirty="0">
                <a:solidFill>
                  <a:schemeClr val="accent1"/>
                </a:solidFill>
              </a:rPr>
              <a:t>ALSO BUILT</a:t>
            </a:r>
            <a:endParaRPr lang="en-US" sz="900" dirty="0"/>
          </a:p>
        </p:txBody>
      </p:sp>
      <p:sp>
        <p:nvSpPr>
          <p:cNvPr id="12" name="Text 9"/>
          <p:cNvSpPr txBox="1"/>
          <p:nvPr/>
        </p:nvSpPr>
        <p:spPr>
          <a:xfrm>
            <a:off x="3154680" y="3383280"/>
            <a:ext cx="5532120" cy="1005840"/>
          </a:xfrm>
          <a:prstGeom prst="rect">
            <a:avLst/>
          </a:prstGeom>
          <a:noFill/>
          <a:ln/>
        </p:spPr>
        <p:txBody>
          <a:bodyPr wrap="square" lIns="0" tIns="0" rIns="0" bIns="0" rtlCol="0" anchor="t"/>
          <a:lstStyle/>
          <a:p>
            <a:pPr marL="177800" indent="-177800">
              <a:spcAft>
                <a:spcPts val="300"/>
              </a:spcAft>
              <a:buSzPct val="100000"/>
              <a:buChar char="•"/>
            </a:pPr>
            <a:r>
              <a:rPr lang="en-US" sz="1050" dirty="0">
                <a:solidFill>
                  <a:schemeClr val="tx1"/>
                </a:solidFill>
              </a:rPr>
              <a:t>1,591 real threads rebuilt from Enron and the Apache lists, for the thread tests</a:t>
            </a:r>
            <a:endParaRPr lang="en-US" sz="1050" dirty="0"/>
          </a:p>
          <a:p>
            <a:pPr marL="177800" indent="-177800">
              <a:spcAft>
                <a:spcPts val="300"/>
              </a:spcAft>
              <a:buSzPct val="100000"/>
              <a:buChar char="•"/>
            </a:pPr>
            <a:r>
              <a:rPr lang="en-US" sz="1050" dirty="0">
                <a:solidFill>
                  <a:schemeClr val="tx1"/>
                </a:solidFill>
              </a:rPr>
              <a:t>690 emails labelled for tactics and claims by two language models of one family, 140 of them in the test split</a:t>
            </a:r>
            <a:endParaRPr lang="en-US" sz="1050" dirty="0"/>
          </a:p>
          <a:p>
            <a:pPr marL="177800" indent="-177800">
              <a:spcAft>
                <a:spcPts val="300"/>
              </a:spcAft>
              <a:buSzPct val="100000"/>
              <a:buChar char="•"/>
            </a:pPr>
            <a:r>
              <a:rPr lang="en-US" sz="1050" dirty="0">
                <a:solidFill>
                  <a:schemeClr val="tx1"/>
                </a:solidFill>
              </a:rPr>
              <a:t>Synthetic emails and pairs (an attack and a benign twin), always reported apart from real mail</a:t>
            </a:r>
            <a:endParaRPr lang="en-US" sz="1050" dirty="0"/>
          </a:p>
        </p:txBody>
      </p:sp>
      <p:sp>
        <p:nvSpPr>
          <p:cNvPr id="13" name="Text 10"/>
          <p:cNvSpPr txBox="1"/>
          <p:nvPr/>
        </p:nvSpPr>
        <p:spPr>
          <a:xfrm>
            <a:off x="457200" y="4526280"/>
            <a:ext cx="8229600" cy="365760"/>
          </a:xfrm>
          <a:prstGeom prst="rect">
            <a:avLst/>
          </a:prstGeom>
          <a:noFill/>
          <a:ln/>
        </p:spPr>
        <p:txBody>
          <a:bodyPr wrap="square" lIns="0" tIns="0" rIns="0" bIns="0" rtlCol="0" anchor="t"/>
          <a:lstStyle/>
          <a:p>
            <a:pPr indent="0" marL="0">
              <a:buNone/>
            </a:pPr>
            <a:r>
              <a:rPr lang="en-US" sz="1050" i="1" dirty="0">
                <a:solidFill>
                  <a:schemeClr val="accent2"/>
                </a:solidFill>
              </a:rPr>
              <a:t>No source holds both attacks and legitimate mail, so a pooled score mixes corpus and detection. Results are therefore also given per source.</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56032"/>
          </a:xfrm>
          <a:prstGeom prst="rect">
            <a:avLst/>
          </a:prstGeom>
          <a:noFill/>
          <a:ln/>
        </p:spPr>
        <p:txBody>
          <a:bodyPr wrap="square" lIns="0" tIns="0" rIns="0" bIns="0" rtlCol="0" anchor="ctr"/>
          <a:lstStyle/>
          <a:p>
            <a:pPr indent="0" marL="0">
              <a:buNone/>
            </a:pPr>
            <a:r>
              <a:rPr lang="en-US" sz="1000" b="1" spc="200" kern="0" dirty="0">
                <a:solidFill>
                  <a:schemeClr val="accent1"/>
                </a:solidFill>
              </a:rPr>
              <a:t>EVALUATION</a:t>
            </a:r>
            <a:endParaRPr lang="en-US" sz="1000" dirty="0"/>
          </a:p>
        </p:txBody>
      </p:sp>
      <p:sp>
        <p:nvSpPr>
          <p:cNvPr id="3" name="Text 0"/>
          <p:cNvSpPr/>
          <p:nvPr>
            <p:ph idx="101" type="title" hasCustomPrompt="1"/>
          </p:nvPr>
        </p:nvSpPr>
        <p:spPr>
          <a:xfrm>
            <a:off x="457200" y="548640"/>
            <a:ext cx="8229600" cy="548640"/>
          </a:xfrm>
          <a:prstGeom prst="rect">
            <a:avLst/>
          </a:prstGeom>
          <a:noFill/>
          <a:ln/>
        </p:spPr>
        <p:txBody>
          <a:bodyPr wrap="square" lIns="0" tIns="0" rIns="0" bIns="0" rtlCol="0" anchor="t"/>
          <a:lstStyle/>
          <a:p>
            <a:pPr algn="l" indent="0" marL="0">
              <a:buNone/>
            </a:pPr>
            <a:r>
              <a:rPr lang="en-US" sz="2400" dirty="0">
                <a:solidFill>
                  <a:schemeClr val="tx1"/>
                </a:solidFill>
              </a:rPr>
              <a:t>How we tested</a:t>
            </a:r>
            <a:endParaRPr lang="en-US" sz="2400" dirty="0"/>
          </a:p>
        </p:txBody>
      </p:sp>
      <p:sp>
        <p:nvSpPr>
          <p:cNvPr id="4" name="Text 2"/>
          <p:cNvSpPr txBox="1"/>
          <p:nvPr/>
        </p:nvSpPr>
        <p:spPr>
          <a:xfrm>
            <a:off x="457200" y="1188720"/>
            <a:ext cx="3200400" cy="201168"/>
          </a:xfrm>
          <a:prstGeom prst="rect">
            <a:avLst/>
          </a:prstGeom>
          <a:noFill/>
          <a:ln/>
        </p:spPr>
        <p:txBody>
          <a:bodyPr wrap="square" lIns="0" tIns="0" rIns="0" bIns="0" rtlCol="0" anchor="ctr"/>
          <a:lstStyle/>
          <a:p>
            <a:pPr indent="0" marL="0">
              <a:buNone/>
            </a:pPr>
            <a:r>
              <a:rPr lang="en-US" sz="900" b="1" spc="150" kern="0" dirty="0">
                <a:solidFill>
                  <a:schemeClr val="accent1"/>
                </a:solidFill>
              </a:rPr>
              <a:t>THE RULES WE KEPT</a:t>
            </a:r>
            <a:endParaRPr lang="en-US" sz="900" dirty="0"/>
          </a:p>
        </p:txBody>
      </p:sp>
      <p:sp>
        <p:nvSpPr>
          <p:cNvPr id="5" name="Text 3"/>
          <p:cNvSpPr txBox="1"/>
          <p:nvPr/>
        </p:nvSpPr>
        <p:spPr>
          <a:xfrm>
            <a:off x="457200" y="1444752"/>
            <a:ext cx="3246120" cy="3017520"/>
          </a:xfrm>
          <a:prstGeom prst="rect">
            <a:avLst/>
          </a:prstGeom>
          <a:noFill/>
          <a:ln/>
        </p:spPr>
        <p:txBody>
          <a:bodyPr wrap="square" lIns="0" tIns="0" rIns="0" bIns="0" rtlCol="0" anchor="t"/>
          <a:lstStyle/>
          <a:p>
            <a:pPr marL="177800" indent="-177800">
              <a:spcAft>
                <a:spcPts val="600"/>
              </a:spcAft>
              <a:buSzPct val="100000"/>
              <a:buChar char="•"/>
            </a:pPr>
            <a:r>
              <a:rPr lang="en-US" sz="1100" dirty="0">
                <a:solidFill>
                  <a:schemeClr val="tx1"/>
                </a:solidFill>
              </a:rPr>
              <a:t>The test split was frozen before it was read: a hash of every frozen file, checked by every script.</a:t>
            </a:r>
            <a:endParaRPr lang="en-US" sz="1100" dirty="0"/>
          </a:p>
          <a:p>
            <a:pPr marL="177800" indent="-177800">
              <a:spcAft>
                <a:spcPts val="600"/>
              </a:spcAft>
              <a:buSzPct val="100000"/>
              <a:buChar char="•"/>
            </a:pPr>
            <a:r>
              <a:rPr lang="en-US" sz="1100" dirty="0">
                <a:solidFill>
                  <a:schemeClr val="tx1"/>
                </a:solidFill>
              </a:rPr>
              <a:t>Each script was rehearsed on validation data first, and every test run was logged.</a:t>
            </a:r>
            <a:endParaRPr lang="en-US" sz="1100" dirty="0"/>
          </a:p>
          <a:p>
            <a:pPr marL="177800" indent="-177800">
              <a:spcAft>
                <a:spcPts val="600"/>
              </a:spcAft>
              <a:buSzPct val="100000"/>
              <a:buChar char="•"/>
            </a:pPr>
            <a:r>
              <a:rPr lang="en-US" sz="1100" dirty="0">
                <a:solidFill>
                  <a:schemeClr val="tx1"/>
                </a:solidFill>
              </a:rPr>
              <a:t>95% intervals from 1,000 bootstrap resamples of whole groups; differences between systems are paired.</a:t>
            </a:r>
            <a:endParaRPr lang="en-US" sz="1100" dirty="0"/>
          </a:p>
          <a:p>
            <a:pPr marL="177800" indent="-177800">
              <a:spcAft>
                <a:spcPts val="600"/>
              </a:spcAft>
              <a:buSzPct val="100000"/>
              <a:buChar char="•"/>
            </a:pPr>
            <a:r>
              <a:rPr lang="en-US" sz="1100" dirty="0">
                <a:solidFill>
                  <a:schemeClr val="tx1"/>
                </a:solidFill>
              </a:rPr>
              <a:t>When an interval includes 0, no system is called better.</a:t>
            </a:r>
            <a:endParaRPr lang="en-US" sz="1100" dirty="0"/>
          </a:p>
          <a:p>
            <a:pPr marL="177800" indent="-177800">
              <a:spcAft>
                <a:spcPts val="600"/>
              </a:spcAft>
              <a:buSzPct val="100000"/>
              <a:buChar char="•"/>
            </a:pPr>
            <a:r>
              <a:rPr lang="en-US" sz="1100" dirty="0">
                <a:solidFill>
                  <a:schemeClr val="tx1"/>
                </a:solidFill>
              </a:rPr>
              <a:t>Pitfalls checked against Arp et al. [18].</a:t>
            </a:r>
            <a:endParaRPr lang="en-US" sz="1100" dirty="0"/>
          </a:p>
        </p:txBody>
      </p:sp>
      <p:sp>
        <p:nvSpPr>
          <p:cNvPr id="6" name="Links (N1)"/>
          <p:cNvSpPr/>
          <p:nvPr/>
        </p:nvSpPr>
        <p:spPr>
          <a:xfrm>
            <a:off x="3977640" y="1188720"/>
            <a:ext cx="2286000" cy="1554480"/>
          </a:xfrm>
          <a:prstGeom prst="rect">
            <a:avLst/>
          </a:prstGeom>
          <a:solidFill>
            <a:schemeClr val="bg1"/>
          </a:solidFill>
          <a:ln w="9525">
            <a:solidFill>
              <a:schemeClr val="accent6"/>
            </a:solidFill>
            <a:prstDash val="solid"/>
          </a:ln>
        </p:spPr>
      </p:sp>
      <p:sp>
        <p:nvSpPr>
          <p:cNvPr id="7" name="Text 5"/>
          <p:cNvSpPr txBox="1"/>
          <p:nvPr/>
        </p:nvSpPr>
        <p:spPr>
          <a:xfrm>
            <a:off x="4114800" y="1280160"/>
            <a:ext cx="2057400" cy="201168"/>
          </a:xfrm>
          <a:prstGeom prst="rect">
            <a:avLst/>
          </a:prstGeom>
          <a:noFill/>
          <a:ln/>
        </p:spPr>
        <p:txBody>
          <a:bodyPr wrap="square" lIns="0" tIns="0" rIns="0" bIns="0" rtlCol="0" anchor="ctr"/>
          <a:lstStyle/>
          <a:p>
            <a:pPr indent="0" marL="0">
              <a:buNone/>
            </a:pPr>
            <a:r>
              <a:rPr lang="en-US" sz="900" b="1" spc="150" kern="0" dirty="0">
                <a:solidFill>
                  <a:schemeClr val="accent1"/>
                </a:solidFill>
              </a:rPr>
              <a:t>LINKS (N1)</a:t>
            </a:r>
            <a:endParaRPr lang="en-US" sz="900" dirty="0"/>
          </a:p>
        </p:txBody>
      </p:sp>
      <p:sp>
        <p:nvSpPr>
          <p:cNvPr id="8" name="Text 6"/>
          <p:cNvSpPr txBox="1"/>
          <p:nvPr/>
        </p:nvSpPr>
        <p:spPr>
          <a:xfrm>
            <a:off x="4114800" y="1517904"/>
            <a:ext cx="2029968" cy="868680"/>
          </a:xfrm>
          <a:prstGeom prst="rect">
            <a:avLst/>
          </a:prstGeom>
          <a:noFill/>
          <a:ln/>
        </p:spPr>
        <p:txBody>
          <a:bodyPr wrap="square" lIns="0" tIns="0" rIns="0" bIns="0" rtlCol="0" anchor="t"/>
          <a:lstStyle/>
          <a:p>
            <a:pPr indent="0" marL="0">
              <a:buNone/>
            </a:pPr>
            <a:r>
              <a:rPr lang="en-US" sz="1050" dirty="0">
                <a:solidFill>
                  <a:schemeClr val="tx1"/>
                </a:solidFill>
              </a:rPr>
              <a:t>DistilBERT [19] trained on raw text (A) and on redacted text (B). How much does each lose when links are hidden?</a:t>
            </a:r>
            <a:endParaRPr lang="en-US" sz="1050" dirty="0"/>
          </a:p>
        </p:txBody>
      </p:sp>
      <p:sp>
        <p:nvSpPr>
          <p:cNvPr id="9" name="Text 7"/>
          <p:cNvSpPr txBox="1"/>
          <p:nvPr/>
        </p:nvSpPr>
        <p:spPr>
          <a:xfrm>
            <a:off x="4114800" y="2377440"/>
            <a:ext cx="2029968" cy="320040"/>
          </a:xfrm>
          <a:prstGeom prst="rect">
            <a:avLst/>
          </a:prstGeom>
          <a:noFill/>
          <a:ln/>
        </p:spPr>
        <p:txBody>
          <a:bodyPr wrap="square" lIns="0" tIns="0" rIns="0" bIns="0" rtlCol="0" anchor="t"/>
          <a:lstStyle/>
          <a:p>
            <a:pPr indent="0" marL="0">
              <a:buNone/>
            </a:pPr>
            <a:r>
              <a:rPr lang="en-US" sz="950" b="1" dirty="0">
                <a:solidFill>
                  <a:schemeClr val="accent2"/>
                </a:solidFill>
              </a:rPr>
              <a:t>Measure: </a:t>
            </a:r>
            <a:pPr indent="0" marL="0">
              <a:buNone/>
            </a:pPr>
            <a:r>
              <a:rPr lang="en-US" sz="950" dirty="0">
                <a:solidFill>
                  <a:schemeClr val="accent2"/>
                </a:solidFill>
              </a:rPr>
              <a:t>F1 on the attack class</a:t>
            </a:r>
            <a:endParaRPr lang="en-US" sz="950" dirty="0"/>
          </a:p>
        </p:txBody>
      </p:sp>
      <p:sp>
        <p:nvSpPr>
          <p:cNvPr id="10" name="Threads (N2)"/>
          <p:cNvSpPr/>
          <p:nvPr/>
        </p:nvSpPr>
        <p:spPr>
          <a:xfrm>
            <a:off x="6373368" y="1188720"/>
            <a:ext cx="2286000" cy="1554480"/>
          </a:xfrm>
          <a:prstGeom prst="rect">
            <a:avLst/>
          </a:prstGeom>
          <a:solidFill>
            <a:schemeClr val="bg1"/>
          </a:solidFill>
          <a:ln w="9525">
            <a:solidFill>
              <a:schemeClr val="accent6"/>
            </a:solidFill>
            <a:prstDash val="solid"/>
          </a:ln>
        </p:spPr>
      </p:sp>
      <p:sp>
        <p:nvSpPr>
          <p:cNvPr id="11" name="Text 9"/>
          <p:cNvSpPr txBox="1"/>
          <p:nvPr/>
        </p:nvSpPr>
        <p:spPr>
          <a:xfrm>
            <a:off x="6510528" y="1280160"/>
            <a:ext cx="2057400" cy="201168"/>
          </a:xfrm>
          <a:prstGeom prst="rect">
            <a:avLst/>
          </a:prstGeom>
          <a:noFill/>
          <a:ln/>
        </p:spPr>
        <p:txBody>
          <a:bodyPr wrap="square" lIns="0" tIns="0" rIns="0" bIns="0" rtlCol="0" anchor="ctr"/>
          <a:lstStyle/>
          <a:p>
            <a:pPr indent="0" marL="0">
              <a:buNone/>
            </a:pPr>
            <a:r>
              <a:rPr lang="en-US" sz="900" b="1" spc="150" kern="0" dirty="0">
                <a:solidFill>
                  <a:schemeClr val="accent1"/>
                </a:solidFill>
              </a:rPr>
              <a:t>THREADS (N2)</a:t>
            </a:r>
            <a:endParaRPr lang="en-US" sz="900" dirty="0"/>
          </a:p>
        </p:txBody>
      </p:sp>
      <p:sp>
        <p:nvSpPr>
          <p:cNvPr id="12" name="Text 10"/>
          <p:cNvSpPr txBox="1"/>
          <p:nvPr/>
        </p:nvSpPr>
        <p:spPr>
          <a:xfrm>
            <a:off x="6510528" y="1517904"/>
            <a:ext cx="2029968" cy="868680"/>
          </a:xfrm>
          <a:prstGeom prst="rect">
            <a:avLst/>
          </a:prstGeom>
          <a:noFill/>
          <a:ln/>
        </p:spPr>
        <p:txBody>
          <a:bodyPr wrap="square" lIns="0" tIns="0" rIns="0" bIns="0" rtlCol="0" anchor="t"/>
          <a:lstStyle/>
          <a:p>
            <a:pPr indent="0" marL="0">
              <a:buNone/>
            </a:pPr>
            <a:r>
              <a:rPr lang="en-US" sz="1050" dirty="0">
                <a:solidFill>
                  <a:schemeClr val="tx1"/>
                </a:solidFill>
              </a:rPr>
              <a:t>Synthetic takeover replies placed in real threads. Thread rules against header and request rules alone.</a:t>
            </a:r>
            <a:endParaRPr lang="en-US" sz="1050" dirty="0"/>
          </a:p>
        </p:txBody>
      </p:sp>
      <p:sp>
        <p:nvSpPr>
          <p:cNvPr id="13" name="Text 11"/>
          <p:cNvSpPr txBox="1"/>
          <p:nvPr/>
        </p:nvSpPr>
        <p:spPr>
          <a:xfrm>
            <a:off x="6510528" y="2377440"/>
            <a:ext cx="2029968" cy="320040"/>
          </a:xfrm>
          <a:prstGeom prst="rect">
            <a:avLst/>
          </a:prstGeom>
          <a:noFill/>
          <a:ln/>
        </p:spPr>
        <p:txBody>
          <a:bodyPr wrap="square" lIns="0" tIns="0" rIns="0" bIns="0" rtlCol="0" anchor="t"/>
          <a:lstStyle/>
          <a:p>
            <a:pPr indent="0" marL="0">
              <a:buNone/>
            </a:pPr>
            <a:r>
              <a:rPr lang="en-US" sz="950" b="1" dirty="0">
                <a:solidFill>
                  <a:schemeClr val="accent2"/>
                </a:solidFill>
              </a:rPr>
              <a:t>Measure: </a:t>
            </a:r>
            <a:pPr indent="0" marL="0">
              <a:buNone/>
            </a:pPr>
            <a:r>
              <a:rPr lang="en-US" sz="950" dirty="0">
                <a:solidFill>
                  <a:schemeClr val="accent2"/>
                </a:solidFill>
              </a:rPr>
              <a:t>cases detected; false alarms</a:t>
            </a:r>
            <a:endParaRPr lang="en-US" sz="950" dirty="0"/>
          </a:p>
        </p:txBody>
      </p:sp>
      <p:sp>
        <p:nvSpPr>
          <p:cNvPr id="14" name="Claims against headers (N3)"/>
          <p:cNvSpPr/>
          <p:nvPr/>
        </p:nvSpPr>
        <p:spPr>
          <a:xfrm>
            <a:off x="3977640" y="2852928"/>
            <a:ext cx="2286000" cy="1554480"/>
          </a:xfrm>
          <a:prstGeom prst="rect">
            <a:avLst/>
          </a:prstGeom>
          <a:solidFill>
            <a:schemeClr val="bg1"/>
          </a:solidFill>
          <a:ln w="9525">
            <a:solidFill>
              <a:schemeClr val="accent6"/>
            </a:solidFill>
            <a:prstDash val="solid"/>
          </a:ln>
        </p:spPr>
      </p:sp>
      <p:sp>
        <p:nvSpPr>
          <p:cNvPr id="15" name="Text 13"/>
          <p:cNvSpPr txBox="1"/>
          <p:nvPr/>
        </p:nvSpPr>
        <p:spPr>
          <a:xfrm>
            <a:off x="4114800" y="2944368"/>
            <a:ext cx="2057400" cy="201168"/>
          </a:xfrm>
          <a:prstGeom prst="rect">
            <a:avLst/>
          </a:prstGeom>
          <a:noFill/>
          <a:ln/>
        </p:spPr>
        <p:txBody>
          <a:bodyPr wrap="square" lIns="0" tIns="0" rIns="0" bIns="0" rtlCol="0" anchor="ctr"/>
          <a:lstStyle/>
          <a:p>
            <a:pPr indent="0" marL="0">
              <a:buNone/>
            </a:pPr>
            <a:r>
              <a:rPr lang="en-US" sz="900" b="1" spc="150" kern="0" dirty="0">
                <a:solidFill>
                  <a:schemeClr val="accent1"/>
                </a:solidFill>
              </a:rPr>
              <a:t>CLAIMS AGAINST HEADERS (N3)</a:t>
            </a:r>
            <a:endParaRPr lang="en-US" sz="900" dirty="0"/>
          </a:p>
        </p:txBody>
      </p:sp>
      <p:sp>
        <p:nvSpPr>
          <p:cNvPr id="16" name="Text 14"/>
          <p:cNvSpPr txBox="1"/>
          <p:nvPr/>
        </p:nvSpPr>
        <p:spPr>
          <a:xfrm>
            <a:off x="4114800" y="3182112"/>
            <a:ext cx="2029968" cy="868680"/>
          </a:xfrm>
          <a:prstGeom prst="rect">
            <a:avLst/>
          </a:prstGeom>
          <a:noFill/>
          <a:ln/>
        </p:spPr>
        <p:txBody>
          <a:bodyPr wrap="square" lIns="0" tIns="0" rIns="0" bIns="0" rtlCol="0" anchor="t"/>
          <a:lstStyle/>
          <a:p>
            <a:pPr indent="0" marL="0">
              <a:buNone/>
            </a:pPr>
            <a:r>
              <a:rPr lang="en-US" sz="1050" dirty="0">
                <a:solidFill>
                  <a:schemeClr val="tx1"/>
                </a:solidFill>
              </a:rPr>
              <a:t>The routed score against four logistic regressions given the same information.</a:t>
            </a:r>
            <a:endParaRPr lang="en-US" sz="1050" dirty="0"/>
          </a:p>
        </p:txBody>
      </p:sp>
      <p:sp>
        <p:nvSpPr>
          <p:cNvPr id="17" name="Text 15"/>
          <p:cNvSpPr txBox="1"/>
          <p:nvPr/>
        </p:nvSpPr>
        <p:spPr>
          <a:xfrm>
            <a:off x="4114800" y="4041648"/>
            <a:ext cx="2029968" cy="320040"/>
          </a:xfrm>
          <a:prstGeom prst="rect">
            <a:avLst/>
          </a:prstGeom>
          <a:noFill/>
          <a:ln/>
        </p:spPr>
        <p:txBody>
          <a:bodyPr wrap="square" lIns="0" tIns="0" rIns="0" bIns="0" rtlCol="0" anchor="t"/>
          <a:lstStyle/>
          <a:p>
            <a:pPr indent="0" marL="0">
              <a:buNone/>
            </a:pPr>
            <a:r>
              <a:rPr lang="en-US" sz="950" b="1" dirty="0">
                <a:solidFill>
                  <a:schemeClr val="accent2"/>
                </a:solidFill>
              </a:rPr>
              <a:t>Measure: </a:t>
            </a:r>
            <a:pPr indent="0" marL="0">
              <a:buNone/>
            </a:pPr>
            <a:r>
              <a:rPr lang="en-US" sz="950" dirty="0">
                <a:solidFill>
                  <a:schemeClr val="accent2"/>
                </a:solidFill>
              </a:rPr>
              <a:t>F1, recall, false alarm rate, AUC</a:t>
            </a:r>
            <a:endParaRPr lang="en-US" sz="950" dirty="0"/>
          </a:p>
        </p:txBody>
      </p:sp>
      <p:sp>
        <p:nvSpPr>
          <p:cNvPr id="18" name="The parts"/>
          <p:cNvSpPr/>
          <p:nvPr/>
        </p:nvSpPr>
        <p:spPr>
          <a:xfrm>
            <a:off x="6373368" y="2852928"/>
            <a:ext cx="2286000" cy="1554480"/>
          </a:xfrm>
          <a:prstGeom prst="rect">
            <a:avLst/>
          </a:prstGeom>
          <a:solidFill>
            <a:schemeClr val="bg1"/>
          </a:solidFill>
          <a:ln w="9525">
            <a:solidFill>
              <a:schemeClr val="accent6"/>
            </a:solidFill>
            <a:prstDash val="solid"/>
          </a:ln>
        </p:spPr>
      </p:sp>
      <p:sp>
        <p:nvSpPr>
          <p:cNvPr id="19" name="Text 17"/>
          <p:cNvSpPr txBox="1"/>
          <p:nvPr/>
        </p:nvSpPr>
        <p:spPr>
          <a:xfrm>
            <a:off x="6510528" y="2944368"/>
            <a:ext cx="2057400" cy="201168"/>
          </a:xfrm>
          <a:prstGeom prst="rect">
            <a:avLst/>
          </a:prstGeom>
          <a:noFill/>
          <a:ln/>
        </p:spPr>
        <p:txBody>
          <a:bodyPr wrap="square" lIns="0" tIns="0" rIns="0" bIns="0" rtlCol="0" anchor="ctr"/>
          <a:lstStyle/>
          <a:p>
            <a:pPr indent="0" marL="0">
              <a:buNone/>
            </a:pPr>
            <a:r>
              <a:rPr lang="en-US" sz="900" b="1" spc="150" kern="0" dirty="0">
                <a:solidFill>
                  <a:schemeClr val="accent1"/>
                </a:solidFill>
              </a:rPr>
              <a:t>THE PARTS</a:t>
            </a:r>
            <a:endParaRPr lang="en-US" sz="900" dirty="0"/>
          </a:p>
        </p:txBody>
      </p:sp>
      <p:sp>
        <p:nvSpPr>
          <p:cNvPr id="20" name="Text 18"/>
          <p:cNvSpPr txBox="1"/>
          <p:nvPr/>
        </p:nvSpPr>
        <p:spPr>
          <a:xfrm>
            <a:off x="6510528" y="3182112"/>
            <a:ext cx="2029968" cy="868680"/>
          </a:xfrm>
          <a:prstGeom prst="rect">
            <a:avLst/>
          </a:prstGeom>
          <a:noFill/>
          <a:ln/>
        </p:spPr>
        <p:txBody>
          <a:bodyPr wrap="square" lIns="0" tIns="0" rIns="0" bIns="0" rtlCol="0" anchor="t"/>
          <a:lstStyle/>
          <a:p>
            <a:pPr indent="0" marL="0">
              <a:buNone/>
            </a:pPr>
            <a:r>
              <a:rPr lang="en-US" sz="1050" dirty="0">
                <a:solidFill>
                  <a:schemeClr val="tx1"/>
                </a:solidFill>
              </a:rPr>
              <a:t>Tactic classifier and claim extractor against LLM labels; the score's false alarm budget.</a:t>
            </a:r>
            <a:endParaRPr lang="en-US" sz="1050" dirty="0"/>
          </a:p>
        </p:txBody>
      </p:sp>
      <p:sp>
        <p:nvSpPr>
          <p:cNvPr id="21" name="Text 19"/>
          <p:cNvSpPr txBox="1"/>
          <p:nvPr/>
        </p:nvSpPr>
        <p:spPr>
          <a:xfrm>
            <a:off x="6510528" y="4041648"/>
            <a:ext cx="2029968" cy="320040"/>
          </a:xfrm>
          <a:prstGeom prst="rect">
            <a:avLst/>
          </a:prstGeom>
          <a:noFill/>
          <a:ln/>
        </p:spPr>
        <p:txBody>
          <a:bodyPr wrap="square" lIns="0" tIns="0" rIns="0" bIns="0" rtlCol="0" anchor="t"/>
          <a:lstStyle/>
          <a:p>
            <a:pPr indent="0" marL="0">
              <a:buNone/>
            </a:pPr>
            <a:r>
              <a:rPr lang="en-US" sz="950" b="1" dirty="0">
                <a:solidFill>
                  <a:schemeClr val="accent2"/>
                </a:solidFill>
              </a:rPr>
              <a:t>Measure: </a:t>
            </a:r>
            <a:pPr indent="0" marL="0">
              <a:buNone/>
            </a:pPr>
            <a:r>
              <a:rPr lang="en-US" sz="950" dirty="0">
                <a:solidFill>
                  <a:schemeClr val="accent2"/>
                </a:solidFill>
              </a:rPr>
              <a:t>macro F1; share of legitimate mail flagged</a:t>
            </a:r>
            <a:endParaRPr lang="en-US" sz="950" dirty="0"/>
          </a:p>
        </p:txBody>
      </p:sp>
      <p:sp>
        <p:nvSpPr>
          <p:cNvPr id="22" name="Text 20"/>
          <p:cNvSpPr txBox="1"/>
          <p:nvPr/>
        </p:nvSpPr>
        <p:spPr>
          <a:xfrm>
            <a:off x="457200" y="4572000"/>
            <a:ext cx="8229600" cy="320040"/>
          </a:xfrm>
          <a:prstGeom prst="rect">
            <a:avLst/>
          </a:prstGeom>
          <a:noFill/>
          <a:ln/>
        </p:spPr>
        <p:txBody>
          <a:bodyPr wrap="square" lIns="0" tIns="0" rIns="0" bIns="0" rtlCol="0" anchor="t"/>
          <a:lstStyle/>
          <a:p>
            <a:pPr indent="0" marL="0">
              <a:buNone/>
            </a:pPr>
            <a:r>
              <a:rPr lang="en-US" sz="1000" i="1" dirty="0">
                <a:solidFill>
                  <a:schemeClr val="accent2"/>
                </a:solidFill>
              </a:rPr>
              <a:t>F1 balances catching attacks against raising false alarms. AUC measures how well a score ranks attacks above legitimate mail, without a cut-off.</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56032"/>
          </a:xfrm>
          <a:prstGeom prst="rect">
            <a:avLst/>
          </a:prstGeom>
          <a:noFill/>
          <a:ln/>
        </p:spPr>
        <p:txBody>
          <a:bodyPr wrap="square" lIns="0" tIns="0" rIns="0" bIns="0" rtlCol="0" anchor="ctr"/>
          <a:lstStyle/>
          <a:p>
            <a:pPr indent="0" marL="0">
              <a:buNone/>
            </a:pPr>
            <a:r>
              <a:rPr lang="en-US" sz="1000" b="1" spc="200" kern="0" dirty="0">
                <a:solidFill>
                  <a:schemeClr val="accent1"/>
                </a:solidFill>
              </a:rPr>
              <a:t>RESULT 1  ·  LINKS (N1)</a:t>
            </a:r>
            <a:endParaRPr lang="en-US" sz="1000" dirty="0"/>
          </a:p>
        </p:txBody>
      </p:sp>
      <p:sp>
        <p:nvSpPr>
          <p:cNvPr id="3" name="Text 0"/>
          <p:cNvSpPr/>
          <p:nvPr>
            <p:ph idx="101" type="title" hasCustomPrompt="1"/>
          </p:nvPr>
        </p:nvSpPr>
        <p:spPr>
          <a:xfrm>
            <a:off x="457200" y="548640"/>
            <a:ext cx="8229600" cy="548640"/>
          </a:xfrm>
          <a:prstGeom prst="rect">
            <a:avLst/>
          </a:prstGeom>
          <a:noFill/>
          <a:ln/>
        </p:spPr>
        <p:txBody>
          <a:bodyPr wrap="square" lIns="0" tIns="0" rIns="0" bIns="0" rtlCol="0" anchor="t"/>
          <a:lstStyle/>
          <a:p>
            <a:pPr algn="l" indent="0" marL="0">
              <a:buNone/>
            </a:pPr>
            <a:r>
              <a:rPr lang="en-US" sz="2400" dirty="0">
                <a:solidFill>
                  <a:schemeClr val="tx1"/>
                </a:solidFill>
              </a:rPr>
              <a:t>Part of a normal detector's accuracy comes from reading links</a:t>
            </a:r>
            <a:endParaRPr lang="en-US" sz="2400" dirty="0"/>
          </a:p>
        </p:txBody>
      </p:sp>
      <p:graphicFrame>
        <p:nvGraphicFramePr>
          <p:cNvPr id="4" name="Chart 0" descr=""/>
          <p:cNvGraphicFramePr/>
          <p:nvPr/>
        </p:nvGraphicFramePr>
        <p:xfrm>
          <a:off x="457200" y="1234440"/>
          <a:ext cx="4206240" cy="31089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457200" y="4407408"/>
            <a:ext cx="4206240" cy="274320"/>
          </a:xfrm>
          <a:prstGeom prst="rect">
            <a:avLst/>
          </a:prstGeom>
          <a:noFill/>
          <a:ln/>
        </p:spPr>
        <p:txBody>
          <a:bodyPr wrap="square" lIns="0" tIns="0" rIns="0" bIns="0" rtlCol="0" anchor="t"/>
          <a:lstStyle/>
          <a:p>
            <a:pPr indent="0" marL="0">
              <a:buNone/>
            </a:pPr>
            <a:r>
              <a:rPr lang="en-US" sz="950" i="1" dirty="0">
                <a:solidFill>
                  <a:schemeClr val="accent2"/>
                </a:solidFill>
              </a:rPr>
              <a:t>A: +0.059 [+0.050, +0.069].  B: −0.014 [−0.019, −0.009].  F1 on the attack class.</a:t>
            </a:r>
            <a:endParaRPr lang="en-US" sz="950" dirty="0"/>
          </a:p>
        </p:txBody>
      </p:sp>
      <p:sp>
        <p:nvSpPr>
          <p:cNvPr id="6" name="Text 3"/>
          <p:cNvSpPr txBox="1"/>
          <p:nvPr/>
        </p:nvSpPr>
        <p:spPr>
          <a:xfrm>
            <a:off x="4983480" y="1188720"/>
            <a:ext cx="3657600" cy="685800"/>
          </a:xfrm>
          <a:prstGeom prst="rect">
            <a:avLst/>
          </a:prstGeom>
          <a:noFill/>
          <a:ln/>
        </p:spPr>
        <p:txBody>
          <a:bodyPr wrap="square" lIns="0" tIns="0" rIns="0" bIns="0" rtlCol="0" anchor="t"/>
          <a:lstStyle/>
          <a:p>
            <a:pPr indent="0" marL="0">
              <a:buNone/>
            </a:pPr>
            <a:r>
              <a:rPr lang="en-US" sz="4000" b="1" dirty="0">
                <a:solidFill>
                  <a:schemeClr val="accent1"/>
                </a:solidFill>
                <a:latin typeface="+mj-lt" pitchFamily="34" charset="0"/>
                <a:ea typeface="+mj-lt" pitchFamily="34" charset="-122"/>
                <a:cs typeface="+mj-lt" pitchFamily="34" charset="-120"/>
              </a:rPr>
              <a:t>+0.073</a:t>
            </a:r>
            <a:endParaRPr lang="en-US" sz="4000" dirty="0"/>
          </a:p>
        </p:txBody>
      </p:sp>
      <p:sp>
        <p:nvSpPr>
          <p:cNvPr id="7" name="Text 4"/>
          <p:cNvSpPr txBox="1"/>
          <p:nvPr/>
        </p:nvSpPr>
        <p:spPr>
          <a:xfrm>
            <a:off x="4983480" y="1874520"/>
            <a:ext cx="3657600" cy="274320"/>
          </a:xfrm>
          <a:prstGeom prst="rect">
            <a:avLst/>
          </a:prstGeom>
          <a:noFill/>
          <a:ln/>
        </p:spPr>
        <p:txBody>
          <a:bodyPr wrap="square" lIns="0" tIns="0" rIns="0" bIns="0" rtlCol="0" anchor="t"/>
          <a:lstStyle/>
          <a:p>
            <a:pPr indent="0" marL="0">
              <a:buNone/>
            </a:pPr>
            <a:r>
              <a:rPr lang="en-US" sz="1200" b="1" dirty="0">
                <a:solidFill>
                  <a:schemeClr val="tx1"/>
                </a:solidFill>
              </a:rPr>
              <a:t>A's drop minus B's drop, 95% interval [+0.061, +0.086]</a:t>
            </a:r>
            <a:endParaRPr lang="en-US" sz="1200" dirty="0"/>
          </a:p>
        </p:txBody>
      </p:sp>
      <p:sp>
        <p:nvSpPr>
          <p:cNvPr id="8" name="Text 5"/>
          <p:cNvSpPr txBox="1"/>
          <p:nvPr/>
        </p:nvSpPr>
        <p:spPr>
          <a:xfrm>
            <a:off x="4983480" y="2286000"/>
            <a:ext cx="3703320" cy="1920240"/>
          </a:xfrm>
          <a:prstGeom prst="rect">
            <a:avLst/>
          </a:prstGeom>
          <a:noFill/>
          <a:ln/>
        </p:spPr>
        <p:txBody>
          <a:bodyPr wrap="square" lIns="0" tIns="0" rIns="0" bIns="0" rtlCol="0" anchor="t"/>
          <a:lstStyle/>
          <a:p>
            <a:pPr marL="177800" indent="-177800">
              <a:spcAft>
                <a:spcPts val="600"/>
              </a:spcAft>
              <a:buSzPct val="100000"/>
              <a:buChar char="•"/>
            </a:pPr>
            <a:r>
              <a:rPr lang="en-US" sz="1150" dirty="0">
                <a:solidFill>
                  <a:schemeClr val="tx1"/>
                </a:solidFill>
              </a:rPr>
              <a:t>The same direction holds for TF-IDF with logistic regression: +0.035 and +0.028.</a:t>
            </a:r>
            <a:endParaRPr lang="en-US" sz="1150" dirty="0"/>
          </a:p>
          <a:p>
            <a:pPr marL="177800" indent="-177800">
              <a:spcAft>
                <a:spcPts val="600"/>
              </a:spcAft>
              <a:buSzPct val="100000"/>
              <a:buChar char="•"/>
            </a:pPr>
            <a:r>
              <a:rPr lang="en-US" sz="1150" dirty="0">
                <a:solidFill>
                  <a:schemeClr val="tx1"/>
                </a:solidFill>
              </a:rPr>
              <a:t>Training on redacted text keeps most of the accuracy: B on redacted text scores 0.932, A on raw text 0.935.</a:t>
            </a:r>
            <a:endParaRPr lang="en-US" sz="1150" dirty="0"/>
          </a:p>
          <a:p>
            <a:pPr marL="177800" indent="-177800">
              <a:spcAft>
                <a:spcPts val="600"/>
              </a:spcAft>
              <a:buSzPct val="100000"/>
              <a:buChar char="•"/>
            </a:pPr>
            <a:r>
              <a:rPr lang="en-US" sz="1150" dirty="0">
                <a:solidFill>
                  <a:schemeClr val="tx1"/>
                </a:solidFill>
              </a:rPr>
              <a:t>The loss sits in the phishing sources; on Nigerian fraud A's recall stays at 99.4%.</a:t>
            </a:r>
            <a:endParaRPr lang="en-US" sz="1150" dirty="0"/>
          </a:p>
        </p:txBody>
      </p:sp>
      <p:sp>
        <p:nvSpPr>
          <p:cNvPr id="9" name="Text 6"/>
          <p:cNvSpPr txBox="1"/>
          <p:nvPr/>
        </p:nvSpPr>
        <p:spPr>
          <a:xfrm>
            <a:off x="4983480" y="4407408"/>
            <a:ext cx="3703320" cy="274320"/>
          </a:xfrm>
          <a:prstGeom prst="rect">
            <a:avLst/>
          </a:prstGeom>
          <a:noFill/>
          <a:ln/>
        </p:spPr>
        <p:txBody>
          <a:bodyPr wrap="square" lIns="0" tIns="0" rIns="0" bIns="0" rtlCol="0" anchor="t"/>
          <a:lstStyle/>
          <a:p>
            <a:pPr indent="0" marL="0">
              <a:buNone/>
            </a:pPr>
            <a:r>
              <a:rPr lang="en-US" sz="950" i="1" dirty="0">
                <a:solidFill>
                  <a:schemeClr val="accent2"/>
                </a:solidFill>
              </a:rPr>
              <a:t>Corpus labels; one training sample of 9,856 emails; two seeds.</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56032"/>
          </a:xfrm>
          <a:prstGeom prst="rect">
            <a:avLst/>
          </a:prstGeom>
          <a:noFill/>
          <a:ln/>
        </p:spPr>
        <p:txBody>
          <a:bodyPr wrap="square" lIns="0" tIns="0" rIns="0" bIns="0" rtlCol="0" anchor="ctr"/>
          <a:lstStyle/>
          <a:p>
            <a:pPr indent="0" marL="0">
              <a:buNone/>
            </a:pPr>
            <a:r>
              <a:rPr lang="en-US" sz="1000" b="1" spc="200" kern="0" dirty="0">
                <a:solidFill>
                  <a:schemeClr val="accent1"/>
                </a:solidFill>
              </a:rPr>
              <a:t>RESULT 2  ·  THREADS (N2)</a:t>
            </a:r>
            <a:endParaRPr lang="en-US" sz="1000" dirty="0"/>
          </a:p>
        </p:txBody>
      </p:sp>
      <p:sp>
        <p:nvSpPr>
          <p:cNvPr id="3" name="Text 0"/>
          <p:cNvSpPr/>
          <p:nvPr>
            <p:ph idx="101" type="title" hasCustomPrompt="1"/>
          </p:nvPr>
        </p:nvSpPr>
        <p:spPr>
          <a:xfrm>
            <a:off x="457200" y="548640"/>
            <a:ext cx="8229600" cy="548640"/>
          </a:xfrm>
          <a:prstGeom prst="rect">
            <a:avLst/>
          </a:prstGeom>
          <a:noFill/>
          <a:ln/>
        </p:spPr>
        <p:txBody>
          <a:bodyPr wrap="square" lIns="0" tIns="0" rIns="0" bIns="0" rtlCol="0" anchor="t"/>
          <a:lstStyle/>
          <a:p>
            <a:pPr algn="l" indent="0" marL="0">
              <a:buNone/>
            </a:pPr>
            <a:r>
              <a:rPr lang="en-US" sz="2400" dirty="0">
                <a:solidFill>
                  <a:schemeClr val="tx1"/>
                </a:solidFill>
              </a:rPr>
              <a:t>Thread checks catch takeovers that header checks miss</a:t>
            </a:r>
            <a:endParaRPr lang="en-US" sz="2400" dirty="0"/>
          </a:p>
        </p:txBody>
      </p:sp>
      <p:graphicFrame>
        <p:nvGraphicFramePr>
          <p:cNvPr id="4" name="Chart 0" descr=""/>
          <p:cNvGraphicFramePr/>
          <p:nvPr/>
        </p:nvGraphicFramePr>
        <p:xfrm>
          <a:off x="457200" y="1234440"/>
          <a:ext cx="4389120" cy="33832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120640" y="1188720"/>
            <a:ext cx="1737360" cy="548640"/>
          </a:xfrm>
          <a:prstGeom prst="rect">
            <a:avLst/>
          </a:prstGeom>
          <a:noFill/>
          <a:ln/>
        </p:spPr>
        <p:txBody>
          <a:bodyPr wrap="square" lIns="0" tIns="0" rIns="0" bIns="0" rtlCol="0" anchor="t"/>
          <a:lstStyle/>
          <a:p>
            <a:pPr indent="0" marL="0">
              <a:buNone/>
            </a:pPr>
            <a:r>
              <a:rPr lang="en-US" sz="2800" b="1" dirty="0">
                <a:solidFill>
                  <a:schemeClr val="accent1"/>
                </a:solidFill>
                <a:latin typeface="+mj-lt" pitchFamily="34" charset="0"/>
                <a:ea typeface="+mj-lt" pitchFamily="34" charset="-122"/>
                <a:cs typeface="+mj-lt" pitchFamily="34" charset="-120"/>
              </a:rPr>
              <a:t>18 of 25</a:t>
            </a:r>
            <a:endParaRPr lang="en-US" sz="2800" dirty="0"/>
          </a:p>
        </p:txBody>
      </p:sp>
      <p:sp>
        <p:nvSpPr>
          <p:cNvPr id="6" name="Text 3"/>
          <p:cNvSpPr txBox="1"/>
          <p:nvPr/>
        </p:nvSpPr>
        <p:spPr>
          <a:xfrm>
            <a:off x="5120640" y="1737360"/>
            <a:ext cx="1691640" cy="502920"/>
          </a:xfrm>
          <a:prstGeom prst="rect">
            <a:avLst/>
          </a:prstGeom>
          <a:noFill/>
          <a:ln/>
        </p:spPr>
        <p:txBody>
          <a:bodyPr wrap="square" lIns="0" tIns="0" rIns="0" bIns="0" rtlCol="0" anchor="t"/>
          <a:lstStyle/>
          <a:p>
            <a:pPr indent="0" marL="0">
              <a:buNone/>
            </a:pPr>
            <a:r>
              <a:rPr lang="en-US" sz="1050" dirty="0">
                <a:solidFill>
                  <a:schemeClr val="accent2"/>
                </a:solidFill>
              </a:rPr>
              <a:t>Apache takeovers found: 72.0% [52.0%, 88.0%]</a:t>
            </a:r>
            <a:endParaRPr lang="en-US" sz="1050" dirty="0"/>
          </a:p>
        </p:txBody>
      </p:sp>
      <p:sp>
        <p:nvSpPr>
          <p:cNvPr id="7" name="Text 4"/>
          <p:cNvSpPr txBox="1"/>
          <p:nvPr/>
        </p:nvSpPr>
        <p:spPr>
          <a:xfrm>
            <a:off x="6949440" y="1188720"/>
            <a:ext cx="1737360" cy="548640"/>
          </a:xfrm>
          <a:prstGeom prst="rect">
            <a:avLst/>
          </a:prstGeom>
          <a:noFill/>
          <a:ln/>
        </p:spPr>
        <p:txBody>
          <a:bodyPr wrap="square" lIns="0" tIns="0" rIns="0" bIns="0" rtlCol="0" anchor="t"/>
          <a:lstStyle/>
          <a:p>
            <a:pPr indent="0" marL="0">
              <a:buNone/>
            </a:pPr>
            <a:r>
              <a:rPr lang="en-US" sz="2800" b="1" dirty="0">
                <a:solidFill>
                  <a:schemeClr val="accent1"/>
                </a:solidFill>
                <a:latin typeface="+mj-lt" pitchFamily="34" charset="0"/>
                <a:ea typeface="+mj-lt" pitchFamily="34" charset="-122"/>
                <a:cs typeface="+mj-lt" pitchFamily="34" charset="-120"/>
              </a:rPr>
              <a:t>48 of 51</a:t>
            </a:r>
            <a:endParaRPr lang="en-US" sz="2800" dirty="0"/>
          </a:p>
        </p:txBody>
      </p:sp>
      <p:sp>
        <p:nvSpPr>
          <p:cNvPr id="8" name="Text 5"/>
          <p:cNvSpPr txBox="1"/>
          <p:nvPr/>
        </p:nvSpPr>
        <p:spPr>
          <a:xfrm>
            <a:off x="6949440" y="1737360"/>
            <a:ext cx="1691640" cy="502920"/>
          </a:xfrm>
          <a:prstGeom prst="rect">
            <a:avLst/>
          </a:prstGeom>
          <a:noFill/>
          <a:ln/>
        </p:spPr>
        <p:txBody>
          <a:bodyPr wrap="square" lIns="0" tIns="0" rIns="0" bIns="0" rtlCol="0" anchor="t"/>
          <a:lstStyle/>
          <a:p>
            <a:pPr indent="0" marL="0">
              <a:buNone/>
            </a:pPr>
            <a:r>
              <a:rPr lang="en-US" sz="1050" dirty="0">
                <a:solidFill>
                  <a:schemeClr val="accent2"/>
                </a:solidFill>
              </a:rPr>
              <a:t>Enron takeovers found: 94.1% [88.2%, 100.0%]</a:t>
            </a:r>
            <a:endParaRPr lang="en-US" sz="1050" dirty="0"/>
          </a:p>
        </p:txBody>
      </p:sp>
      <p:sp>
        <p:nvSpPr>
          <p:cNvPr id="9" name="Text 6"/>
          <p:cNvSpPr txBox="1"/>
          <p:nvPr/>
        </p:nvSpPr>
        <p:spPr>
          <a:xfrm>
            <a:off x="5120640" y="2423160"/>
            <a:ext cx="3566160" cy="1691640"/>
          </a:xfrm>
          <a:prstGeom prst="rect">
            <a:avLst/>
          </a:prstGeom>
          <a:noFill/>
          <a:ln/>
        </p:spPr>
        <p:txBody>
          <a:bodyPr wrap="square" lIns="0" tIns="0" rIns="0" bIns="0" rtlCol="0" anchor="t"/>
          <a:lstStyle/>
          <a:p>
            <a:pPr marL="177800" indent="-177800">
              <a:spcAft>
                <a:spcPts val="600"/>
              </a:spcAft>
              <a:buSzPct val="100000"/>
              <a:buChar char="•"/>
            </a:pPr>
            <a:r>
              <a:rPr lang="en-US" sz="1150" dirty="0">
                <a:solidFill>
                  <a:schemeClr val="tx1"/>
                </a:solidFill>
              </a:rPr>
              <a:t>Header and request rules alone found 5 of 25 and 0 of 51.</a:t>
            </a:r>
            <a:endParaRPr lang="en-US" sz="1150" dirty="0"/>
          </a:p>
          <a:p>
            <a:pPr marL="177800" indent="-177800">
              <a:spcAft>
                <a:spcPts val="600"/>
              </a:spcAft>
              <a:buSzPct val="100000"/>
              <a:buChar char="•"/>
            </a:pPr>
            <a:r>
              <a:rPr lang="en-US" sz="1150" dirty="0">
                <a:solidFill>
                  <a:schemeClr val="tx1"/>
                </a:solidFill>
              </a:rPr>
              <a:t>False alarms on the real next reply: 0 of 25 on Apache, 1 of 51 on Enron.</a:t>
            </a:r>
            <a:endParaRPr lang="en-US" sz="1150" dirty="0"/>
          </a:p>
          <a:p>
            <a:pPr marL="177800" indent="-177800">
              <a:spcAft>
                <a:spcPts val="600"/>
              </a:spcAft>
              <a:buSzPct val="100000"/>
              <a:buChar char="•"/>
            </a:pPr>
            <a:r>
              <a:rPr lang="en-US" sz="1150" dirty="0">
                <a:solidFill>
                  <a:schemeClr val="tx1"/>
                </a:solidFill>
              </a:rPr>
              <a:t>Lookalike swaps and forged threads were also caught; these mainly confirm that the rules work as specified.</a:t>
            </a:r>
            <a:endParaRPr lang="en-US" sz="1150" dirty="0"/>
          </a:p>
        </p:txBody>
      </p:sp>
      <p:sp>
        <p:nvSpPr>
          <p:cNvPr id="10" name="Text 7"/>
          <p:cNvSpPr txBox="1"/>
          <p:nvPr/>
        </p:nvSpPr>
        <p:spPr>
          <a:xfrm>
            <a:off x="5120640" y="4206240"/>
            <a:ext cx="3566160" cy="411480"/>
          </a:xfrm>
          <a:prstGeom prst="rect">
            <a:avLst/>
          </a:prstGeom>
          <a:noFill/>
          <a:ln/>
        </p:spPr>
        <p:txBody>
          <a:bodyPr wrap="square" lIns="0" tIns="0" rIns="0" bIns="0" rtlCol="0" anchor="t"/>
          <a:lstStyle/>
          <a:p>
            <a:pPr indent="0" marL="0">
              <a:buNone/>
            </a:pPr>
            <a:r>
              <a:rPr lang="en-US" sz="950" i="1" dirty="0">
                <a:solidFill>
                  <a:schemeClr val="accent2"/>
                </a:solidFill>
              </a:rPr>
              <a:t>The injected messages are synthetic, so this tests the rules against the construction, not against real attackers.</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56032"/>
          </a:xfrm>
          <a:prstGeom prst="rect">
            <a:avLst/>
          </a:prstGeom>
          <a:noFill/>
          <a:ln/>
        </p:spPr>
        <p:txBody>
          <a:bodyPr wrap="square" lIns="0" tIns="0" rIns="0" bIns="0" rtlCol="0" anchor="ctr"/>
          <a:lstStyle/>
          <a:p>
            <a:pPr indent="0" marL="0">
              <a:buNone/>
            </a:pPr>
            <a:r>
              <a:rPr lang="en-US" sz="1000" b="1" spc="200" kern="0" dirty="0">
                <a:solidFill>
                  <a:schemeClr val="accent1"/>
                </a:solidFill>
              </a:rPr>
              <a:t>RESULT 3  ·  DETECTION</a:t>
            </a:r>
            <a:endParaRPr lang="en-US" sz="1000" dirty="0"/>
          </a:p>
        </p:txBody>
      </p:sp>
      <p:sp>
        <p:nvSpPr>
          <p:cNvPr id="3" name="Text 0"/>
          <p:cNvSpPr/>
          <p:nvPr>
            <p:ph idx="101" type="title" hasCustomPrompt="1"/>
          </p:nvPr>
        </p:nvSpPr>
        <p:spPr>
          <a:xfrm>
            <a:off x="457200" y="548640"/>
            <a:ext cx="8229600" cy="548640"/>
          </a:xfrm>
          <a:prstGeom prst="rect">
            <a:avLst/>
          </a:prstGeom>
          <a:noFill/>
          <a:ln/>
        </p:spPr>
        <p:txBody>
          <a:bodyPr wrap="square" lIns="0" tIns="0" rIns="0" bIns="0" rtlCol="0" anchor="t"/>
          <a:lstStyle/>
          <a:p>
            <a:pPr algn="l" indent="0" marL="0">
              <a:buNone/>
            </a:pPr>
            <a:r>
              <a:rPr lang="en-US" sz="2400" dirty="0">
                <a:solidFill>
                  <a:schemeClr val="tx1"/>
                </a:solidFill>
              </a:rPr>
              <a:t>As a plain detector, the pipeline is not the best</a:t>
            </a:r>
            <a:endParaRPr lang="en-US" sz="2400" dirty="0"/>
          </a:p>
        </p:txBody>
      </p:sp>
      <p:graphicFrame>
        <p:nvGraphicFramePr>
          <p:cNvPr id="4" name="Chart 0" descr=""/>
          <p:cNvGraphicFramePr/>
          <p:nvPr/>
        </p:nvGraphicFramePr>
        <p:xfrm>
          <a:off x="457200" y="1234440"/>
          <a:ext cx="4297680" cy="31546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457200" y="4434840"/>
            <a:ext cx="4297680" cy="411480"/>
          </a:xfrm>
          <a:prstGeom prst="rect">
            <a:avLst/>
          </a:prstGeom>
          <a:noFill/>
          <a:ln/>
        </p:spPr>
        <p:txBody>
          <a:bodyPr wrap="square" lIns="0" tIns="0" rIns="0" bIns="0" rtlCol="0" anchor="t"/>
          <a:lstStyle/>
          <a:p>
            <a:pPr indent="0" marL="0">
              <a:buNone/>
            </a:pPr>
            <a:r>
              <a:rPr lang="en-US" sz="950" i="1" dirty="0">
                <a:solidFill>
                  <a:schemeClr val="accent2"/>
                </a:solidFill>
              </a:rPr>
              <a:t>3,045 test attacks against 6,357 legitimate test emails. Learned systems held to the routed score's false alarm rate, with a 0.5% floor.</a:t>
            </a:r>
            <a:endParaRPr lang="en-US" sz="950" dirty="0"/>
          </a:p>
        </p:txBody>
      </p:sp>
      <p:sp>
        <p:nvSpPr>
          <p:cNvPr id="6" name="Text 3"/>
          <p:cNvSpPr txBox="1"/>
          <p:nvPr/>
        </p:nvSpPr>
        <p:spPr>
          <a:xfrm>
            <a:off x="5029200" y="1188720"/>
            <a:ext cx="1463040" cy="594360"/>
          </a:xfrm>
          <a:prstGeom prst="rect">
            <a:avLst/>
          </a:prstGeom>
          <a:noFill/>
          <a:ln/>
        </p:spPr>
        <p:txBody>
          <a:bodyPr wrap="square" lIns="0" tIns="0" rIns="0" bIns="0" rtlCol="0" anchor="t"/>
          <a:lstStyle/>
          <a:p>
            <a:pPr indent="0" marL="0">
              <a:buNone/>
            </a:pPr>
            <a:r>
              <a:rPr lang="en-US" sz="3200" b="1" dirty="0">
                <a:solidFill>
                  <a:schemeClr val="accent4"/>
                </a:solidFill>
                <a:latin typeface="+mj-lt" pitchFamily="34" charset="0"/>
                <a:ea typeface="+mj-lt" pitchFamily="34" charset="-122"/>
                <a:cs typeface="+mj-lt" pitchFamily="34" charset="-120"/>
              </a:rPr>
              <a:t>0.238</a:t>
            </a:r>
            <a:endParaRPr lang="en-US" sz="3200" dirty="0"/>
          </a:p>
        </p:txBody>
      </p:sp>
      <p:sp>
        <p:nvSpPr>
          <p:cNvPr id="7" name="Text 4"/>
          <p:cNvSpPr txBox="1"/>
          <p:nvPr/>
        </p:nvSpPr>
        <p:spPr>
          <a:xfrm>
            <a:off x="6446520" y="1234440"/>
            <a:ext cx="2240280" cy="548640"/>
          </a:xfrm>
          <a:prstGeom prst="rect">
            <a:avLst/>
          </a:prstGeom>
          <a:noFill/>
          <a:ln/>
        </p:spPr>
        <p:txBody>
          <a:bodyPr wrap="square" lIns="0" tIns="0" rIns="0" bIns="0" rtlCol="0" anchor="ctr"/>
          <a:lstStyle/>
          <a:p>
            <a:pPr indent="0" marL="0">
              <a:buNone/>
            </a:pPr>
            <a:r>
              <a:rPr lang="en-US" sz="1050" dirty="0">
                <a:solidFill>
                  <a:schemeClr val="accent2"/>
                </a:solidFill>
              </a:rPr>
              <a:t>routed F1 [0.204, 0.277], recall 13.6%, against 0.882 for parallel fusion</a:t>
            </a:r>
            <a:endParaRPr lang="en-US" sz="1050" dirty="0"/>
          </a:p>
        </p:txBody>
      </p:sp>
      <p:sp>
        <p:nvSpPr>
          <p:cNvPr id="8" name="Text 5"/>
          <p:cNvSpPr txBox="1"/>
          <p:nvPr/>
        </p:nvSpPr>
        <p:spPr>
          <a:xfrm>
            <a:off x="5029200" y="1965960"/>
            <a:ext cx="3657600" cy="2880360"/>
          </a:xfrm>
          <a:prstGeom prst="rect">
            <a:avLst/>
          </a:prstGeom>
          <a:noFill/>
          <a:ln/>
        </p:spPr>
        <p:txBody>
          <a:bodyPr wrap="square" lIns="0" tIns="0" rIns="0" bIns="0" rtlCol="0" anchor="t"/>
          <a:lstStyle/>
          <a:p>
            <a:pPr marL="177800" indent="-177800">
              <a:spcAft>
                <a:spcPts val="700"/>
              </a:spcAft>
              <a:buSzPct val="100000"/>
              <a:buChar char="•"/>
            </a:pPr>
            <a:r>
              <a:rPr lang="en-US" sz="1150" dirty="0">
                <a:solidFill>
                  <a:schemeClr val="tx1"/>
                </a:solidFill>
              </a:rPr>
              <a:t>Its AUC is also the lowest: 0.812, against 0.949 to 0.993.</a:t>
            </a:r>
            <a:endParaRPr lang="en-US" sz="1150" dirty="0"/>
          </a:p>
          <a:p>
            <a:pPr marL="177800" indent="-177800">
              <a:spcAft>
                <a:spcPts val="700"/>
              </a:spcAft>
              <a:buSzPct val="100000"/>
              <a:buChar char="•"/>
            </a:pPr>
            <a:r>
              <a:rPr lang="en-US" sz="1150" dirty="0">
                <a:solidFill>
                  <a:schemeClr val="tx1"/>
                </a:solidFill>
              </a:rPr>
              <a:t>It can flag only emails with a checked claim, and 788 of the 3,045 attacks have one. On those, its F1 is 0.679 [0.633, 0.734]: not distinguishable from text only or headers only, still behind fusion.</a:t>
            </a:r>
            <a:endParaRPr lang="en-US" sz="1150" dirty="0"/>
          </a:p>
          <a:p>
            <a:pPr marL="177800" indent="-177800">
              <a:spcAft>
                <a:spcPts val="700"/>
              </a:spcAft>
              <a:buSzPct val="100000"/>
              <a:buChar char="•"/>
            </a:pPr>
            <a:r>
              <a:rPr lang="en-US" sz="1150" dirty="0">
                <a:solidFill>
                  <a:schemeClr val="tx1"/>
                </a:solidFill>
              </a:rPr>
              <a:t>The learned systems saw attack labels, and a headers-only model can partly learn which corpus an email came from. Neither removes the gap.</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56032"/>
          </a:xfrm>
          <a:prstGeom prst="rect">
            <a:avLst/>
          </a:prstGeom>
          <a:noFill/>
          <a:ln/>
        </p:spPr>
        <p:txBody>
          <a:bodyPr wrap="square" lIns="0" tIns="0" rIns="0" bIns="0" rtlCol="0" anchor="ctr"/>
          <a:lstStyle/>
          <a:p>
            <a:pPr indent="0" marL="0">
              <a:buNone/>
            </a:pPr>
            <a:r>
              <a:rPr lang="en-US" sz="1000" b="1" spc="200" kern="0" dirty="0">
                <a:solidFill>
                  <a:schemeClr val="accent1"/>
                </a:solidFill>
              </a:rPr>
              <a:t>RESULT 4  ·  EXPLAINED ALARMS</a:t>
            </a:r>
            <a:endParaRPr lang="en-US" sz="1000" dirty="0"/>
          </a:p>
        </p:txBody>
      </p:sp>
      <p:sp>
        <p:nvSpPr>
          <p:cNvPr id="3" name="Text 0"/>
          <p:cNvSpPr/>
          <p:nvPr>
            <p:ph idx="101" type="title" hasCustomPrompt="1"/>
          </p:nvPr>
        </p:nvSpPr>
        <p:spPr>
          <a:xfrm>
            <a:off x="457200" y="548640"/>
            <a:ext cx="8229600" cy="548640"/>
          </a:xfrm>
          <a:prstGeom prst="rect">
            <a:avLst/>
          </a:prstGeom>
          <a:noFill/>
          <a:ln/>
        </p:spPr>
        <p:txBody>
          <a:bodyPr wrap="square" lIns="0" tIns="0" rIns="0" bIns="0" rtlCol="0" anchor="t"/>
          <a:lstStyle/>
          <a:p>
            <a:pPr algn="l" indent="0" marL="0">
              <a:buNone/>
            </a:pPr>
            <a:r>
              <a:rPr lang="en-US" sz="2400" dirty="0">
                <a:solidFill>
                  <a:schemeClr val="tx1"/>
                </a:solidFill>
              </a:rPr>
              <a:t>Every alarm comes with its reason</a:t>
            </a:r>
            <a:endParaRPr lang="en-US" sz="2400" dirty="0"/>
          </a:p>
        </p:txBody>
      </p:sp>
      <p:sp>
        <p:nvSpPr>
          <p:cNvPr id="4" name="Traceability"/>
          <p:cNvSpPr/>
          <p:nvPr/>
        </p:nvSpPr>
        <p:spPr>
          <a:xfrm>
            <a:off x="457200" y="1234440"/>
            <a:ext cx="3566160" cy="1920240"/>
          </a:xfrm>
          <a:prstGeom prst="rect">
            <a:avLst/>
          </a:prstGeom>
          <a:solidFill>
            <a:schemeClr val="tx2"/>
          </a:solidFill>
          <a:ln w="9525">
            <a:solidFill>
              <a:schemeClr val="tx2"/>
            </a:solidFill>
            <a:prstDash val="solid"/>
          </a:ln>
        </p:spPr>
      </p:sp>
      <p:sp>
        <p:nvSpPr>
          <p:cNvPr id="5" name="Text 3"/>
          <p:cNvSpPr txBox="1"/>
          <p:nvPr/>
        </p:nvSpPr>
        <p:spPr>
          <a:xfrm>
            <a:off x="640080" y="1371600"/>
            <a:ext cx="3200400" cy="685800"/>
          </a:xfrm>
          <a:prstGeom prst="rect">
            <a:avLst/>
          </a:prstGeom>
          <a:noFill/>
          <a:ln/>
        </p:spPr>
        <p:txBody>
          <a:bodyPr wrap="square" lIns="0" tIns="0" rIns="0" bIns="0" rtlCol="0" anchor="t"/>
          <a:lstStyle/>
          <a:p>
            <a:pPr indent="0" marL="0">
              <a:buNone/>
            </a:pPr>
            <a:r>
              <a:rPr lang="en-US" sz="3600" b="1" dirty="0">
                <a:solidFill>
                  <a:schemeClr val="accent1"/>
                </a:solidFill>
                <a:latin typeface="+mj-lt" pitchFamily="34" charset="0"/>
                <a:ea typeface="+mj-lt" pitchFamily="34" charset="-122"/>
                <a:cs typeface="+mj-lt" pitchFamily="34" charset="-120"/>
              </a:rPr>
              <a:t>442 of 442</a:t>
            </a:r>
            <a:endParaRPr lang="en-US" sz="3600" dirty="0"/>
          </a:p>
        </p:txBody>
      </p:sp>
      <p:sp>
        <p:nvSpPr>
          <p:cNvPr id="6" name="Text 4"/>
          <p:cNvSpPr txBox="1"/>
          <p:nvPr/>
        </p:nvSpPr>
        <p:spPr>
          <a:xfrm>
            <a:off x="640080" y="2103120"/>
            <a:ext cx="3200400" cy="731520"/>
          </a:xfrm>
          <a:prstGeom prst="rect">
            <a:avLst/>
          </a:prstGeom>
          <a:noFill/>
          <a:ln/>
        </p:spPr>
        <p:txBody>
          <a:bodyPr wrap="square" lIns="0" tIns="0" rIns="0" bIns="0" rtlCol="0" anchor="t"/>
          <a:lstStyle/>
          <a:p>
            <a:pPr indent="0" marL="0">
              <a:buNone/>
            </a:pPr>
            <a:r>
              <a:rPr lang="en-US" sz="1300" dirty="0">
                <a:solidFill>
                  <a:schemeClr val="bg1"/>
                </a:solidFill>
              </a:rPr>
              <a:t>flagged test emails have a claim, a rule and evidence behind them</a:t>
            </a:r>
            <a:endParaRPr lang="en-US" sz="1300" dirty="0"/>
          </a:p>
        </p:txBody>
      </p:sp>
      <p:sp>
        <p:nvSpPr>
          <p:cNvPr id="7" name="Text 5"/>
          <p:cNvSpPr txBox="1"/>
          <p:nvPr/>
        </p:nvSpPr>
        <p:spPr>
          <a:xfrm>
            <a:off x="457200" y="3337560"/>
            <a:ext cx="3566160" cy="91440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chemeClr val="tx1"/>
                </a:solidFill>
              </a:rPr>
              <a:t>None of the flat classifier's 1,819 flags names a claim.</a:t>
            </a:r>
            <a:endParaRPr lang="en-US" sz="1200" dirty="0"/>
          </a:p>
          <a:p>
            <a:pPr marL="177800" indent="-177800">
              <a:spcAft>
                <a:spcPts val="600"/>
              </a:spcAft>
              <a:buSzPct val="100000"/>
              <a:buChar char="•"/>
            </a:pPr>
            <a:r>
              <a:rPr lang="en-US" sz="1200" dirty="0">
                <a:solidFill>
                  <a:schemeClr val="tx1"/>
                </a:solidFill>
              </a:rPr>
              <a:t>This is a property of the design, not a measured gain.</a:t>
            </a:r>
            <a:endParaRPr lang="en-US" sz="1200" dirty="0"/>
          </a:p>
        </p:txBody>
      </p:sp>
      <p:graphicFrame>
        <p:nvGraphicFramePr>
          <p:cNvPr id="8" name="Chart 0" descr=""/>
          <p:cNvGraphicFramePr/>
          <p:nvPr/>
        </p:nvGraphicFramePr>
        <p:xfrm>
          <a:off x="4297680" y="1234440"/>
          <a:ext cx="4389120" cy="2926080"/>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4297680" y="4224528"/>
            <a:ext cx="4389120" cy="640080"/>
          </a:xfrm>
          <a:prstGeom prst="rect">
            <a:avLst/>
          </a:prstGeom>
          <a:noFill/>
          <a:ln/>
        </p:spPr>
        <p:txBody>
          <a:bodyPr wrap="square" lIns="0" tIns="0" rIns="0" bIns="0" rtlCol="0" anchor="t"/>
          <a:lstStyle/>
          <a:p>
            <a:pPr indent="0" marL="0">
              <a:buNone/>
            </a:pPr>
            <a:r>
              <a:rPr lang="en-US" sz="1000" i="1" dirty="0">
                <a:solidFill>
                  <a:schemeClr val="accent2"/>
                </a:solidFill>
              </a:rPr>
              <a:t>Headers only flags every attack and every twin: it cannot tell them apart. The routed score flags 19 attacks (61.3% [45.2%, 77.4%]) and no twins. Text and headers in this arm are synthetic.</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56032"/>
          </a:xfrm>
          <a:prstGeom prst="rect">
            <a:avLst/>
          </a:prstGeom>
          <a:noFill/>
          <a:ln/>
        </p:spPr>
        <p:txBody>
          <a:bodyPr wrap="square" lIns="0" tIns="0" rIns="0" bIns="0" rtlCol="0" anchor="ctr"/>
          <a:lstStyle/>
          <a:p>
            <a:pPr indent="0" marL="0">
              <a:buNone/>
            </a:pPr>
            <a:r>
              <a:rPr lang="en-US" sz="1000" b="1" spc="200" kern="0" dirty="0">
                <a:solidFill>
                  <a:schemeClr val="accent1"/>
                </a:solidFill>
              </a:rPr>
              <a:t>RESULT 5  ·  THE PARTS</a:t>
            </a:r>
            <a:endParaRPr lang="en-US" sz="1000" dirty="0"/>
          </a:p>
        </p:txBody>
      </p:sp>
      <p:sp>
        <p:nvSpPr>
          <p:cNvPr id="3" name="Text 0"/>
          <p:cNvSpPr/>
          <p:nvPr>
            <p:ph idx="101" type="title" hasCustomPrompt="1"/>
          </p:nvPr>
        </p:nvSpPr>
        <p:spPr>
          <a:xfrm>
            <a:off x="457200" y="548640"/>
            <a:ext cx="8229600" cy="548640"/>
          </a:xfrm>
          <a:prstGeom prst="rect">
            <a:avLst/>
          </a:prstGeom>
          <a:noFill/>
          <a:ln/>
        </p:spPr>
        <p:txBody>
          <a:bodyPr wrap="square" lIns="0" tIns="0" rIns="0" bIns="0" rtlCol="0" anchor="t"/>
          <a:lstStyle/>
          <a:p>
            <a:pPr algn="l" indent="0" marL="0">
              <a:buNone/>
            </a:pPr>
            <a:r>
              <a:rPr lang="en-US" sz="2400" dirty="0">
                <a:solidFill>
                  <a:schemeClr val="tx1"/>
                </a:solidFill>
              </a:rPr>
              <a:t>Tactics, claims and false alarms</a:t>
            </a:r>
            <a:endParaRPr lang="en-US" sz="2400" dirty="0"/>
          </a:p>
        </p:txBody>
      </p:sp>
      <p:sp>
        <p:nvSpPr>
          <p:cNvPr id="4" name="Tactics"/>
          <p:cNvSpPr/>
          <p:nvPr/>
        </p:nvSpPr>
        <p:spPr>
          <a:xfrm>
            <a:off x="457200" y="1188720"/>
            <a:ext cx="4023360" cy="1572768"/>
          </a:xfrm>
          <a:prstGeom prst="rect">
            <a:avLst/>
          </a:prstGeom>
          <a:solidFill>
            <a:schemeClr val="bg1"/>
          </a:solidFill>
          <a:ln w="9525">
            <a:solidFill>
              <a:schemeClr val="accent6"/>
            </a:solidFill>
            <a:prstDash val="solid"/>
          </a:ln>
        </p:spPr>
      </p:sp>
      <p:sp>
        <p:nvSpPr>
          <p:cNvPr id="5" name="Text 3"/>
          <p:cNvSpPr txBox="1"/>
          <p:nvPr/>
        </p:nvSpPr>
        <p:spPr>
          <a:xfrm>
            <a:off x="640080" y="1298448"/>
            <a:ext cx="3657600" cy="201168"/>
          </a:xfrm>
          <a:prstGeom prst="rect">
            <a:avLst/>
          </a:prstGeom>
          <a:noFill/>
          <a:ln/>
        </p:spPr>
        <p:txBody>
          <a:bodyPr wrap="square" lIns="0" tIns="0" rIns="0" bIns="0" rtlCol="0" anchor="ctr"/>
          <a:lstStyle/>
          <a:p>
            <a:pPr indent="0" marL="0">
              <a:buNone/>
            </a:pPr>
            <a:r>
              <a:rPr lang="en-US" sz="900" b="1" spc="150" kern="0" dirty="0">
                <a:solidFill>
                  <a:schemeClr val="accent1"/>
                </a:solidFill>
              </a:rPr>
              <a:t>TACTICS</a:t>
            </a:r>
            <a:endParaRPr lang="en-US" sz="900" dirty="0"/>
          </a:p>
        </p:txBody>
      </p:sp>
      <p:sp>
        <p:nvSpPr>
          <p:cNvPr id="6" name="Text 4"/>
          <p:cNvSpPr txBox="1"/>
          <p:nvPr/>
        </p:nvSpPr>
        <p:spPr>
          <a:xfrm>
            <a:off x="640080" y="1536192"/>
            <a:ext cx="3657600" cy="502920"/>
          </a:xfrm>
          <a:prstGeom prst="rect">
            <a:avLst/>
          </a:prstGeom>
          <a:noFill/>
          <a:ln/>
        </p:spPr>
        <p:txBody>
          <a:bodyPr wrap="square" lIns="0" tIns="0" rIns="0" bIns="0" rtlCol="0" anchor="t"/>
          <a:lstStyle/>
          <a:p>
            <a:pPr indent="0" marL="0">
              <a:buNone/>
            </a:pPr>
            <a:r>
              <a:rPr lang="en-US" sz="2600" b="1" dirty="0">
                <a:solidFill>
                  <a:schemeClr val="accent1"/>
                </a:solidFill>
                <a:latin typeface="+mj-lt" pitchFamily="34" charset="0"/>
                <a:ea typeface="+mj-lt" pitchFamily="34" charset="-122"/>
                <a:cs typeface="+mj-lt" pitchFamily="34" charset="-120"/>
              </a:rPr>
              <a:t>0.479 vs 0.500</a:t>
            </a:r>
            <a:endParaRPr lang="en-US" sz="2600" dirty="0"/>
          </a:p>
        </p:txBody>
      </p:sp>
      <p:sp>
        <p:nvSpPr>
          <p:cNvPr id="7" name="Text 5"/>
          <p:cNvSpPr txBox="1"/>
          <p:nvPr/>
        </p:nvSpPr>
        <p:spPr>
          <a:xfrm>
            <a:off x="640080" y="2057400"/>
            <a:ext cx="3657600" cy="658368"/>
          </a:xfrm>
          <a:prstGeom prst="rect">
            <a:avLst/>
          </a:prstGeom>
          <a:noFill/>
          <a:ln/>
        </p:spPr>
        <p:txBody>
          <a:bodyPr wrap="square" lIns="0" tIns="0" rIns="0" bIns="0" rtlCol="0" anchor="t"/>
          <a:lstStyle/>
          <a:p>
            <a:pPr indent="0" marL="0">
              <a:buNone/>
            </a:pPr>
            <a:r>
              <a:rPr lang="en-US" sz="1050" dirty="0">
                <a:solidFill>
                  <a:schemeClr val="accent2"/>
                </a:solidFill>
              </a:rPr>
              <a:t>Macro F1 of the DistilBERT tactic classifier against a keyword baseline. The difference, −0.021 [−0.144, +0.091], includes 0: neither is better.</a:t>
            </a:r>
            <a:endParaRPr lang="en-US" sz="1050" dirty="0"/>
          </a:p>
        </p:txBody>
      </p:sp>
      <p:sp>
        <p:nvSpPr>
          <p:cNvPr id="8" name="Claims"/>
          <p:cNvSpPr/>
          <p:nvPr/>
        </p:nvSpPr>
        <p:spPr>
          <a:xfrm>
            <a:off x="4663440" y="1188720"/>
            <a:ext cx="4023360" cy="1572768"/>
          </a:xfrm>
          <a:prstGeom prst="rect">
            <a:avLst/>
          </a:prstGeom>
          <a:solidFill>
            <a:schemeClr val="bg1"/>
          </a:solidFill>
          <a:ln w="9525">
            <a:solidFill>
              <a:schemeClr val="accent6"/>
            </a:solidFill>
            <a:prstDash val="solid"/>
          </a:ln>
        </p:spPr>
      </p:sp>
      <p:sp>
        <p:nvSpPr>
          <p:cNvPr id="9" name="Text 7"/>
          <p:cNvSpPr txBox="1"/>
          <p:nvPr/>
        </p:nvSpPr>
        <p:spPr>
          <a:xfrm>
            <a:off x="4846320" y="1298448"/>
            <a:ext cx="3657600" cy="201168"/>
          </a:xfrm>
          <a:prstGeom prst="rect">
            <a:avLst/>
          </a:prstGeom>
          <a:noFill/>
          <a:ln/>
        </p:spPr>
        <p:txBody>
          <a:bodyPr wrap="square" lIns="0" tIns="0" rIns="0" bIns="0" rtlCol="0" anchor="ctr"/>
          <a:lstStyle/>
          <a:p>
            <a:pPr indent="0" marL="0">
              <a:buNone/>
            </a:pPr>
            <a:r>
              <a:rPr lang="en-US" sz="900" b="1" spc="150" kern="0" dirty="0">
                <a:solidFill>
                  <a:schemeClr val="accent1"/>
                </a:solidFill>
              </a:rPr>
              <a:t>CLAIMS</a:t>
            </a:r>
            <a:endParaRPr lang="en-US" sz="900" dirty="0"/>
          </a:p>
        </p:txBody>
      </p:sp>
      <p:sp>
        <p:nvSpPr>
          <p:cNvPr id="10" name="Text 8"/>
          <p:cNvSpPr txBox="1"/>
          <p:nvPr/>
        </p:nvSpPr>
        <p:spPr>
          <a:xfrm>
            <a:off x="4846320" y="1536192"/>
            <a:ext cx="3657600" cy="502920"/>
          </a:xfrm>
          <a:prstGeom prst="rect">
            <a:avLst/>
          </a:prstGeom>
          <a:noFill/>
          <a:ln/>
        </p:spPr>
        <p:txBody>
          <a:bodyPr wrap="square" lIns="0" tIns="0" rIns="0" bIns="0" rtlCol="0" anchor="t"/>
          <a:lstStyle/>
          <a:p>
            <a:pPr indent="0" marL="0">
              <a:buNone/>
            </a:pPr>
            <a:r>
              <a:rPr lang="en-US" sz="2600" b="1" dirty="0">
                <a:solidFill>
                  <a:schemeClr val="accent1"/>
                </a:solidFill>
                <a:latin typeface="+mj-lt" pitchFamily="34" charset="0"/>
                <a:ea typeface="+mj-lt" pitchFamily="34" charset="-122"/>
                <a:cs typeface="+mj-lt" pitchFamily="34" charset="-120"/>
              </a:rPr>
              <a:t>0.568</a:t>
            </a:r>
            <a:endParaRPr lang="en-US" sz="2600" dirty="0"/>
          </a:p>
        </p:txBody>
      </p:sp>
      <p:sp>
        <p:nvSpPr>
          <p:cNvPr id="11" name="Text 9"/>
          <p:cNvSpPr txBox="1"/>
          <p:nvPr/>
        </p:nvSpPr>
        <p:spPr>
          <a:xfrm>
            <a:off x="4846320" y="2057400"/>
            <a:ext cx="3657600" cy="658368"/>
          </a:xfrm>
          <a:prstGeom prst="rect">
            <a:avLst/>
          </a:prstGeom>
          <a:noFill/>
          <a:ln/>
        </p:spPr>
        <p:txBody>
          <a:bodyPr wrap="square" lIns="0" tIns="0" rIns="0" bIns="0" rtlCol="0" anchor="t"/>
          <a:lstStyle/>
          <a:p>
            <a:pPr indent="0" marL="0">
              <a:buNone/>
            </a:pPr>
            <a:r>
              <a:rPr lang="en-US" sz="1050" dirty="0">
                <a:solidFill>
                  <a:schemeClr val="accent2"/>
                </a:solidFill>
              </a:rPr>
              <a:t>Macro F1 of the claim extractor over five claim types, with a 95% interval of [0.470, 0.646]. Weakest: internal affiliation, 2 of 12 found.</a:t>
            </a:r>
            <a:endParaRPr lang="en-US" sz="1050" dirty="0"/>
          </a:p>
        </p:txBody>
      </p:sp>
      <p:sp>
        <p:nvSpPr>
          <p:cNvPr id="12" name="False alarm budget"/>
          <p:cNvSpPr/>
          <p:nvPr/>
        </p:nvSpPr>
        <p:spPr>
          <a:xfrm>
            <a:off x="457200" y="2880360"/>
            <a:ext cx="4023360" cy="1572768"/>
          </a:xfrm>
          <a:prstGeom prst="rect">
            <a:avLst/>
          </a:prstGeom>
          <a:solidFill>
            <a:schemeClr val="bg1"/>
          </a:solidFill>
          <a:ln w="9525">
            <a:solidFill>
              <a:schemeClr val="accent6"/>
            </a:solidFill>
            <a:prstDash val="solid"/>
          </a:ln>
        </p:spPr>
      </p:sp>
      <p:sp>
        <p:nvSpPr>
          <p:cNvPr id="13" name="Text 11"/>
          <p:cNvSpPr txBox="1"/>
          <p:nvPr/>
        </p:nvSpPr>
        <p:spPr>
          <a:xfrm>
            <a:off x="640080" y="2990088"/>
            <a:ext cx="3657600" cy="201168"/>
          </a:xfrm>
          <a:prstGeom prst="rect">
            <a:avLst/>
          </a:prstGeom>
          <a:noFill/>
          <a:ln/>
        </p:spPr>
        <p:txBody>
          <a:bodyPr wrap="square" lIns="0" tIns="0" rIns="0" bIns="0" rtlCol="0" anchor="ctr"/>
          <a:lstStyle/>
          <a:p>
            <a:pPr indent="0" marL="0">
              <a:buNone/>
            </a:pPr>
            <a:r>
              <a:rPr lang="en-US" sz="900" b="1" spc="150" kern="0" dirty="0">
                <a:solidFill>
                  <a:schemeClr val="accent1"/>
                </a:solidFill>
              </a:rPr>
              <a:t>FALSE ALARM BUDGET</a:t>
            </a:r>
            <a:endParaRPr lang="en-US" sz="900" dirty="0"/>
          </a:p>
        </p:txBody>
      </p:sp>
      <p:sp>
        <p:nvSpPr>
          <p:cNvPr id="14" name="Text 12"/>
          <p:cNvSpPr txBox="1"/>
          <p:nvPr/>
        </p:nvSpPr>
        <p:spPr>
          <a:xfrm>
            <a:off x="640080" y="3227832"/>
            <a:ext cx="3657600" cy="502920"/>
          </a:xfrm>
          <a:prstGeom prst="rect">
            <a:avLst/>
          </a:prstGeom>
          <a:noFill/>
          <a:ln/>
        </p:spPr>
        <p:txBody>
          <a:bodyPr wrap="square" lIns="0" tIns="0" rIns="0" bIns="0" rtlCol="0" anchor="t"/>
          <a:lstStyle/>
          <a:p>
            <a:pPr indent="0" marL="0">
              <a:buNone/>
            </a:pPr>
            <a:r>
              <a:rPr lang="en-US" sz="2600" b="1" dirty="0">
                <a:solidFill>
                  <a:schemeClr val="accent1"/>
                </a:solidFill>
                <a:latin typeface="+mj-lt" pitchFamily="34" charset="0"/>
                <a:ea typeface="+mj-lt" pitchFamily="34" charset="-122"/>
                <a:cs typeface="+mj-lt" pitchFamily="34" charset="-120"/>
              </a:rPr>
              <a:t>4 of 5</a:t>
            </a:r>
            <a:endParaRPr lang="en-US" sz="2600" dirty="0"/>
          </a:p>
        </p:txBody>
      </p:sp>
      <p:sp>
        <p:nvSpPr>
          <p:cNvPr id="15" name="Text 13"/>
          <p:cNvSpPr txBox="1"/>
          <p:nvPr/>
        </p:nvSpPr>
        <p:spPr>
          <a:xfrm>
            <a:off x="640080" y="3749040"/>
            <a:ext cx="3657600" cy="658368"/>
          </a:xfrm>
          <a:prstGeom prst="rect">
            <a:avLst/>
          </a:prstGeom>
          <a:noFill/>
          <a:ln/>
        </p:spPr>
        <p:txBody>
          <a:bodyPr wrap="square" lIns="0" tIns="0" rIns="0" bIns="0" rtlCol="0" anchor="t"/>
          <a:lstStyle/>
          <a:p>
            <a:pPr indent="0" marL="0">
              <a:buNone/>
            </a:pPr>
            <a:r>
              <a:rPr lang="en-US" sz="1050" dirty="0">
                <a:solidFill>
                  <a:schemeClr val="accent2"/>
                </a:solidFill>
              </a:rPr>
              <a:t>groups of legitimate mail stayed within budget. CEAS-08 ham was over at 5.60% of 268, with an interval [3.42%, 9.03%] that includes the budget.</a:t>
            </a:r>
            <a:endParaRPr lang="en-US" sz="1050" dirty="0"/>
          </a:p>
        </p:txBody>
      </p:sp>
      <p:sp>
        <p:nvSpPr>
          <p:cNvPr id="16" name="Rewording"/>
          <p:cNvSpPr/>
          <p:nvPr/>
        </p:nvSpPr>
        <p:spPr>
          <a:xfrm>
            <a:off x="4663440" y="2880360"/>
            <a:ext cx="4023360" cy="1572768"/>
          </a:xfrm>
          <a:prstGeom prst="rect">
            <a:avLst/>
          </a:prstGeom>
          <a:solidFill>
            <a:schemeClr val="bg1"/>
          </a:solidFill>
          <a:ln w="9525">
            <a:solidFill>
              <a:schemeClr val="accent6"/>
            </a:solidFill>
            <a:prstDash val="solid"/>
          </a:ln>
        </p:spPr>
      </p:sp>
      <p:sp>
        <p:nvSpPr>
          <p:cNvPr id="17" name="Text 15"/>
          <p:cNvSpPr txBox="1"/>
          <p:nvPr/>
        </p:nvSpPr>
        <p:spPr>
          <a:xfrm>
            <a:off x="4846320" y="2990088"/>
            <a:ext cx="3657600" cy="201168"/>
          </a:xfrm>
          <a:prstGeom prst="rect">
            <a:avLst/>
          </a:prstGeom>
          <a:noFill/>
          <a:ln/>
        </p:spPr>
        <p:txBody>
          <a:bodyPr wrap="square" lIns="0" tIns="0" rIns="0" bIns="0" rtlCol="0" anchor="ctr"/>
          <a:lstStyle/>
          <a:p>
            <a:pPr indent="0" marL="0">
              <a:buNone/>
            </a:pPr>
            <a:r>
              <a:rPr lang="en-US" sz="900" b="1" spc="150" kern="0" dirty="0">
                <a:solidFill>
                  <a:schemeClr val="accent1"/>
                </a:solidFill>
              </a:rPr>
              <a:t>REWORDING</a:t>
            </a:r>
            <a:endParaRPr lang="en-US" sz="900" dirty="0"/>
          </a:p>
        </p:txBody>
      </p:sp>
      <p:sp>
        <p:nvSpPr>
          <p:cNvPr id="18" name="Text 16"/>
          <p:cNvSpPr txBox="1"/>
          <p:nvPr/>
        </p:nvSpPr>
        <p:spPr>
          <a:xfrm>
            <a:off x="4846320" y="3227832"/>
            <a:ext cx="3657600" cy="502920"/>
          </a:xfrm>
          <a:prstGeom prst="rect">
            <a:avLst/>
          </a:prstGeom>
          <a:noFill/>
          <a:ln/>
        </p:spPr>
        <p:txBody>
          <a:bodyPr wrap="square" lIns="0" tIns="0" rIns="0" bIns="0" rtlCol="0" anchor="t"/>
          <a:lstStyle/>
          <a:p>
            <a:pPr indent="0" marL="0">
              <a:buNone/>
            </a:pPr>
            <a:r>
              <a:rPr lang="en-US" sz="2600" b="1" dirty="0">
                <a:solidFill>
                  <a:schemeClr val="accent1"/>
                </a:solidFill>
                <a:latin typeface="+mj-lt" pitchFamily="34" charset="0"/>
                <a:ea typeface="+mj-lt" pitchFamily="34" charset="-122"/>
                <a:cs typeface="+mj-lt" pitchFamily="34" charset="-120"/>
              </a:rPr>
              <a:t>18 of 24</a:t>
            </a:r>
            <a:endParaRPr lang="en-US" sz="2600" dirty="0"/>
          </a:p>
        </p:txBody>
      </p:sp>
      <p:sp>
        <p:nvSpPr>
          <p:cNvPr id="19" name="Text 17"/>
          <p:cNvSpPr txBox="1"/>
          <p:nvPr/>
        </p:nvSpPr>
        <p:spPr>
          <a:xfrm>
            <a:off x="4846320" y="3749040"/>
            <a:ext cx="3657600" cy="658368"/>
          </a:xfrm>
          <a:prstGeom prst="rect">
            <a:avLst/>
          </a:prstGeom>
          <a:noFill/>
          <a:ln/>
        </p:spPr>
        <p:txBody>
          <a:bodyPr wrap="square" lIns="0" tIns="0" rIns="0" bIns="0" rtlCol="0" anchor="t"/>
          <a:lstStyle/>
          <a:p>
            <a:pPr indent="0" marL="0">
              <a:buNone/>
            </a:pPr>
            <a:r>
              <a:rPr lang="en-US" sz="1050" dirty="0">
                <a:solidFill>
                  <a:schemeClr val="accent2"/>
                </a:solidFill>
              </a:rPr>
              <a:t>flags kept after a language model reworded 144 attack bodies. Headers were untouched, so header findings survive by construction.</a:t>
            </a:r>
            <a:endParaRPr lang="en-US" sz="1050" dirty="0"/>
          </a:p>
        </p:txBody>
      </p:sp>
      <p:sp>
        <p:nvSpPr>
          <p:cNvPr id="20" name="Text 18"/>
          <p:cNvSpPr txBox="1"/>
          <p:nvPr/>
        </p:nvSpPr>
        <p:spPr>
          <a:xfrm>
            <a:off x="457200" y="4617720"/>
            <a:ext cx="8229600" cy="274320"/>
          </a:xfrm>
          <a:prstGeom prst="rect">
            <a:avLst/>
          </a:prstGeom>
          <a:noFill/>
          <a:ln/>
        </p:spPr>
        <p:txBody>
          <a:bodyPr wrap="square" lIns="0" tIns="0" rIns="0" bIns="0" rtlCol="0" anchor="t"/>
          <a:lstStyle/>
          <a:p>
            <a:pPr indent="0" marL="0">
              <a:buNone/>
            </a:pPr>
            <a:r>
              <a:rPr lang="en-US" sz="1000" i="1" dirty="0">
                <a:solidFill>
                  <a:schemeClr val="accent2"/>
                </a:solidFill>
              </a:rPr>
              <a:t>Tactic and claim scores: 140 labelled test emails, with labels from language models of one family, not people.</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56032"/>
          </a:xfrm>
          <a:prstGeom prst="rect">
            <a:avLst/>
          </a:prstGeom>
          <a:noFill/>
          <a:ln/>
        </p:spPr>
        <p:txBody>
          <a:bodyPr wrap="square" lIns="0" tIns="0" rIns="0" bIns="0" rtlCol="0" anchor="ctr"/>
          <a:lstStyle/>
          <a:p>
            <a:pPr indent="0" marL="0">
              <a:buNone/>
            </a:pPr>
            <a:r>
              <a:rPr lang="en-US" sz="1000" b="1" spc="200" kern="0" dirty="0">
                <a:solidFill>
                  <a:schemeClr val="accent1"/>
                </a:solidFill>
              </a:rPr>
              <a:t>IMPLEMENTATION</a:t>
            </a:r>
            <a:endParaRPr lang="en-US" sz="1000" dirty="0"/>
          </a:p>
        </p:txBody>
      </p:sp>
      <p:sp>
        <p:nvSpPr>
          <p:cNvPr id="3" name="Text 0"/>
          <p:cNvSpPr/>
          <p:nvPr>
            <p:ph idx="101" type="title" hasCustomPrompt="1"/>
          </p:nvPr>
        </p:nvSpPr>
        <p:spPr>
          <a:xfrm>
            <a:off x="457200" y="548640"/>
            <a:ext cx="8229600" cy="548640"/>
          </a:xfrm>
          <a:prstGeom prst="rect">
            <a:avLst/>
          </a:prstGeom>
          <a:noFill/>
          <a:ln/>
        </p:spPr>
        <p:txBody>
          <a:bodyPr wrap="square" lIns="0" tIns="0" rIns="0" bIns="0" rtlCol="0" anchor="t"/>
          <a:lstStyle/>
          <a:p>
            <a:pPr algn="l" indent="0" marL="0">
              <a:buNone/>
            </a:pPr>
            <a:r>
              <a:rPr lang="en-US" sz="2400" dirty="0">
                <a:solidFill>
                  <a:schemeClr val="tx1"/>
                </a:solidFill>
              </a:rPr>
              <a:t>Built to explain, and to keep nothing</a:t>
            </a:r>
            <a:endParaRPr lang="en-US" sz="2400" dirty="0"/>
          </a:p>
        </p:txBody>
      </p:sp>
      <p:sp>
        <p:nvSpPr>
          <p:cNvPr id="4" name="Shape 2"/>
          <p:cNvSpPr/>
          <p:nvPr/>
        </p:nvSpPr>
        <p:spPr>
          <a:xfrm>
            <a:off x="457200" y="1234440"/>
            <a:ext cx="502920" cy="502920"/>
          </a:xfrm>
          <a:prstGeom prst="ellipse">
            <a:avLst/>
          </a:prstGeom>
          <a:solidFill>
            <a:schemeClr val="accent1"/>
          </a:solidFill>
          <a:ln w="635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582930" y="1360170"/>
            <a:ext cx="251460" cy="251460"/>
          </a:xfrm>
          <a:prstGeom prst="rect">
            <a:avLst/>
          </a:prstGeom>
        </p:spPr>
      </p:pic>
      <p:sp>
        <p:nvSpPr>
          <p:cNvPr id="6" name="Text 3"/>
          <p:cNvSpPr txBox="1"/>
          <p:nvPr/>
        </p:nvSpPr>
        <p:spPr>
          <a:xfrm>
            <a:off x="1143000" y="1234440"/>
            <a:ext cx="4206240" cy="274320"/>
          </a:xfrm>
          <a:prstGeom prst="rect">
            <a:avLst/>
          </a:prstGeom>
          <a:noFill/>
          <a:ln/>
        </p:spPr>
        <p:txBody>
          <a:bodyPr wrap="square" lIns="0" tIns="0" rIns="0" bIns="0" rtlCol="0" anchor="t"/>
          <a:lstStyle/>
          <a:p>
            <a:pPr indent="0" marL="0">
              <a:buNone/>
            </a:pPr>
            <a:r>
              <a:rPr lang="en-US" sz="1400" b="1" dirty="0">
                <a:solidFill>
                  <a:schemeClr val="tx1"/>
                </a:solidFill>
              </a:rPr>
              <a:t>The pipeline</a:t>
            </a:r>
            <a:endParaRPr lang="en-US" sz="1400" dirty="0"/>
          </a:p>
        </p:txBody>
      </p:sp>
      <p:sp>
        <p:nvSpPr>
          <p:cNvPr id="7" name="Text 4"/>
          <p:cNvSpPr txBox="1"/>
          <p:nvPr/>
        </p:nvSpPr>
        <p:spPr>
          <a:xfrm>
            <a:off x="1143000" y="1527048"/>
            <a:ext cx="4206240" cy="868680"/>
          </a:xfrm>
          <a:prstGeom prst="rect">
            <a:avLst/>
          </a:prstGeom>
          <a:noFill/>
          <a:ln/>
        </p:spPr>
        <p:txBody>
          <a:bodyPr wrap="square" lIns="0" tIns="0" rIns="0" bIns="0" rtlCol="0" anchor="t"/>
          <a:lstStyle/>
          <a:p>
            <a:pPr indent="0" marL="0">
              <a:buNone/>
            </a:pPr>
            <a:r>
              <a:rPr lang="en-US" sz="1100" dirty="0">
                <a:solidFill>
                  <a:schemeClr val="accent2"/>
                </a:solidFill>
              </a:rPr>
              <a:t>Written in Python. The only trained model used during analysis is the tactic classifier, a DistilBERT model [19] fine-tuned on labelled emails. The claim extractor uses a pretrained name recogniser and 85 hand-written token patterns. No language model runs during analysis.</a:t>
            </a:r>
            <a:endParaRPr lang="en-US" sz="1100" dirty="0"/>
          </a:p>
        </p:txBody>
      </p:sp>
      <p:sp>
        <p:nvSpPr>
          <p:cNvPr id="8" name="Shape 5"/>
          <p:cNvSpPr/>
          <p:nvPr/>
        </p:nvSpPr>
        <p:spPr>
          <a:xfrm>
            <a:off x="457200" y="2514600"/>
            <a:ext cx="502920" cy="502920"/>
          </a:xfrm>
          <a:prstGeom prst="ellipse">
            <a:avLst/>
          </a:prstGeom>
          <a:solidFill>
            <a:schemeClr val="accent1"/>
          </a:solidFill>
          <a:ln w="6350">
            <a:solidFill>
              <a:schemeClr val="accent1"/>
            </a:solidFill>
            <a:prstDash val="solid"/>
          </a:ln>
        </p:spPr>
      </p:sp>
      <p:pic>
        <p:nvPicPr>
          <p:cNvPr id="9" name="Image 1" descr="preencoded.png">    </p:cNvPr>
          <p:cNvPicPr>
            <a:picLocks noChangeAspect="1"/>
          </p:cNvPicPr>
          <p:nvPr/>
        </p:nvPicPr>
        <p:blipFill>
          <a:blip r:embed="rId2"/>
          <a:stretch>
            <a:fillRect/>
          </a:stretch>
        </p:blipFill>
        <p:spPr>
          <a:xfrm>
            <a:off x="582930" y="2640330"/>
            <a:ext cx="251460" cy="251460"/>
          </a:xfrm>
          <a:prstGeom prst="rect">
            <a:avLst/>
          </a:prstGeom>
        </p:spPr>
      </p:pic>
      <p:sp>
        <p:nvSpPr>
          <p:cNvPr id="10" name="Text 6"/>
          <p:cNvSpPr txBox="1"/>
          <p:nvPr/>
        </p:nvSpPr>
        <p:spPr>
          <a:xfrm>
            <a:off x="1143000" y="2514600"/>
            <a:ext cx="4206240" cy="274320"/>
          </a:xfrm>
          <a:prstGeom prst="rect">
            <a:avLst/>
          </a:prstGeom>
          <a:noFill/>
          <a:ln/>
        </p:spPr>
        <p:txBody>
          <a:bodyPr wrap="square" lIns="0" tIns="0" rIns="0" bIns="0" rtlCol="0" anchor="t"/>
          <a:lstStyle/>
          <a:p>
            <a:pPr indent="0" marL="0">
              <a:buNone/>
            </a:pPr>
            <a:r>
              <a:rPr lang="en-US" sz="1400" b="1" dirty="0">
                <a:solidFill>
                  <a:schemeClr val="tx1"/>
                </a:solidFill>
              </a:rPr>
              <a:t>The web page</a:t>
            </a:r>
            <a:endParaRPr lang="en-US" sz="1400" dirty="0"/>
          </a:p>
        </p:txBody>
      </p:sp>
      <p:sp>
        <p:nvSpPr>
          <p:cNvPr id="11" name="Text 7"/>
          <p:cNvSpPr txBox="1"/>
          <p:nvPr/>
        </p:nvSpPr>
        <p:spPr>
          <a:xfrm>
            <a:off x="1143000" y="2807208"/>
            <a:ext cx="4206240" cy="868680"/>
          </a:xfrm>
          <a:prstGeom prst="rect">
            <a:avLst/>
          </a:prstGeom>
          <a:noFill/>
          <a:ln/>
        </p:spPr>
        <p:txBody>
          <a:bodyPr wrap="square" lIns="0" tIns="0" rIns="0" bIns="0" rtlCol="0" anchor="t"/>
          <a:lstStyle/>
          <a:p>
            <a:pPr indent="0" marL="0">
              <a:buNone/>
            </a:pPr>
            <a:r>
              <a:rPr lang="en-US" sz="1100" dirty="0">
                <a:solidFill>
                  <a:schemeClr val="accent2"/>
                </a:solidFill>
              </a:rPr>
              <a:t>Paste an email or a thread and get a risk score from 0 to 100, a band and each finding with its claim, rule, evidence and reason in plain English.</a:t>
            </a:r>
            <a:endParaRPr lang="en-US" sz="1100" dirty="0"/>
          </a:p>
        </p:txBody>
      </p:sp>
      <p:sp>
        <p:nvSpPr>
          <p:cNvPr id="12" name="Shape 8"/>
          <p:cNvSpPr/>
          <p:nvPr/>
        </p:nvSpPr>
        <p:spPr>
          <a:xfrm>
            <a:off x="457200" y="3520440"/>
            <a:ext cx="502920" cy="502920"/>
          </a:xfrm>
          <a:prstGeom prst="ellipse">
            <a:avLst/>
          </a:prstGeom>
          <a:solidFill>
            <a:schemeClr val="accent1"/>
          </a:solidFill>
          <a:ln w="6350">
            <a:solidFill>
              <a:schemeClr val="accent1"/>
            </a:solidFill>
            <a:prstDash val="solid"/>
          </a:ln>
        </p:spPr>
      </p:sp>
      <p:pic>
        <p:nvPicPr>
          <p:cNvPr id="13" name="Image 2" descr="preencoded.png">    </p:cNvPr>
          <p:cNvPicPr>
            <a:picLocks noChangeAspect="1"/>
          </p:cNvPicPr>
          <p:nvPr/>
        </p:nvPicPr>
        <p:blipFill>
          <a:blip r:embed="rId3"/>
          <a:stretch>
            <a:fillRect/>
          </a:stretch>
        </p:blipFill>
        <p:spPr>
          <a:xfrm>
            <a:off x="582930" y="3646170"/>
            <a:ext cx="251460" cy="251460"/>
          </a:xfrm>
          <a:prstGeom prst="rect">
            <a:avLst/>
          </a:prstGeom>
        </p:spPr>
      </p:pic>
      <p:sp>
        <p:nvSpPr>
          <p:cNvPr id="14" name="Text 9"/>
          <p:cNvSpPr txBox="1"/>
          <p:nvPr/>
        </p:nvSpPr>
        <p:spPr>
          <a:xfrm>
            <a:off x="1143000" y="3520440"/>
            <a:ext cx="4206240" cy="274320"/>
          </a:xfrm>
          <a:prstGeom prst="rect">
            <a:avLst/>
          </a:prstGeom>
          <a:noFill/>
          <a:ln/>
        </p:spPr>
        <p:txBody>
          <a:bodyPr wrap="square" lIns="0" tIns="0" rIns="0" bIns="0" rtlCol="0" anchor="t"/>
          <a:lstStyle/>
          <a:p>
            <a:pPr indent="0" marL="0">
              <a:buNone/>
            </a:pPr>
            <a:r>
              <a:rPr lang="en-US" sz="1400" b="1" dirty="0">
                <a:solidFill>
                  <a:schemeClr val="tx1"/>
                </a:solidFill>
              </a:rPr>
              <a:t>Privacy</a:t>
            </a:r>
            <a:endParaRPr lang="en-US" sz="1400" dirty="0"/>
          </a:p>
        </p:txBody>
      </p:sp>
      <p:sp>
        <p:nvSpPr>
          <p:cNvPr id="15" name="Text 10"/>
          <p:cNvSpPr txBox="1"/>
          <p:nvPr/>
        </p:nvSpPr>
        <p:spPr>
          <a:xfrm>
            <a:off x="1143000" y="3813048"/>
            <a:ext cx="4206240" cy="868680"/>
          </a:xfrm>
          <a:prstGeom prst="rect">
            <a:avLst/>
          </a:prstGeom>
          <a:noFill/>
          <a:ln/>
        </p:spPr>
        <p:txBody>
          <a:bodyPr wrap="square" lIns="0" tIns="0" rIns="0" bIns="0" rtlCol="0" anchor="t"/>
          <a:lstStyle/>
          <a:p>
            <a:pPr indent="0" marL="0">
              <a:buNone/>
            </a:pPr>
            <a:r>
              <a:rPr lang="en-US" sz="1100" dirty="0">
                <a:solidFill>
                  <a:schemeClr val="accent2"/>
                </a:solidFill>
              </a:rPr>
              <a:t>No database. Each email is held in memory for one request and then forgotten.</a:t>
            </a:r>
            <a:endParaRPr lang="en-US" sz="1100" dirty="0"/>
          </a:p>
        </p:txBody>
      </p:sp>
      <p:sp>
        <p:nvSpPr>
          <p:cNvPr id="16" name="Service protections"/>
          <p:cNvSpPr/>
          <p:nvPr/>
        </p:nvSpPr>
        <p:spPr>
          <a:xfrm>
            <a:off x="5669280" y="1234440"/>
            <a:ext cx="3017520" cy="3063240"/>
          </a:xfrm>
          <a:prstGeom prst="rect">
            <a:avLst/>
          </a:prstGeom>
          <a:solidFill>
            <a:schemeClr val="tx2"/>
          </a:solidFill>
          <a:ln w="9525">
            <a:solidFill>
              <a:schemeClr val="tx2"/>
            </a:solidFill>
            <a:prstDash val="solid"/>
          </a:ln>
        </p:spPr>
      </p:sp>
      <p:sp>
        <p:nvSpPr>
          <p:cNvPr id="17" name="Text 12"/>
          <p:cNvSpPr txBox="1"/>
          <p:nvPr/>
        </p:nvSpPr>
        <p:spPr>
          <a:xfrm>
            <a:off x="5897880" y="1417320"/>
            <a:ext cx="2651760" cy="201168"/>
          </a:xfrm>
          <a:prstGeom prst="rect">
            <a:avLst/>
          </a:prstGeom>
          <a:noFill/>
          <a:ln/>
        </p:spPr>
        <p:txBody>
          <a:bodyPr wrap="square" lIns="0" tIns="0" rIns="0" bIns="0" rtlCol="0" anchor="ctr"/>
          <a:lstStyle/>
          <a:p>
            <a:pPr indent="0" marL="0">
              <a:buNone/>
            </a:pPr>
            <a:r>
              <a:rPr lang="en-US" sz="900" b="1" spc="150" kern="0" dirty="0">
                <a:solidFill>
                  <a:schemeClr val="accent1"/>
                </a:solidFill>
              </a:rPr>
              <a:t>SERVICE PROTECTIONS</a:t>
            </a:r>
            <a:endParaRPr lang="en-US" sz="900" dirty="0"/>
          </a:p>
        </p:txBody>
      </p:sp>
      <p:sp>
        <p:nvSpPr>
          <p:cNvPr id="18" name="Text 13"/>
          <p:cNvSpPr txBox="1"/>
          <p:nvPr/>
        </p:nvSpPr>
        <p:spPr>
          <a:xfrm>
            <a:off x="5897880" y="1737360"/>
            <a:ext cx="2606040" cy="2926080"/>
          </a:xfrm>
          <a:prstGeom prst="rect">
            <a:avLst/>
          </a:prstGeom>
          <a:noFill/>
          <a:ln/>
        </p:spPr>
        <p:txBody>
          <a:bodyPr wrap="square" lIns="0" tIns="0" rIns="0" bIns="0" rtlCol="0" anchor="t"/>
          <a:lstStyle/>
          <a:p>
            <a:pPr marL="177800" indent="-177800">
              <a:spcAft>
                <a:spcPts val="800"/>
              </a:spcAft>
              <a:buSzPct val="100000"/>
              <a:buChar char="•"/>
            </a:pPr>
            <a:r>
              <a:rPr lang="en-US" sz="1200" dirty="0">
                <a:solidFill>
                  <a:schemeClr val="bg1"/>
                </a:solidFill>
              </a:rPr>
              <a:t>An API key on every request</a:t>
            </a:r>
            <a:endParaRPr lang="en-US" sz="1200" dirty="0"/>
          </a:p>
          <a:p>
            <a:pPr marL="177800" indent="-177800">
              <a:spcAft>
                <a:spcPts val="800"/>
              </a:spcAft>
              <a:buSzPct val="100000"/>
              <a:buChar char="•"/>
            </a:pPr>
            <a:r>
              <a:rPr lang="en-US" sz="1200" dirty="0">
                <a:solidFill>
                  <a:schemeClr val="bg1"/>
                </a:solidFill>
              </a:rPr>
              <a:t>A rate limit per client</a:t>
            </a:r>
            <a:endParaRPr lang="en-US" sz="1200" dirty="0"/>
          </a:p>
          <a:p>
            <a:pPr marL="177800" indent="-177800">
              <a:spcAft>
                <a:spcPts val="800"/>
              </a:spcAft>
              <a:buSzPct val="100000"/>
              <a:buChar char="•"/>
            </a:pPr>
            <a:r>
              <a:rPr lang="en-US" sz="1200" dirty="0">
                <a:solidFill>
                  <a:schemeClr val="bg1"/>
                </a:solidFill>
              </a:rPr>
              <a:t>A size limit on each email</a:t>
            </a:r>
            <a:endParaRPr lang="en-US" sz="1200" dirty="0"/>
          </a:p>
          <a:p>
            <a:pPr marL="177800" indent="-177800">
              <a:spcAft>
                <a:spcPts val="800"/>
              </a:spcAft>
              <a:buSzPct val="100000"/>
              <a:buChar char="•"/>
            </a:pPr>
            <a:r>
              <a:rPr lang="en-US" sz="1200" dirty="0">
                <a:solidFill>
                  <a:schemeClr val="bg1"/>
                </a:solidFill>
              </a:rPr>
              <a:t>A strict schema for every request</a:t>
            </a:r>
            <a:endParaRPr lang="en-US" sz="1200" dirty="0"/>
          </a:p>
          <a:p>
            <a:pPr marL="177800" indent="-177800">
              <a:spcAft>
                <a:spcPts val="800"/>
              </a:spcAft>
              <a:buSzPct val="100000"/>
              <a:buChar char="•"/>
            </a:pPr>
            <a:r>
              <a:rPr lang="en-US" sz="1200" dirty="0">
                <a:solidFill>
                  <a:schemeClr val="bg1"/>
                </a:solidFill>
              </a:rPr>
              <a:t>Each report checked against its ledger before it is returned</a:t>
            </a:r>
            <a:endParaRPr lang="en-US" sz="1200" dirty="0"/>
          </a:p>
          <a:p>
            <a:pPr marL="177800" indent="-177800">
              <a:spcAft>
                <a:spcPts val="800"/>
              </a:spcAft>
              <a:buSzPct val="100000"/>
              <a:buChar char="•"/>
            </a:pPr>
            <a:r>
              <a:rPr lang="en-US" sz="1200" dirty="0">
                <a:solidFill>
                  <a:schemeClr val="bg1"/>
                </a:solidFill>
              </a:rPr>
              <a:t>Nothing stored after the request</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56032"/>
          </a:xfrm>
          <a:prstGeom prst="rect">
            <a:avLst/>
          </a:prstGeom>
          <a:noFill/>
          <a:ln/>
        </p:spPr>
        <p:txBody>
          <a:bodyPr wrap="square" lIns="0" tIns="0" rIns="0" bIns="0" rtlCol="0" anchor="ctr"/>
          <a:lstStyle/>
          <a:p>
            <a:pPr indent="0" marL="0">
              <a:buNone/>
            </a:pPr>
            <a:r>
              <a:rPr lang="en-US" sz="1000" b="1" spc="200" kern="0" dirty="0">
                <a:solidFill>
                  <a:schemeClr val="accent1"/>
                </a:solidFill>
              </a:rPr>
              <a:t>LIMITATIONS</a:t>
            </a:r>
            <a:endParaRPr lang="en-US" sz="1000" dirty="0"/>
          </a:p>
        </p:txBody>
      </p:sp>
      <p:sp>
        <p:nvSpPr>
          <p:cNvPr id="3" name="Text 0"/>
          <p:cNvSpPr/>
          <p:nvPr>
            <p:ph idx="101" type="title" hasCustomPrompt="1"/>
          </p:nvPr>
        </p:nvSpPr>
        <p:spPr>
          <a:xfrm>
            <a:off x="457200" y="548640"/>
            <a:ext cx="8229600" cy="548640"/>
          </a:xfrm>
          <a:prstGeom prst="rect">
            <a:avLst/>
          </a:prstGeom>
          <a:noFill/>
          <a:ln/>
        </p:spPr>
        <p:txBody>
          <a:bodyPr wrap="square" lIns="0" tIns="0" rIns="0" bIns="0" rtlCol="0" anchor="t"/>
          <a:lstStyle/>
          <a:p>
            <a:pPr algn="l" indent="0" marL="0">
              <a:buNone/>
            </a:pPr>
            <a:r>
              <a:rPr lang="en-US" sz="2400" dirty="0">
                <a:solidFill>
                  <a:schemeClr val="tx1"/>
                </a:solidFill>
              </a:rPr>
              <a:t>What these results do not show</a:t>
            </a:r>
            <a:endParaRPr lang="en-US" sz="2400" dirty="0"/>
          </a:p>
        </p:txBody>
      </p:sp>
      <p:sp>
        <p:nvSpPr>
          <p:cNvPr id="4" name="Limit 1"/>
          <p:cNvSpPr/>
          <p:nvPr/>
        </p:nvSpPr>
        <p:spPr>
          <a:xfrm>
            <a:off x="457200" y="1188720"/>
            <a:ext cx="4023360" cy="1115568"/>
          </a:xfrm>
          <a:prstGeom prst="rect">
            <a:avLst/>
          </a:prstGeom>
          <a:solidFill>
            <a:schemeClr val="bg1"/>
          </a:solidFill>
          <a:ln w="9525">
            <a:solidFill>
              <a:schemeClr val="accent6"/>
            </a:solidFill>
            <a:prstDash val="solid"/>
          </a:ln>
        </p:spPr>
      </p:sp>
      <p:sp>
        <p:nvSpPr>
          <p:cNvPr id="5" name="Shape 3"/>
          <p:cNvSpPr/>
          <p:nvPr/>
        </p:nvSpPr>
        <p:spPr>
          <a:xfrm>
            <a:off x="640080" y="1371600"/>
            <a:ext cx="438912" cy="438912"/>
          </a:xfrm>
          <a:prstGeom prst="ellipse">
            <a:avLst/>
          </a:prstGeom>
          <a:solidFill>
            <a:schemeClr val="accent2"/>
          </a:solidFill>
          <a:ln w="6350">
            <a:solidFill>
              <a:schemeClr val="accent2"/>
            </a:solidFill>
            <a:prstDash val="solid"/>
          </a:ln>
        </p:spPr>
      </p:sp>
      <p:pic>
        <p:nvPicPr>
          <p:cNvPr id="6" name="Image 0" descr="preencoded.png">    </p:cNvPr>
          <p:cNvPicPr>
            <a:picLocks noChangeAspect="1"/>
          </p:cNvPicPr>
          <p:nvPr/>
        </p:nvPicPr>
        <p:blipFill>
          <a:blip r:embed="rId1"/>
          <a:stretch>
            <a:fillRect/>
          </a:stretch>
        </p:blipFill>
        <p:spPr>
          <a:xfrm>
            <a:off x="749808" y="1481328"/>
            <a:ext cx="219456" cy="219456"/>
          </a:xfrm>
          <a:prstGeom prst="rect">
            <a:avLst/>
          </a:prstGeom>
        </p:spPr>
      </p:pic>
      <p:sp>
        <p:nvSpPr>
          <p:cNvPr id="7" name="Text 4"/>
          <p:cNvSpPr txBox="1"/>
          <p:nvPr/>
        </p:nvSpPr>
        <p:spPr>
          <a:xfrm>
            <a:off x="1234440" y="1316736"/>
            <a:ext cx="3108960" cy="896112"/>
          </a:xfrm>
          <a:prstGeom prst="rect">
            <a:avLst/>
          </a:prstGeom>
          <a:noFill/>
          <a:ln/>
        </p:spPr>
        <p:txBody>
          <a:bodyPr wrap="square" lIns="0" tIns="0" rIns="0" bIns="0" rtlCol="0" anchor="ctr"/>
          <a:lstStyle/>
          <a:p>
            <a:pPr indent="0" marL="0">
              <a:buNone/>
            </a:pPr>
            <a:r>
              <a:rPr lang="en-US" sz="1100" dirty="0">
                <a:solidFill>
                  <a:schemeClr val="tx1"/>
                </a:solidFill>
              </a:rPr>
              <a:t>Never run at a real company. No public set of real payload-free BEC exists.</a:t>
            </a:r>
            <a:endParaRPr lang="en-US" sz="1100" dirty="0"/>
          </a:p>
        </p:txBody>
      </p:sp>
      <p:sp>
        <p:nvSpPr>
          <p:cNvPr id="8" name="Limit 2"/>
          <p:cNvSpPr/>
          <p:nvPr/>
        </p:nvSpPr>
        <p:spPr>
          <a:xfrm>
            <a:off x="4663440" y="1188720"/>
            <a:ext cx="4023360" cy="1115568"/>
          </a:xfrm>
          <a:prstGeom prst="rect">
            <a:avLst/>
          </a:prstGeom>
          <a:solidFill>
            <a:schemeClr val="bg1"/>
          </a:solidFill>
          <a:ln w="9525">
            <a:solidFill>
              <a:schemeClr val="accent6"/>
            </a:solidFill>
            <a:prstDash val="solid"/>
          </a:ln>
        </p:spPr>
      </p:sp>
      <p:sp>
        <p:nvSpPr>
          <p:cNvPr id="9" name="Shape 6"/>
          <p:cNvSpPr/>
          <p:nvPr/>
        </p:nvSpPr>
        <p:spPr>
          <a:xfrm>
            <a:off x="4846320" y="1371600"/>
            <a:ext cx="438912" cy="438912"/>
          </a:xfrm>
          <a:prstGeom prst="ellipse">
            <a:avLst/>
          </a:prstGeom>
          <a:solidFill>
            <a:schemeClr val="accent2"/>
          </a:solidFill>
          <a:ln w="6350">
            <a:solidFill>
              <a:schemeClr val="accent2"/>
            </a:solidFill>
            <a:prstDash val="solid"/>
          </a:ln>
        </p:spPr>
      </p:sp>
      <p:pic>
        <p:nvPicPr>
          <p:cNvPr id="10" name="Image 1" descr="preencoded.png">    </p:cNvPr>
          <p:cNvPicPr>
            <a:picLocks noChangeAspect="1"/>
          </p:cNvPicPr>
          <p:nvPr/>
        </p:nvPicPr>
        <p:blipFill>
          <a:blip r:embed="rId2"/>
          <a:stretch>
            <a:fillRect/>
          </a:stretch>
        </p:blipFill>
        <p:spPr>
          <a:xfrm>
            <a:off x="4956048" y="1481328"/>
            <a:ext cx="219456" cy="219456"/>
          </a:xfrm>
          <a:prstGeom prst="rect">
            <a:avLst/>
          </a:prstGeom>
        </p:spPr>
      </p:pic>
      <p:sp>
        <p:nvSpPr>
          <p:cNvPr id="11" name="Text 7"/>
          <p:cNvSpPr txBox="1"/>
          <p:nvPr/>
        </p:nvSpPr>
        <p:spPr>
          <a:xfrm>
            <a:off x="5440680" y="1316736"/>
            <a:ext cx="3108960" cy="896112"/>
          </a:xfrm>
          <a:prstGeom prst="rect">
            <a:avLst/>
          </a:prstGeom>
          <a:noFill/>
          <a:ln/>
        </p:spPr>
        <p:txBody>
          <a:bodyPr wrap="square" lIns="0" tIns="0" rIns="0" bIns="0" rtlCol="0" anchor="ctr"/>
          <a:lstStyle/>
          <a:p>
            <a:pPr indent="0" marL="0">
              <a:buNone/>
            </a:pPr>
            <a:r>
              <a:rPr lang="en-US" sz="1100" dirty="0">
                <a:solidFill>
                  <a:schemeClr val="tx1"/>
                </a:solidFill>
              </a:rPr>
              <a:t>Tactic and claim labels come from language models of one family, not people (annotator kappa 0.501 and 0.458). Such labels need validation against human labels [20].</a:t>
            </a:r>
            <a:endParaRPr lang="en-US" sz="1100" dirty="0"/>
          </a:p>
        </p:txBody>
      </p:sp>
      <p:sp>
        <p:nvSpPr>
          <p:cNvPr id="12" name="Limit 3"/>
          <p:cNvSpPr/>
          <p:nvPr/>
        </p:nvSpPr>
        <p:spPr>
          <a:xfrm>
            <a:off x="457200" y="2423160"/>
            <a:ext cx="4023360" cy="1115568"/>
          </a:xfrm>
          <a:prstGeom prst="rect">
            <a:avLst/>
          </a:prstGeom>
          <a:solidFill>
            <a:schemeClr val="bg1"/>
          </a:solidFill>
          <a:ln w="9525">
            <a:solidFill>
              <a:schemeClr val="accent6"/>
            </a:solidFill>
            <a:prstDash val="solid"/>
          </a:ln>
        </p:spPr>
      </p:sp>
      <p:sp>
        <p:nvSpPr>
          <p:cNvPr id="13" name="Shape 9"/>
          <p:cNvSpPr/>
          <p:nvPr/>
        </p:nvSpPr>
        <p:spPr>
          <a:xfrm>
            <a:off x="640080" y="2606040"/>
            <a:ext cx="438912" cy="438912"/>
          </a:xfrm>
          <a:prstGeom prst="ellipse">
            <a:avLst/>
          </a:prstGeom>
          <a:solidFill>
            <a:schemeClr val="accent2"/>
          </a:solidFill>
          <a:ln w="6350">
            <a:solidFill>
              <a:schemeClr val="accent2"/>
            </a:solidFill>
            <a:prstDash val="solid"/>
          </a:ln>
        </p:spPr>
      </p:sp>
      <p:pic>
        <p:nvPicPr>
          <p:cNvPr id="14" name="Image 2" descr="preencoded.png">    </p:cNvPr>
          <p:cNvPicPr>
            <a:picLocks noChangeAspect="1"/>
          </p:cNvPicPr>
          <p:nvPr/>
        </p:nvPicPr>
        <p:blipFill>
          <a:blip r:embed="rId3"/>
          <a:stretch>
            <a:fillRect/>
          </a:stretch>
        </p:blipFill>
        <p:spPr>
          <a:xfrm>
            <a:off x="749808" y="2715768"/>
            <a:ext cx="219456" cy="219456"/>
          </a:xfrm>
          <a:prstGeom prst="rect">
            <a:avLst/>
          </a:prstGeom>
        </p:spPr>
      </p:pic>
      <p:sp>
        <p:nvSpPr>
          <p:cNvPr id="15" name="Text 10"/>
          <p:cNvSpPr txBox="1"/>
          <p:nvPr/>
        </p:nvSpPr>
        <p:spPr>
          <a:xfrm>
            <a:off x="1234440" y="2551176"/>
            <a:ext cx="3108960" cy="896112"/>
          </a:xfrm>
          <a:prstGeom prst="rect">
            <a:avLst/>
          </a:prstGeom>
          <a:noFill/>
          <a:ln/>
        </p:spPr>
        <p:txBody>
          <a:bodyPr wrap="square" lIns="0" tIns="0" rIns="0" bIns="0" rtlCol="0" anchor="ctr"/>
          <a:lstStyle/>
          <a:p>
            <a:pPr indent="0" marL="0">
              <a:buNone/>
            </a:pPr>
            <a:r>
              <a:rPr lang="en-US" sz="1100" dirty="0">
                <a:solidFill>
                  <a:schemeClr val="tx1"/>
                </a:solidFill>
              </a:rPr>
              <a:t>No source holds both attacks and ordinary mail, so pooled numbers mix corpus and detection.</a:t>
            </a:r>
            <a:endParaRPr lang="en-US" sz="1100" dirty="0"/>
          </a:p>
        </p:txBody>
      </p:sp>
      <p:sp>
        <p:nvSpPr>
          <p:cNvPr id="16" name="Limit 4"/>
          <p:cNvSpPr/>
          <p:nvPr/>
        </p:nvSpPr>
        <p:spPr>
          <a:xfrm>
            <a:off x="4663440" y="2423160"/>
            <a:ext cx="4023360" cy="1115568"/>
          </a:xfrm>
          <a:prstGeom prst="rect">
            <a:avLst/>
          </a:prstGeom>
          <a:solidFill>
            <a:schemeClr val="bg1"/>
          </a:solidFill>
          <a:ln w="9525">
            <a:solidFill>
              <a:schemeClr val="accent6"/>
            </a:solidFill>
            <a:prstDash val="solid"/>
          </a:ln>
        </p:spPr>
      </p:sp>
      <p:sp>
        <p:nvSpPr>
          <p:cNvPr id="17" name="Shape 12"/>
          <p:cNvSpPr/>
          <p:nvPr/>
        </p:nvSpPr>
        <p:spPr>
          <a:xfrm>
            <a:off x="4846320" y="2606040"/>
            <a:ext cx="438912" cy="438912"/>
          </a:xfrm>
          <a:prstGeom prst="ellipse">
            <a:avLst/>
          </a:prstGeom>
          <a:solidFill>
            <a:schemeClr val="accent2"/>
          </a:solidFill>
          <a:ln w="6350">
            <a:solidFill>
              <a:schemeClr val="accent2"/>
            </a:solidFill>
            <a:prstDash val="solid"/>
          </a:ln>
        </p:spPr>
      </p:sp>
      <p:pic>
        <p:nvPicPr>
          <p:cNvPr id="18" name="Image 3" descr="preencoded.png">    </p:cNvPr>
          <p:cNvPicPr>
            <a:picLocks noChangeAspect="1"/>
          </p:cNvPicPr>
          <p:nvPr/>
        </p:nvPicPr>
        <p:blipFill>
          <a:blip r:embed="rId4"/>
          <a:stretch>
            <a:fillRect/>
          </a:stretch>
        </p:blipFill>
        <p:spPr>
          <a:xfrm>
            <a:off x="4956048" y="2715768"/>
            <a:ext cx="219456" cy="219456"/>
          </a:xfrm>
          <a:prstGeom prst="rect">
            <a:avLst/>
          </a:prstGeom>
        </p:spPr>
      </p:pic>
      <p:sp>
        <p:nvSpPr>
          <p:cNvPr id="19" name="Text 13"/>
          <p:cNvSpPr txBox="1"/>
          <p:nvPr/>
        </p:nvSpPr>
        <p:spPr>
          <a:xfrm>
            <a:off x="5440680" y="2551176"/>
            <a:ext cx="3108960" cy="896112"/>
          </a:xfrm>
          <a:prstGeom prst="rect">
            <a:avLst/>
          </a:prstGeom>
          <a:noFill/>
          <a:ln/>
        </p:spPr>
        <p:txBody>
          <a:bodyPr wrap="square" lIns="0" tIns="0" rIns="0" bIns="0" rtlCol="0" anchor="ctr"/>
          <a:lstStyle/>
          <a:p>
            <a:pPr indent="0" marL="0">
              <a:buNone/>
            </a:pPr>
            <a:r>
              <a:rPr lang="en-US" sz="1100" dirty="0">
                <a:solidFill>
                  <a:schemeClr val="tx1"/>
                </a:solidFill>
              </a:rPr>
              <a:t>Hijack cases and impersonation headers are synthetic: they show that the rules work as defined, not how often real attackers behave that way.</a:t>
            </a:r>
            <a:endParaRPr lang="en-US" sz="1100" dirty="0"/>
          </a:p>
        </p:txBody>
      </p:sp>
      <p:sp>
        <p:nvSpPr>
          <p:cNvPr id="20" name="Limit 5"/>
          <p:cNvSpPr/>
          <p:nvPr/>
        </p:nvSpPr>
        <p:spPr>
          <a:xfrm>
            <a:off x="457200" y="3657600"/>
            <a:ext cx="4023360" cy="1115568"/>
          </a:xfrm>
          <a:prstGeom prst="rect">
            <a:avLst/>
          </a:prstGeom>
          <a:solidFill>
            <a:schemeClr val="bg1"/>
          </a:solidFill>
          <a:ln w="9525">
            <a:solidFill>
              <a:schemeClr val="accent6"/>
            </a:solidFill>
            <a:prstDash val="solid"/>
          </a:ln>
        </p:spPr>
      </p:sp>
      <p:sp>
        <p:nvSpPr>
          <p:cNvPr id="21" name="Shape 15"/>
          <p:cNvSpPr/>
          <p:nvPr/>
        </p:nvSpPr>
        <p:spPr>
          <a:xfrm>
            <a:off x="640080" y="3840480"/>
            <a:ext cx="438912" cy="438912"/>
          </a:xfrm>
          <a:prstGeom prst="ellipse">
            <a:avLst/>
          </a:prstGeom>
          <a:solidFill>
            <a:schemeClr val="accent2"/>
          </a:solidFill>
          <a:ln w="6350">
            <a:solidFill>
              <a:schemeClr val="accent2"/>
            </a:solidFill>
            <a:prstDash val="solid"/>
          </a:ln>
        </p:spPr>
      </p:sp>
      <p:pic>
        <p:nvPicPr>
          <p:cNvPr id="22" name="Image 4" descr="preencoded.png">    </p:cNvPr>
          <p:cNvPicPr>
            <a:picLocks noChangeAspect="1"/>
          </p:cNvPicPr>
          <p:nvPr/>
        </p:nvPicPr>
        <p:blipFill>
          <a:blip r:embed="rId5"/>
          <a:stretch>
            <a:fillRect/>
          </a:stretch>
        </p:blipFill>
        <p:spPr>
          <a:xfrm>
            <a:off x="749808" y="3950208"/>
            <a:ext cx="219456" cy="219456"/>
          </a:xfrm>
          <a:prstGeom prst="rect">
            <a:avLst/>
          </a:prstGeom>
        </p:spPr>
      </p:pic>
      <p:sp>
        <p:nvSpPr>
          <p:cNvPr id="23" name="Text 16"/>
          <p:cNvSpPr txBox="1"/>
          <p:nvPr/>
        </p:nvSpPr>
        <p:spPr>
          <a:xfrm>
            <a:off x="1234440" y="3785616"/>
            <a:ext cx="3108960" cy="896112"/>
          </a:xfrm>
          <a:prstGeom prst="rect">
            <a:avLst/>
          </a:prstGeom>
          <a:noFill/>
          <a:ln/>
        </p:spPr>
        <p:txBody>
          <a:bodyPr wrap="square" lIns="0" tIns="0" rIns="0" bIns="0" rtlCol="0" anchor="ctr"/>
          <a:lstStyle/>
          <a:p>
            <a:pPr indent="0" marL="0">
              <a:buNone/>
            </a:pPr>
            <a:r>
              <a:rPr lang="en-US" sz="1100" dirty="0">
                <a:solidFill>
                  <a:schemeClr val="tx1"/>
                </a:solidFill>
              </a:rPr>
              <a:t>The link test rests on one training sample and two seeds. English only. Internal-affiliation checks need the organisation's domain.</a:t>
            </a:r>
            <a:endParaRPr lang="en-US" sz="1100" dirty="0"/>
          </a:p>
        </p:txBody>
      </p:sp>
      <p:sp>
        <p:nvSpPr>
          <p:cNvPr id="24" name="Limit 6"/>
          <p:cNvSpPr/>
          <p:nvPr/>
        </p:nvSpPr>
        <p:spPr>
          <a:xfrm>
            <a:off x="4663440" y="3657600"/>
            <a:ext cx="4023360" cy="1115568"/>
          </a:xfrm>
          <a:prstGeom prst="rect">
            <a:avLst/>
          </a:prstGeom>
          <a:solidFill>
            <a:schemeClr val="bg1"/>
          </a:solidFill>
          <a:ln w="9525">
            <a:solidFill>
              <a:schemeClr val="accent6"/>
            </a:solidFill>
            <a:prstDash val="solid"/>
          </a:ln>
        </p:spPr>
      </p:sp>
      <p:sp>
        <p:nvSpPr>
          <p:cNvPr id="25" name="Shape 18"/>
          <p:cNvSpPr/>
          <p:nvPr/>
        </p:nvSpPr>
        <p:spPr>
          <a:xfrm>
            <a:off x="4846320" y="3840480"/>
            <a:ext cx="438912" cy="438912"/>
          </a:xfrm>
          <a:prstGeom prst="ellipse">
            <a:avLst/>
          </a:prstGeom>
          <a:solidFill>
            <a:schemeClr val="accent2"/>
          </a:solidFill>
          <a:ln w="6350">
            <a:solidFill>
              <a:schemeClr val="accent2"/>
            </a:solidFill>
            <a:prstDash val="solid"/>
          </a:ln>
        </p:spPr>
      </p:sp>
      <p:pic>
        <p:nvPicPr>
          <p:cNvPr id="26" name="Image 5" descr="preencoded.png">    </p:cNvPr>
          <p:cNvPicPr>
            <a:picLocks noChangeAspect="1"/>
          </p:cNvPicPr>
          <p:nvPr/>
        </p:nvPicPr>
        <p:blipFill>
          <a:blip r:embed="rId6"/>
          <a:stretch>
            <a:fillRect/>
          </a:stretch>
        </p:blipFill>
        <p:spPr>
          <a:xfrm>
            <a:off x="4956048" y="3950208"/>
            <a:ext cx="219456" cy="219456"/>
          </a:xfrm>
          <a:prstGeom prst="rect">
            <a:avLst/>
          </a:prstGeom>
        </p:spPr>
      </p:pic>
      <p:sp>
        <p:nvSpPr>
          <p:cNvPr id="27" name="Text 19"/>
          <p:cNvSpPr txBox="1"/>
          <p:nvPr/>
        </p:nvSpPr>
        <p:spPr>
          <a:xfrm>
            <a:off x="5440680" y="3785616"/>
            <a:ext cx="3108960" cy="896112"/>
          </a:xfrm>
          <a:prstGeom prst="rect">
            <a:avLst/>
          </a:prstGeom>
          <a:noFill/>
          <a:ln/>
        </p:spPr>
        <p:txBody>
          <a:bodyPr wrap="square" lIns="0" tIns="0" rIns="0" bIns="0" rtlCol="0" anchor="ctr"/>
          <a:lstStyle/>
          <a:p>
            <a:pPr indent="0" marL="0">
              <a:buNone/>
            </a:pPr>
            <a:r>
              <a:rPr lang="en-US" sz="1100" dirty="0">
                <a:solidFill>
                  <a:schemeClr val="tx1"/>
                </a:solidFill>
              </a:rPr>
              <a:t>An attacker who copies a real thread's identifiers, sending details and tone is not caught by any rule here.</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046720" cy="274320"/>
          </a:xfrm>
          <a:prstGeom prst="rect">
            <a:avLst/>
          </a:prstGeom>
          <a:noFill/>
          <a:ln/>
        </p:spPr>
        <p:txBody>
          <a:bodyPr wrap="square" lIns="0" tIns="0" rIns="0" bIns="0" rtlCol="0" anchor="ctr"/>
          <a:lstStyle/>
          <a:p>
            <a:pPr indent="0" marL="0">
              <a:buNone/>
            </a:pPr>
            <a:r>
              <a:rPr lang="en-US" sz="1000" b="1" spc="200" kern="0" dirty="0">
                <a:solidFill>
                  <a:schemeClr val="accent1"/>
                </a:solidFill>
              </a:rPr>
              <a:t>CONCLUSION</a:t>
            </a:r>
            <a:endParaRPr lang="en-US" sz="1000" dirty="0"/>
          </a:p>
        </p:txBody>
      </p:sp>
      <p:sp>
        <p:nvSpPr>
          <p:cNvPr id="3" name="Text 0"/>
          <p:cNvSpPr/>
          <p:nvPr>
            <p:ph idx="101" type="title" hasCustomPrompt="1"/>
          </p:nvPr>
        </p:nvSpPr>
        <p:spPr>
          <a:xfrm>
            <a:off x="548640" y="731520"/>
            <a:ext cx="8046720" cy="640080"/>
          </a:xfrm>
          <a:prstGeom prst="rect">
            <a:avLst/>
          </a:prstGeom>
          <a:noFill/>
          <a:ln/>
        </p:spPr>
        <p:txBody>
          <a:bodyPr wrap="square" lIns="0" tIns="0" rIns="0" bIns="0" rtlCol="0" anchor="t"/>
          <a:lstStyle/>
          <a:p>
            <a:pPr algn="l" indent="0" marL="0">
              <a:buNone/>
            </a:pPr>
            <a:r>
              <a:rPr lang="en-US" sz="2800" dirty="0">
                <a:solidFill>
                  <a:schemeClr val="bg1"/>
                </a:solidFill>
              </a:rPr>
              <a:t>Conclusion and future work</a:t>
            </a:r>
            <a:endParaRPr lang="en-US" sz="2800" dirty="0"/>
          </a:p>
        </p:txBody>
      </p:sp>
      <p:sp>
        <p:nvSpPr>
          <p:cNvPr id="4" name="Text 2"/>
          <p:cNvSpPr txBox="1"/>
          <p:nvPr/>
        </p:nvSpPr>
        <p:spPr>
          <a:xfrm>
            <a:off x="548640" y="1600200"/>
            <a:ext cx="3840480" cy="201168"/>
          </a:xfrm>
          <a:prstGeom prst="rect">
            <a:avLst/>
          </a:prstGeom>
          <a:noFill/>
          <a:ln/>
        </p:spPr>
        <p:txBody>
          <a:bodyPr wrap="square" lIns="0" tIns="0" rIns="0" bIns="0" rtlCol="0" anchor="ctr"/>
          <a:lstStyle/>
          <a:p>
            <a:pPr indent="0" marL="0">
              <a:buNone/>
            </a:pPr>
            <a:r>
              <a:rPr lang="en-US" sz="900" b="1" spc="150" kern="0" dirty="0">
                <a:solidFill>
                  <a:schemeClr val="accent1"/>
                </a:solidFill>
              </a:rPr>
              <a:t>WHAT WE FOUND</a:t>
            </a:r>
            <a:endParaRPr lang="en-US" sz="900" dirty="0"/>
          </a:p>
        </p:txBody>
      </p:sp>
      <p:sp>
        <p:nvSpPr>
          <p:cNvPr id="5" name="Text 3"/>
          <p:cNvSpPr txBox="1"/>
          <p:nvPr/>
        </p:nvSpPr>
        <p:spPr>
          <a:xfrm>
            <a:off x="548640" y="1874520"/>
            <a:ext cx="3886200" cy="2926080"/>
          </a:xfrm>
          <a:prstGeom prst="rect">
            <a:avLst/>
          </a:prstGeom>
          <a:noFill/>
          <a:ln/>
        </p:spPr>
        <p:txBody>
          <a:bodyPr wrap="square" lIns="0" tIns="0" rIns="0" bIns="0" rtlCol="0" anchor="t"/>
          <a:lstStyle/>
          <a:p>
            <a:pPr marL="177800" indent="-177800">
              <a:spcAft>
                <a:spcPts val="900"/>
              </a:spcAft>
              <a:buSzPct val="100000"/>
              <a:buChar char="•"/>
            </a:pPr>
            <a:r>
              <a:rPr lang="en-US" sz="1300" dirty="0">
                <a:solidFill>
                  <a:schemeClr val="bg1"/>
                </a:solidFill>
              </a:rPr>
              <a:t>Checking what an email claims against its own headers and thread gives every alarm a stated reason.</a:t>
            </a:r>
            <a:endParaRPr lang="en-US" sz="1300" dirty="0"/>
          </a:p>
          <a:p>
            <a:pPr marL="177800" indent="-177800">
              <a:spcAft>
                <a:spcPts val="900"/>
              </a:spcAft>
              <a:buSzPct val="100000"/>
              <a:buChar char="•"/>
            </a:pPr>
            <a:r>
              <a:rPr lang="en-US" sz="1300" dirty="0">
                <a:solidFill>
                  <a:schemeClr val="bg1"/>
                </a:solidFill>
              </a:rPr>
              <a:t>It finds synthetic takeover replies in real threads that header and request rules miss.</a:t>
            </a:r>
            <a:endParaRPr lang="en-US" sz="1300" dirty="0"/>
          </a:p>
          <a:p>
            <a:pPr marL="177800" indent="-177800">
              <a:spcAft>
                <a:spcPts val="900"/>
              </a:spcAft>
              <a:buSzPct val="100000"/>
              <a:buChar char="•"/>
            </a:pPr>
            <a:r>
              <a:rPr lang="en-US" sz="1300" dirty="0">
                <a:solidFill>
                  <a:schemeClr val="bg1"/>
                </a:solidFill>
              </a:rPr>
              <a:t>Redacting links is cheap and removes a shortcut.</a:t>
            </a:r>
            <a:endParaRPr lang="en-US" sz="1300" dirty="0"/>
          </a:p>
          <a:p>
            <a:pPr marL="177800" indent="-177800">
              <a:spcAft>
                <a:spcPts val="900"/>
              </a:spcAft>
              <a:buSzPct val="100000"/>
              <a:buChar char="•"/>
            </a:pPr>
            <a:r>
              <a:rPr lang="en-US" sz="1300" dirty="0">
                <a:solidFill>
                  <a:schemeClr val="bg1"/>
                </a:solidFill>
              </a:rPr>
              <a:t>On pooled detection over public data sets, it is behind all four learned classifiers.</a:t>
            </a:r>
            <a:endParaRPr lang="en-US" sz="1300" dirty="0"/>
          </a:p>
        </p:txBody>
      </p:sp>
      <p:sp>
        <p:nvSpPr>
          <p:cNvPr id="6" name="Shape 4"/>
          <p:cNvSpPr/>
          <p:nvPr/>
        </p:nvSpPr>
        <p:spPr>
          <a:xfrm>
            <a:off x="4617720" y="1645920"/>
            <a:ext cx="0" cy="2194560"/>
          </a:xfrm>
          <a:prstGeom prst="line">
            <a:avLst/>
          </a:prstGeom>
          <a:noFill/>
          <a:ln w="9525">
            <a:solidFill>
              <a:schemeClr val="accent1"/>
            </a:solidFill>
            <a:prstDash val="solid"/>
          </a:ln>
        </p:spPr>
      </p:sp>
      <p:sp>
        <p:nvSpPr>
          <p:cNvPr id="7" name="Text 5"/>
          <p:cNvSpPr txBox="1"/>
          <p:nvPr/>
        </p:nvSpPr>
        <p:spPr>
          <a:xfrm>
            <a:off x="4846320" y="1600200"/>
            <a:ext cx="3840480" cy="201168"/>
          </a:xfrm>
          <a:prstGeom prst="rect">
            <a:avLst/>
          </a:prstGeom>
          <a:noFill/>
          <a:ln/>
        </p:spPr>
        <p:txBody>
          <a:bodyPr wrap="square" lIns="0" tIns="0" rIns="0" bIns="0" rtlCol="0" anchor="ctr"/>
          <a:lstStyle/>
          <a:p>
            <a:pPr indent="0" marL="0">
              <a:buNone/>
            </a:pPr>
            <a:r>
              <a:rPr lang="en-US" sz="900" b="1" spc="150" kern="0" dirty="0">
                <a:solidFill>
                  <a:schemeClr val="accent1"/>
                </a:solidFill>
              </a:rPr>
              <a:t>WHAT WOULD TEST IT ON REAL ATTACKS</a:t>
            </a:r>
            <a:endParaRPr lang="en-US" sz="900" dirty="0"/>
          </a:p>
        </p:txBody>
      </p:sp>
      <p:sp>
        <p:nvSpPr>
          <p:cNvPr id="8" name="Text 6"/>
          <p:cNvSpPr txBox="1"/>
          <p:nvPr/>
        </p:nvSpPr>
        <p:spPr>
          <a:xfrm>
            <a:off x="4846320" y="1874520"/>
            <a:ext cx="3749040" cy="2926080"/>
          </a:xfrm>
          <a:prstGeom prst="rect">
            <a:avLst/>
          </a:prstGeom>
          <a:noFill/>
          <a:ln/>
        </p:spPr>
        <p:txBody>
          <a:bodyPr wrap="square" lIns="0" tIns="0" rIns="0" bIns="0" rtlCol="0" anchor="t"/>
          <a:lstStyle/>
          <a:p>
            <a:pPr marL="177800" indent="-177800">
              <a:spcAft>
                <a:spcPts val="900"/>
              </a:spcAft>
              <a:buSzPct val="100000"/>
              <a:buChar char="•"/>
            </a:pPr>
            <a:r>
              <a:rPr lang="en-US" sz="1300" dirty="0">
                <a:solidFill>
                  <a:schemeClr val="bg1"/>
                </a:solidFill>
              </a:rPr>
              <a:t>Labelled payload-free BEC emails</a:t>
            </a:r>
            <a:endParaRPr lang="en-US" sz="1300" dirty="0"/>
          </a:p>
          <a:p>
            <a:pPr marL="177800" indent="-177800">
              <a:spcAft>
                <a:spcPts val="900"/>
              </a:spcAft>
              <a:buSzPct val="100000"/>
              <a:buChar char="•"/>
            </a:pPr>
            <a:r>
              <a:rPr lang="en-US" sz="1300" dirty="0">
                <a:solidFill>
                  <a:schemeClr val="bg1"/>
                </a:solidFill>
              </a:rPr>
              <a:t>Real hijacked threads that keep the receiving side's authentication headers</a:t>
            </a:r>
            <a:endParaRPr lang="en-US" sz="1300" dirty="0"/>
          </a:p>
          <a:p>
            <a:pPr marL="177800" indent="-177800">
              <a:spcAft>
                <a:spcPts val="900"/>
              </a:spcAft>
              <a:buSzPct val="100000"/>
              <a:buChar char="•"/>
            </a:pPr>
            <a:r>
              <a:rPr lang="en-US" sz="1300" dirty="0">
                <a:solidFill>
                  <a:schemeClr val="bg1"/>
                </a:solidFill>
              </a:rPr>
              <a:t>A sample of emails labelled by people for tactics and claims</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56032"/>
          </a:xfrm>
          <a:prstGeom prst="rect">
            <a:avLst/>
          </a:prstGeom>
          <a:noFill/>
          <a:ln/>
        </p:spPr>
        <p:txBody>
          <a:bodyPr wrap="square" lIns="0" tIns="0" rIns="0" bIns="0" rtlCol="0" anchor="ctr"/>
          <a:lstStyle/>
          <a:p>
            <a:pPr indent="0" marL="0">
              <a:buNone/>
            </a:pPr>
            <a:r>
              <a:rPr lang="en-US" sz="1000" b="1" spc="200" kern="0" dirty="0">
                <a:solidFill>
                  <a:schemeClr val="accent1"/>
                </a:solidFill>
              </a:rPr>
              <a:t>REFERENCES</a:t>
            </a:r>
            <a:endParaRPr lang="en-US" sz="1000" dirty="0"/>
          </a:p>
        </p:txBody>
      </p:sp>
      <p:sp>
        <p:nvSpPr>
          <p:cNvPr id="3" name="Text 0"/>
          <p:cNvSpPr/>
          <p:nvPr>
            <p:ph idx="101" type="title" hasCustomPrompt="1"/>
          </p:nvPr>
        </p:nvSpPr>
        <p:spPr>
          <a:xfrm>
            <a:off x="457200" y="548640"/>
            <a:ext cx="8229600" cy="548640"/>
          </a:xfrm>
          <a:prstGeom prst="rect">
            <a:avLst/>
          </a:prstGeom>
          <a:noFill/>
          <a:ln/>
        </p:spPr>
        <p:txBody>
          <a:bodyPr wrap="square" lIns="0" tIns="0" rIns="0" bIns="0" rtlCol="0" anchor="t"/>
          <a:lstStyle/>
          <a:p>
            <a:pPr algn="l" indent="0" marL="0">
              <a:buNone/>
            </a:pPr>
            <a:r>
              <a:rPr lang="en-US" sz="2400" dirty="0">
                <a:solidFill>
                  <a:schemeClr val="tx1"/>
                </a:solidFill>
              </a:rPr>
              <a:t>References</a:t>
            </a:r>
            <a:endParaRPr lang="en-US" sz="2400" dirty="0"/>
          </a:p>
        </p:txBody>
      </p:sp>
      <p:sp>
        <p:nvSpPr>
          <p:cNvPr id="4" name="Text 2"/>
          <p:cNvSpPr txBox="1"/>
          <p:nvPr/>
        </p:nvSpPr>
        <p:spPr>
          <a:xfrm>
            <a:off x="457200" y="1188720"/>
            <a:ext cx="4023360" cy="3749040"/>
          </a:xfrm>
          <a:prstGeom prst="rect">
            <a:avLst/>
          </a:prstGeom>
          <a:noFill/>
          <a:ln/>
        </p:spPr>
        <p:txBody>
          <a:bodyPr wrap="square" lIns="0" tIns="0" rIns="0" bIns="0" rtlCol="0" anchor="t"/>
          <a:lstStyle/>
          <a:p>
            <a:pPr indent="0" marL="0">
              <a:spcAft>
                <a:spcPts val="350"/>
              </a:spcAft>
              <a:buNone/>
            </a:pPr>
            <a:r>
              <a:rPr lang="en-US" sz="800" dirty="0">
                <a:solidFill>
                  <a:schemeClr val="tx1"/>
                </a:solidFill>
              </a:rPr>
              <a:t>[1] Verizon, “2026 data breach investigations report,” 2026. Accessed: Oct. 12, 2026. [Online]. Available: https://www.verizon.com/business/resources/reports/dbir/</a:t>
            </a:r>
            <a:endParaRPr lang="en-US" sz="800" dirty="0"/>
          </a:p>
          <a:p>
            <a:pPr indent="0" marL="0">
              <a:spcAft>
                <a:spcPts val="350"/>
              </a:spcAft>
              <a:buNone/>
            </a:pPr>
            <a:r>
              <a:rPr lang="en-US" sz="800" dirty="0">
                <a:solidFill>
                  <a:schemeClr val="tx1"/>
                </a:solidFill>
              </a:rPr>
              <a:t>[2] S. Kitterman, “Sender Policy Framework (SPF) for authorizing use of domains in email, version 1,” RFC 7208, Apr. 2014, doi: 10.17487/RFC7208.</a:t>
            </a:r>
            <a:endParaRPr lang="en-US" sz="800" dirty="0"/>
          </a:p>
          <a:p>
            <a:pPr indent="0" marL="0">
              <a:spcAft>
                <a:spcPts val="350"/>
              </a:spcAft>
              <a:buNone/>
            </a:pPr>
            <a:r>
              <a:rPr lang="en-US" sz="800" dirty="0">
                <a:solidFill>
                  <a:schemeClr val="tx1"/>
                </a:solidFill>
              </a:rPr>
              <a:t>[3] D. Crocker, T. Hansen, and M. Kucherawy, Eds., “DomainKeys Identified Mail (DKIM) signatures,” RFC 6376, Sep. 2011, doi: 10.17487/RFC6376.</a:t>
            </a:r>
            <a:endParaRPr lang="en-US" sz="800" dirty="0"/>
          </a:p>
          <a:p>
            <a:pPr indent="0" marL="0">
              <a:spcAft>
                <a:spcPts val="350"/>
              </a:spcAft>
              <a:buNone/>
            </a:pPr>
            <a:r>
              <a:rPr lang="en-US" sz="800" dirty="0">
                <a:solidFill>
                  <a:schemeClr val="tx1"/>
                </a:solidFill>
              </a:rPr>
              <a:t>[4] T. Herr and J. Levine, Eds., “Domain-based message authentication, reporting, and conformance (DMARC),” RFC 9989, May 2026, doi: 10.17487/RFC9989.</a:t>
            </a:r>
            <a:endParaRPr lang="en-US" sz="800" dirty="0"/>
          </a:p>
          <a:p>
            <a:pPr indent="0" marL="0">
              <a:spcAft>
                <a:spcPts val="350"/>
              </a:spcAft>
              <a:buNone/>
            </a:pPr>
            <a:r>
              <a:rPr lang="en-US" sz="800" dirty="0">
                <a:solidFill>
                  <a:schemeClr val="tx1"/>
                </a:solidFill>
              </a:rPr>
              <a:t>[5] G. Ho et al., “Detecting and characterizing lateral phishing at scale,” in </a:t>
            </a:r>
            <a:pPr indent="0" marL="0">
              <a:spcAft>
                <a:spcPts val="350"/>
              </a:spcAft>
              <a:buNone/>
            </a:pPr>
            <a:r>
              <a:rPr lang="en-US" sz="800" i="1" dirty="0">
                <a:solidFill>
                  <a:schemeClr val="tx1"/>
                </a:solidFill>
              </a:rPr>
              <a:t>Proc. 28th USENIX Security Symp.</a:t>
            </a:r>
            <a:pPr indent="0" marL="0">
              <a:spcAft>
                <a:spcPts val="350"/>
              </a:spcAft>
              <a:buNone/>
            </a:pPr>
            <a:r>
              <a:rPr lang="en-US" sz="800" dirty="0">
                <a:solidFill>
                  <a:schemeClr val="tx1"/>
                </a:solidFill>
              </a:rPr>
              <a:t>, Santa Clara, CA, USA, 2019, pp. 1273–1290.</a:t>
            </a:r>
            <a:endParaRPr lang="en-US" sz="800" dirty="0"/>
          </a:p>
          <a:p>
            <a:pPr indent="0" marL="0">
              <a:spcAft>
                <a:spcPts val="350"/>
              </a:spcAft>
              <a:buNone/>
            </a:pPr>
            <a:r>
              <a:rPr lang="en-US" sz="800" dirty="0">
                <a:solidFill>
                  <a:schemeClr val="tx1"/>
                </a:solidFill>
              </a:rPr>
              <a:t>[6] A. Cidon, L. Gavish, I. Bleier, N. Korshun, M. Schweighauser, and A. Tsitkin, “High precision detection of business email compromise,” in </a:t>
            </a:r>
            <a:pPr indent="0" marL="0">
              <a:spcAft>
                <a:spcPts val="350"/>
              </a:spcAft>
              <a:buNone/>
            </a:pPr>
            <a:r>
              <a:rPr lang="en-US" sz="800" i="1" dirty="0">
                <a:solidFill>
                  <a:schemeClr val="tx1"/>
                </a:solidFill>
              </a:rPr>
              <a:t>Proc. 28th USENIX Security Symp.</a:t>
            </a:r>
            <a:pPr indent="0" marL="0">
              <a:spcAft>
                <a:spcPts val="350"/>
              </a:spcAft>
              <a:buNone/>
            </a:pPr>
            <a:r>
              <a:rPr lang="en-US" sz="800" dirty="0">
                <a:solidFill>
                  <a:schemeClr val="tx1"/>
                </a:solidFill>
              </a:rPr>
              <a:t>, Santa Clara, CA, USA, 2019, pp. 1291–1307.</a:t>
            </a:r>
            <a:endParaRPr lang="en-US" sz="800" dirty="0"/>
          </a:p>
          <a:p>
            <a:pPr indent="0" marL="0">
              <a:spcAft>
                <a:spcPts val="350"/>
              </a:spcAft>
              <a:buNone/>
            </a:pPr>
            <a:r>
              <a:rPr lang="en-US" sz="800" dirty="0">
                <a:solidFill>
                  <a:schemeClr val="tx1"/>
                </a:solidFill>
              </a:rPr>
              <a:t>[7] T. Koide, N. Fukushi, H. Nakano, and D. Chiba, “ChatSpamDetector: Leveraging large language models for effective phishing email detection,” arXiv:2402.18093, 2024.</a:t>
            </a:r>
            <a:endParaRPr lang="en-US" sz="800" dirty="0"/>
          </a:p>
          <a:p>
            <a:pPr indent="0" marL="0">
              <a:spcAft>
                <a:spcPts val="350"/>
              </a:spcAft>
              <a:buNone/>
            </a:pPr>
            <a:r>
              <a:rPr lang="en-US" sz="800" dirty="0">
                <a:solidFill>
                  <a:schemeClr val="tx1"/>
                </a:solidFill>
              </a:rPr>
              <a:t>[8] M. Paul, G. Bartlett, J. Mirkovic, and M. Freedman, “Phishing email detection using inputs from artificial intelligence,” arXiv:2405.12494, 2024.</a:t>
            </a:r>
            <a:endParaRPr lang="en-US" sz="800" dirty="0"/>
          </a:p>
          <a:p>
            <a:pPr indent="0" marL="0">
              <a:spcAft>
                <a:spcPts val="350"/>
              </a:spcAft>
              <a:buNone/>
            </a:pPr>
            <a:r>
              <a:rPr lang="en-US" sz="800" dirty="0">
                <a:solidFill>
                  <a:schemeClr val="tx1"/>
                </a:solidFill>
              </a:rPr>
              <a:t>[9] B. Karki, F. Abri, A. Siami Namin, and K. S. Jones, “Using transformers for identification of persuasion principles in phishing emails,” in </a:t>
            </a:r>
            <a:pPr indent="0" marL="0">
              <a:spcAft>
                <a:spcPts val="350"/>
              </a:spcAft>
              <a:buNone/>
            </a:pPr>
            <a:r>
              <a:rPr lang="en-US" sz="800" i="1" dirty="0">
                <a:solidFill>
                  <a:schemeClr val="tx1"/>
                </a:solidFill>
              </a:rPr>
              <a:t>Proc. IEEE Int. Conf. Big Data</a:t>
            </a:r>
            <a:pPr indent="0" marL="0">
              <a:spcAft>
                <a:spcPts val="350"/>
              </a:spcAft>
              <a:buNone/>
            </a:pPr>
            <a:r>
              <a:rPr lang="en-US" sz="800" dirty="0">
                <a:solidFill>
                  <a:schemeClr val="tx1"/>
                </a:solidFill>
              </a:rPr>
              <a:t>, Osaka, Japan, 2022, pp. 2841–2848.</a:t>
            </a:r>
            <a:endParaRPr lang="en-US" sz="800" dirty="0"/>
          </a:p>
          <a:p>
            <a:pPr indent="0" marL="0">
              <a:spcAft>
                <a:spcPts val="350"/>
              </a:spcAft>
              <a:buNone/>
            </a:pPr>
            <a:r>
              <a:rPr lang="en-US" sz="800" dirty="0">
                <a:solidFill>
                  <a:schemeClr val="tx1"/>
                </a:solidFill>
              </a:rPr>
              <a:t>[10] P. Tooher and H. S. Lallie, “A two-stage deep learning framework for AI-driven phishing email detection based on persuasion principles,” </a:t>
            </a:r>
            <a:pPr indent="0" marL="0">
              <a:spcAft>
                <a:spcPts val="350"/>
              </a:spcAft>
              <a:buNone/>
            </a:pPr>
            <a:r>
              <a:rPr lang="en-US" sz="800" i="1" dirty="0">
                <a:solidFill>
                  <a:schemeClr val="tx1"/>
                </a:solidFill>
              </a:rPr>
              <a:t>Computers</a:t>
            </a:r>
            <a:pPr indent="0" marL="0">
              <a:spcAft>
                <a:spcPts val="350"/>
              </a:spcAft>
              <a:buNone/>
            </a:pPr>
            <a:r>
              <a:rPr lang="en-US" sz="800" dirty="0">
                <a:solidFill>
                  <a:schemeClr val="tx1"/>
                </a:solidFill>
              </a:rPr>
              <a:t>, vol. 14, no. 12, Art. no. 523, 2025.</a:t>
            </a:r>
            <a:endParaRPr lang="en-US" sz="800" dirty="0"/>
          </a:p>
        </p:txBody>
      </p:sp>
      <p:sp>
        <p:nvSpPr>
          <p:cNvPr id="5" name="Text 3"/>
          <p:cNvSpPr txBox="1"/>
          <p:nvPr/>
        </p:nvSpPr>
        <p:spPr>
          <a:xfrm>
            <a:off x="4663440" y="1188720"/>
            <a:ext cx="4023360" cy="3749040"/>
          </a:xfrm>
          <a:prstGeom prst="rect">
            <a:avLst/>
          </a:prstGeom>
          <a:noFill/>
          <a:ln/>
        </p:spPr>
        <p:txBody>
          <a:bodyPr wrap="square" lIns="0" tIns="0" rIns="0" bIns="0" rtlCol="0" anchor="t"/>
          <a:lstStyle/>
          <a:p>
            <a:pPr indent="0" marL="0">
              <a:spcAft>
                <a:spcPts val="350"/>
              </a:spcAft>
              <a:buNone/>
            </a:pPr>
            <a:r>
              <a:rPr lang="en-US" sz="800" dirty="0">
                <a:solidFill>
                  <a:schemeClr val="tx1"/>
                </a:solidFill>
              </a:rPr>
              <a:t>[11] Z. Guo, M. Schlichtkrull, and A. Vlachos, “A survey on automated fact-checking,” </a:t>
            </a:r>
            <a:pPr indent="0" marL="0">
              <a:spcAft>
                <a:spcPts val="350"/>
              </a:spcAft>
              <a:buNone/>
            </a:pPr>
            <a:r>
              <a:rPr lang="en-US" sz="800" i="1" dirty="0">
                <a:solidFill>
                  <a:schemeClr val="tx1"/>
                </a:solidFill>
              </a:rPr>
              <a:t>Trans. Assoc. Comput. Linguistics</a:t>
            </a:r>
            <a:pPr indent="0" marL="0">
              <a:spcAft>
                <a:spcPts val="350"/>
              </a:spcAft>
              <a:buNone/>
            </a:pPr>
            <a:r>
              <a:rPr lang="en-US" sz="800" dirty="0">
                <a:solidFill>
                  <a:schemeClr val="tx1"/>
                </a:solidFill>
              </a:rPr>
              <a:t>, vol. 10, pp. 178–206, 2022.</a:t>
            </a:r>
            <a:endParaRPr lang="en-US" sz="800" dirty="0"/>
          </a:p>
          <a:p>
            <a:pPr indent="0" marL="0">
              <a:spcAft>
                <a:spcPts val="350"/>
              </a:spcAft>
              <a:buNone/>
            </a:pPr>
            <a:r>
              <a:rPr lang="en-US" sz="800" dirty="0">
                <a:solidFill>
                  <a:schemeClr val="tx1"/>
                </a:solidFill>
              </a:rPr>
              <a:t>[12] J. Nazario, “Phishing corpus.” Accessed: Oct. 12, 2026. [Online]. Available: https://monkey.org/~jose/phishing/</a:t>
            </a:r>
            <a:endParaRPr lang="en-US" sz="800" dirty="0"/>
          </a:p>
          <a:p>
            <a:pPr indent="0" marL="0">
              <a:spcAft>
                <a:spcPts val="350"/>
              </a:spcAft>
              <a:buNone/>
            </a:pPr>
            <a:r>
              <a:rPr lang="en-US" sz="800" dirty="0">
                <a:solidFill>
                  <a:schemeClr val="tx1"/>
                </a:solidFill>
              </a:rPr>
              <a:t>[13] rf-peixoto, “phishing_pot: A collection of real phishing samples collected via honey pots,” GitHub repository. Accessed: Oct. 12, 2026. [Online]. Available: https://github.com/rf-peixoto/phishing_pot</a:t>
            </a:r>
            <a:endParaRPr lang="en-US" sz="800" dirty="0"/>
          </a:p>
          <a:p>
            <a:pPr indent="0" marL="0">
              <a:spcAft>
                <a:spcPts val="350"/>
              </a:spcAft>
              <a:buNone/>
            </a:pPr>
            <a:r>
              <a:rPr lang="en-US" sz="800" dirty="0">
                <a:solidFill>
                  <a:schemeClr val="tx1"/>
                </a:solidFill>
              </a:rPr>
              <a:t>[14] A. Al-Subaiey, M. Al-Thani, N. A. Alam, K. F. Antora, A. Khandakar, and S. M. A. U. Zaman, “Novel interpretable and robust web-based AI platform for phishing email detection,” </a:t>
            </a:r>
            <a:pPr indent="0" marL="0">
              <a:spcAft>
                <a:spcPts val="350"/>
              </a:spcAft>
              <a:buNone/>
            </a:pPr>
            <a:r>
              <a:rPr lang="en-US" sz="800" i="1" dirty="0">
                <a:solidFill>
                  <a:schemeClr val="tx1"/>
                </a:solidFill>
              </a:rPr>
              <a:t>Comput. Electr. Eng.</a:t>
            </a:r>
            <a:pPr indent="0" marL="0">
              <a:spcAft>
                <a:spcPts val="350"/>
              </a:spcAft>
              <a:buNone/>
            </a:pPr>
            <a:r>
              <a:rPr lang="en-US" sz="800" dirty="0">
                <a:solidFill>
                  <a:schemeClr val="tx1"/>
                </a:solidFill>
              </a:rPr>
              <a:t>, vol. 120, Art. no. 109625, 2024.</a:t>
            </a:r>
            <a:endParaRPr lang="en-US" sz="800" dirty="0"/>
          </a:p>
          <a:p>
            <a:pPr indent="0" marL="0">
              <a:spcAft>
                <a:spcPts val="350"/>
              </a:spcAft>
              <a:buNone/>
            </a:pPr>
            <a:r>
              <a:rPr lang="en-US" sz="800" dirty="0">
                <a:solidFill>
                  <a:schemeClr val="tx1"/>
                </a:solidFill>
              </a:rPr>
              <a:t>[15] B. Klimt and Y. Yang, “The Enron corpus: A new dataset for email classification research,” in </a:t>
            </a:r>
            <a:pPr indent="0" marL="0">
              <a:spcAft>
                <a:spcPts val="350"/>
              </a:spcAft>
              <a:buNone/>
            </a:pPr>
            <a:r>
              <a:rPr lang="en-US" sz="800" i="1" dirty="0">
                <a:solidFill>
                  <a:schemeClr val="tx1"/>
                </a:solidFill>
              </a:rPr>
              <a:t>Machine Learning: ECML 2004</a:t>
            </a:r>
            <a:pPr indent="0" marL="0">
              <a:spcAft>
                <a:spcPts val="350"/>
              </a:spcAft>
              <a:buNone/>
            </a:pPr>
            <a:r>
              <a:rPr lang="en-US" sz="800" dirty="0">
                <a:solidFill>
                  <a:schemeClr val="tx1"/>
                </a:solidFill>
              </a:rPr>
              <a:t>. Berlin, Germany: Springer, 2004, pp. 217–226.</a:t>
            </a:r>
            <a:endParaRPr lang="en-US" sz="800" dirty="0"/>
          </a:p>
          <a:p>
            <a:pPr indent="0" marL="0">
              <a:spcAft>
                <a:spcPts val="350"/>
              </a:spcAft>
              <a:buNone/>
            </a:pPr>
            <a:r>
              <a:rPr lang="en-US" sz="800" dirty="0">
                <a:solidFill>
                  <a:schemeClr val="tx1"/>
                </a:solidFill>
              </a:rPr>
              <a:t>[16] Apache SpamAssassin Project, “SpamAssassin public corpus.” Accessed: Oct. 12, 2026. [Online]. Available: https://spamassassin.apache.org/old/publiccorpus/</a:t>
            </a:r>
            <a:endParaRPr lang="en-US" sz="800" dirty="0"/>
          </a:p>
          <a:p>
            <a:pPr indent="0" marL="0">
              <a:spcAft>
                <a:spcPts val="350"/>
              </a:spcAft>
              <a:buNone/>
            </a:pPr>
            <a:r>
              <a:rPr lang="en-US" sz="800" dirty="0">
                <a:solidFill>
                  <a:schemeClr val="tx1"/>
                </a:solidFill>
              </a:rPr>
              <a:t>[17] Apache Software Foundation, “users@kafka.apache.org and users@tomcat.apache.org mailing-list archives.” Accessed: Oct. 12, 2026. [Online]. Available: https://lists.apache.org/</a:t>
            </a:r>
            <a:endParaRPr lang="en-US" sz="800" dirty="0"/>
          </a:p>
          <a:p>
            <a:pPr indent="0" marL="0">
              <a:spcAft>
                <a:spcPts val="350"/>
              </a:spcAft>
              <a:buNone/>
            </a:pPr>
            <a:r>
              <a:rPr lang="en-US" sz="800" dirty="0">
                <a:solidFill>
                  <a:schemeClr val="tx1"/>
                </a:solidFill>
              </a:rPr>
              <a:t>[18] D. Arp et al., “Dos and don’ts of machine learning in computer security,” in </a:t>
            </a:r>
            <a:pPr indent="0" marL="0">
              <a:spcAft>
                <a:spcPts val="350"/>
              </a:spcAft>
              <a:buNone/>
            </a:pPr>
            <a:r>
              <a:rPr lang="en-US" sz="800" i="1" dirty="0">
                <a:solidFill>
                  <a:schemeClr val="tx1"/>
                </a:solidFill>
              </a:rPr>
              <a:t>Proc. 31st USENIX Security Symp.</a:t>
            </a:r>
            <a:pPr indent="0" marL="0">
              <a:spcAft>
                <a:spcPts val="350"/>
              </a:spcAft>
              <a:buNone/>
            </a:pPr>
            <a:r>
              <a:rPr lang="en-US" sz="800" dirty="0">
                <a:solidFill>
                  <a:schemeClr val="tx1"/>
                </a:solidFill>
              </a:rPr>
              <a:t>, Boston, MA, USA, 2022, pp. 3971–3988.</a:t>
            </a:r>
            <a:endParaRPr lang="en-US" sz="800" dirty="0"/>
          </a:p>
          <a:p>
            <a:pPr indent="0" marL="0">
              <a:spcAft>
                <a:spcPts val="350"/>
              </a:spcAft>
              <a:buNone/>
            </a:pPr>
            <a:r>
              <a:rPr lang="en-US" sz="800" dirty="0">
                <a:solidFill>
                  <a:schemeClr val="tx1"/>
                </a:solidFill>
              </a:rPr>
              <a:t>[19] V. Sanh, L. Debut, J. Chaumond, and T. Wolf, “DistilBERT, a distilled version of BERT: Smaller, faster, cheaper and lighter,” arXiv:1910.01108, 2019.</a:t>
            </a:r>
            <a:endParaRPr lang="en-US" sz="800" dirty="0"/>
          </a:p>
          <a:p>
            <a:pPr indent="0" marL="0">
              <a:spcAft>
                <a:spcPts val="350"/>
              </a:spcAft>
              <a:buNone/>
            </a:pPr>
            <a:r>
              <a:rPr lang="en-US" sz="800" dirty="0">
                <a:solidFill>
                  <a:schemeClr val="tx1"/>
                </a:solidFill>
              </a:rPr>
              <a:t>[20] N. Pangakis, S. Wolken, and N. Fasching, “Automated annotation with generative AI requires validation,” arXiv:2306.00176, 2023.</a:t>
            </a:r>
            <a:endParaRPr lang="en-US" sz="800" dirty="0"/>
          </a:p>
        </p:txBody>
      </p:sp>
    </p:spTree>
  </p:cSld>
  <p:clrMapOvr>
    <a:masterClrMapping/>
  </p:clrMapOvr>
</p:sld>
</file>

<file path=ppt/theme/theme1.xml><?xml version="1.0" encoding="utf-8"?>
<a:theme xmlns:a="http://schemas.openxmlformats.org/drawingml/2006/main" name="Claim Routed">
  <a:themeElements>
    <a:clrScheme name="Claim Routed">
      <a:dk1>
        <a:srgbClr val="1E1E1E"/>
      </a:dk1>
      <a:lt1>
        <a:srgbClr val="FFFFFF"/>
      </a:lt1>
      <a:dk2>
        <a:srgbClr val="262626"/>
      </a:dk2>
      <a:lt2>
        <a:srgbClr val="F7F4EE"/>
      </a:lt2>
      <a:accent1>
        <a:srgbClr val="B07D2B"/>
      </a:accent1>
      <a:accent2>
        <a:srgbClr val="4A4A4A"/>
      </a:accent2>
      <a:accent3>
        <a:srgbClr val="8C8C8C"/>
      </a:accent3>
      <a:accent4>
        <a:srgbClr val="A23B2A"/>
      </a:accent4>
      <a:accent5>
        <a:srgbClr val="4F7B5C"/>
      </a:accent5>
      <a:accent6>
        <a:srgbClr val="E6DCC8"/>
      </a:accent6>
      <a:hlink>
        <a:srgbClr val="B07D2B"/>
      </a:hlink>
      <a:folHlink>
        <a:srgbClr val="7A5A20"/>
      </a:folHlink>
    </a:clrScheme>
    <a:fontScheme name="Claim Route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Detection of Payload-Free Pretexting Emails</dc:title>
  <dc:subject>PptxGenJS Presentation</dc:subject>
  <dc:creator>M Naga Sai Dattu</dc:creator>
  <cp:lastModifiedBy>M Naga Sai Dattu</cp:lastModifiedBy>
  <cp:revision>1</cp:revision>
  <dcterms:created xsi:type="dcterms:W3CDTF">2026-10-20T19:31:23Z</dcterms:created>
  <dcterms:modified xsi:type="dcterms:W3CDTF">2026-10-20T19:31:23Z</dcterms:modified>
</cp:coreProperties>
</file>